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57" r:id="rId4"/>
    <p:sldId id="258" r:id="rId5"/>
    <p:sldId id="270" r:id="rId6"/>
    <p:sldId id="259" r:id="rId7"/>
    <p:sldId id="271" r:id="rId8"/>
    <p:sldId id="272" r:id="rId9"/>
    <p:sldId id="260" r:id="rId10"/>
    <p:sldId id="261" r:id="rId11"/>
    <p:sldId id="262" r:id="rId12"/>
    <p:sldId id="263" r:id="rId13"/>
    <p:sldId id="265" r:id="rId14"/>
    <p:sldId id="268" r:id="rId15"/>
    <p:sldId id="273" r:id="rId16"/>
    <p:sldId id="266" r:id="rId17"/>
    <p:sldId id="267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F0CFCB-D6EB-4FA7-6482-8D323637F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47EF7EF-A5CE-41D6-2349-F8CB15E6E4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2689F2-FB7B-6EF3-5526-69558AE19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4A45-CAA9-4171-B493-8B5FE214279D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D36189-0B7F-5C0C-BEF9-582111BA6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6EB0E7-1138-E40E-3BC0-3C5A3B786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4CF46-7D1F-4D33-B039-67985B2C55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2831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DC0F3-20EF-68EB-BB8D-938F6A94D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1A6E43-FBA8-7933-A853-57DD39625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7023A1-08C7-4296-6787-9E3913598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4A45-CAA9-4171-B493-8B5FE214279D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1B6603-6D85-A75E-FF3F-55DC5D149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2A536D-F427-6D5A-374C-C9469BF5F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4CF46-7D1F-4D33-B039-67985B2C55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417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E5FF01-23FB-625A-AF9A-0070EDF07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E9A645-9F73-162C-651E-ED7D7B771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9DEEF4-0D3D-DE63-DFB3-8424BD252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4A45-CAA9-4171-B493-8B5FE214279D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7A8E09-30D8-9C5E-F290-13096503A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391596-F754-79B1-7C22-4D1E96FAF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4CF46-7D1F-4D33-B039-67985B2C55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856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8D7220-94B2-9C74-5CA7-F5D28031F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62FA1D-BE86-CB38-D51B-9C604760A0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013249E-F9E9-4029-3760-1B90A01301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480E50-1333-CB52-8A66-B152F85DA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4A45-CAA9-4171-B493-8B5FE214279D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1DAC64-6A4B-9D0C-0ADC-EF55EB289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F8A620D-6811-3637-2ECD-DBCFBA29D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4CF46-7D1F-4D33-B039-67985B2C55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205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6D7C5F-877A-2DD2-AE1E-EA3170D55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0CC028-567C-0019-F380-F0FC93D90C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2B2552-E79B-44C5-ABD6-806EE8149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BF8AB1D-A21C-F373-CF09-C6F4447008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57709A2-9276-276C-853C-E9EFF081DE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5FB4B82-F045-F52C-67C1-0C7A39779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4A45-CAA9-4171-B493-8B5FE214279D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F549608-0ED2-5AF7-22AC-DEB9DD782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923F5CC-8501-B362-EBB8-80450496A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4CF46-7D1F-4D33-B039-67985B2C55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409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3F4CAB-9CDE-0742-A9A3-9586C6D10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6134819-CC9B-1E1C-7ADB-904584A0F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4A45-CAA9-4171-B493-8B5FE214279D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FBC1087-74DF-2A90-7A01-5C687553E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02A5955-1FDE-9785-8C42-E2A68072D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4CF46-7D1F-4D33-B039-67985B2C55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6079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7490125-8171-C777-B540-7EC4800E6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4A45-CAA9-4171-B493-8B5FE214279D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4E58056-AB27-FC65-5346-9DFF27A7E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E3DEA7-44C6-2A17-C926-ACB95EC5F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4CF46-7D1F-4D33-B039-67985B2C55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7782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034652-AC4B-2E32-198A-697DA9B0D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07E542-36C1-8305-080C-716225C38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9E07E8E-FE75-8C60-2638-0D4F000442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7FF7D6-F075-4C72-0BB8-F0B1E3E57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4A45-CAA9-4171-B493-8B5FE214279D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E6E899C-7B3F-C46F-A2D0-8D39C3462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F74AE4-4B7C-EE11-39AA-786777417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4CF46-7D1F-4D33-B039-67985B2C55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8053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C19FE6-5AC2-5431-A876-1AB34B235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4B173A9-0F99-E773-DB51-B3DA01CD69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A7CAD81-0B37-2162-668F-36536924C6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4F5625-B133-C7B1-C68A-C7F4AAFFD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4A45-CAA9-4171-B493-8B5FE214279D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FE48DD3-5484-DAD9-D6F8-BBA98CA91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A7F88DB-5D6D-0BE3-0156-4F39E70D6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4CF46-7D1F-4D33-B039-67985B2C55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479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61444E-FBDE-EA4A-684D-9EBFE88B0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EDB20BC-798E-D1F9-950B-DE89C4A47B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AF3383-2669-395B-7053-7AE015F41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4A45-CAA9-4171-B493-8B5FE214279D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A476FC-95D1-5FFB-3EE1-363C0D8B6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4833A7-DD98-D33B-BB9B-2D8FE2083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4CF46-7D1F-4D33-B039-67985B2C55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8306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BCCCA99-2175-9820-6D62-08F4F2576A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28E2E70-3F9E-34C8-4E32-74C3E43F6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BD84B7-E03F-E0B9-42A2-39EF677A3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4A45-CAA9-4171-B493-8B5FE214279D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2975BD-F278-F0B5-9FB7-EF2DA26F4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9E03D1-976A-577E-A06B-04ABD1E27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4CF46-7D1F-4D33-B039-67985B2C55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817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4032049-8FDB-16EB-B5C9-DE3DA34F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92C6CE-EECF-EB73-B28F-8F8A52CE9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5BDB21-5C39-7A77-EDE2-C416E2AE8C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E4A45-CAA9-4171-B493-8B5FE214279D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74DFD1-3085-C22E-E660-56AF4D8E40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048559-93F5-BCA1-F9F1-7DD4A01F3E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94CF46-7D1F-4D33-B039-67985B2C55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0430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gif"/><Relationship Id="rId4" Type="http://schemas.openxmlformats.org/officeDocument/2006/relationships/image" Target="../media/image7.gi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gif"/><Relationship Id="rId3" Type="http://schemas.openxmlformats.org/officeDocument/2006/relationships/image" Target="../media/image9.png"/><Relationship Id="rId7" Type="http://schemas.openxmlformats.org/officeDocument/2006/relationships/image" Target="../media/image13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gif"/><Relationship Id="rId11" Type="http://schemas.openxmlformats.org/officeDocument/2006/relationships/image" Target="../media/image17.gif"/><Relationship Id="rId5" Type="http://schemas.openxmlformats.org/officeDocument/2006/relationships/image" Target="../media/image11.png"/><Relationship Id="rId10" Type="http://schemas.openxmlformats.org/officeDocument/2006/relationships/image" Target="../media/image16.gif"/><Relationship Id="rId4" Type="http://schemas.openxmlformats.org/officeDocument/2006/relationships/image" Target="../media/image10.png"/><Relationship Id="rId9" Type="http://schemas.openxmlformats.org/officeDocument/2006/relationships/image" Target="../media/image15.gi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DD645F44-A765-7A2C-AAD3-80BEF2ED0357}"/>
              </a:ext>
            </a:extLst>
          </p:cNvPr>
          <p:cNvSpPr/>
          <p:nvPr/>
        </p:nvSpPr>
        <p:spPr>
          <a:xfrm>
            <a:off x="3886200" y="1143000"/>
            <a:ext cx="4434840" cy="4434840"/>
          </a:xfrm>
          <a:prstGeom prst="rect">
            <a:avLst/>
          </a:prstGeom>
          <a:blipFill dpi="0" rotWithShape="1">
            <a:blip r:embed="rId2">
              <a:alphaModFix amt="7000"/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8EC847C-0974-863C-DA28-DD2D4C43E91E}"/>
              </a:ext>
            </a:extLst>
          </p:cNvPr>
          <p:cNvSpPr/>
          <p:nvPr/>
        </p:nvSpPr>
        <p:spPr>
          <a:xfrm>
            <a:off x="0" y="0"/>
            <a:ext cx="266700" cy="6858000"/>
          </a:xfrm>
          <a:prstGeom prst="rect">
            <a:avLst/>
          </a:prstGeom>
          <a:solidFill>
            <a:srgbClr val="087069"/>
          </a:solidFill>
          <a:ln w="0">
            <a:solidFill>
              <a:srgbClr val="0870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502D31-0B19-1440-D475-AD7CAB97C98B}"/>
              </a:ext>
            </a:extLst>
          </p:cNvPr>
          <p:cNvSpPr txBox="1"/>
          <p:nvPr/>
        </p:nvSpPr>
        <p:spPr>
          <a:xfrm>
            <a:off x="749808" y="1024127"/>
            <a:ext cx="5852160" cy="32918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b="1">
                <a:solidFill>
                  <a:srgbClr val="5BCFBE"/>
                </a:solidFill>
                <a:latin typeface="Malgun Gothic" panose="020B0503020000020004" pitchFamily="50" charset="-127"/>
              </a:rPr>
              <a:t>ADNI </a:t>
            </a:r>
            <a:r>
              <a:rPr lang="ko-KR" altLang="en-US" b="1">
                <a:solidFill>
                  <a:srgbClr val="5BCFBE"/>
                </a:solidFill>
                <a:latin typeface="Malgun Gothic" panose="020B0503020000020004" pitchFamily="50" charset="-127"/>
              </a:rPr>
              <a:t>기반 구조 </a:t>
            </a:r>
            <a:r>
              <a:rPr lang="en-US" altLang="ko-KR" b="1">
                <a:solidFill>
                  <a:srgbClr val="5BCFBE"/>
                </a:solidFill>
                <a:latin typeface="Malgun Gothic" panose="020B0503020000020004" pitchFamily="50" charset="-127"/>
              </a:rPr>
              <a:t>MRI </a:t>
            </a:r>
            <a:r>
              <a:rPr lang="ko-KR" altLang="en-US" b="1">
                <a:solidFill>
                  <a:srgbClr val="5BCFBE"/>
                </a:solidFill>
                <a:latin typeface="Malgun Gothic" panose="020B0503020000020004" pitchFamily="50" charset="-127"/>
              </a:rPr>
              <a:t>분석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A34A22-4AAC-B880-B85D-4F5C34414893}"/>
              </a:ext>
            </a:extLst>
          </p:cNvPr>
          <p:cNvSpPr txBox="1"/>
          <p:nvPr/>
        </p:nvSpPr>
        <p:spPr>
          <a:xfrm>
            <a:off x="749808" y="1700783"/>
            <a:ext cx="6537960" cy="132588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46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MRI</a:t>
            </a:r>
            <a:r>
              <a:rPr lang="ko-KR" altLang="en-US" sz="46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가 말해주는
뇌의 실제 나이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DD8323-0E24-F05B-BD5C-C8C918E6ED2B}"/>
              </a:ext>
            </a:extLst>
          </p:cNvPr>
          <p:cNvSpPr txBox="1"/>
          <p:nvPr/>
        </p:nvSpPr>
        <p:spPr>
          <a:xfrm>
            <a:off x="749808" y="4133087"/>
            <a:ext cx="6355080" cy="64008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dirty="0">
                <a:solidFill>
                  <a:srgbClr val="BAE9E0"/>
                </a:solidFill>
                <a:latin typeface="Malgun Gothic" panose="020B0503020000020004" pitchFamily="50" charset="-127"/>
              </a:rPr>
              <a:t>실제 나이와 예측 뇌 연령의 차이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DAA2F24E-EFD8-55B3-9FB4-1026932B8945}"/>
              </a:ext>
            </a:extLst>
          </p:cNvPr>
          <p:cNvCxnSpPr/>
          <p:nvPr/>
        </p:nvCxnSpPr>
        <p:spPr>
          <a:xfrm>
            <a:off x="609600" y="6388100"/>
            <a:ext cx="10972800" cy="0"/>
          </a:xfrm>
          <a:prstGeom prst="line">
            <a:avLst/>
          </a:prstGeom>
          <a:ln w="10160">
            <a:solidFill>
              <a:srgbClr val="3B54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23A0BEE-C2CA-FA16-E06A-7A7DB8011093}"/>
              </a:ext>
            </a:extLst>
          </p:cNvPr>
          <p:cNvSpPr txBox="1"/>
          <p:nvPr/>
        </p:nvSpPr>
        <p:spPr>
          <a:xfrm>
            <a:off x="609600" y="65278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950" dirty="0">
                <a:solidFill>
                  <a:srgbClr val="B5D7D0"/>
                </a:solidFill>
                <a:latin typeface="맑은 고딕" panose="020B0503020000020004" pitchFamily="50" charset="-127"/>
              </a:rPr>
              <a:t>ADNI </a:t>
            </a:r>
            <a:r>
              <a:rPr lang="ko-KR" altLang="en-US" sz="950" dirty="0">
                <a:solidFill>
                  <a:srgbClr val="B5D7D0"/>
                </a:solidFill>
                <a:latin typeface="맑은 고딕" panose="020B0503020000020004" pitchFamily="50" charset="-127"/>
              </a:rPr>
              <a:t>기반 뇌 연령 </a:t>
            </a:r>
            <a:r>
              <a:rPr lang="en-US" altLang="ko-KR" sz="950" dirty="0">
                <a:solidFill>
                  <a:srgbClr val="B5D7D0"/>
                </a:solidFill>
                <a:latin typeface="맑은 고딕" panose="020B0503020000020004" pitchFamily="50" charset="-127"/>
              </a:rPr>
              <a:t>BAG </a:t>
            </a:r>
            <a:r>
              <a:rPr lang="ko-KR" altLang="en-US" sz="950" dirty="0">
                <a:solidFill>
                  <a:srgbClr val="B5D7D0"/>
                </a:solidFill>
                <a:latin typeface="맑은 고딕" panose="020B0503020000020004" pitchFamily="50" charset="-127"/>
              </a:rPr>
              <a:t>분석 </a:t>
            </a:r>
            <a:endParaRPr lang="en-US" altLang="ko-KR" sz="950" dirty="0">
              <a:solidFill>
                <a:srgbClr val="B5D7D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C7682B-4312-C3D0-2298-6C4915EC836C}"/>
              </a:ext>
            </a:extLst>
          </p:cNvPr>
          <p:cNvSpPr txBox="1"/>
          <p:nvPr/>
        </p:nvSpPr>
        <p:spPr>
          <a:xfrm>
            <a:off x="10604500" y="6527800"/>
            <a:ext cx="977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B5D7D0"/>
                </a:solidFill>
                <a:latin typeface="Malgun Gothic" panose="020B0503020000020004" pitchFamily="50" charset="-127"/>
              </a:rPr>
              <a:t>1 / 17</a:t>
            </a:r>
            <a:endParaRPr lang="ko-KR" altLang="en-US" sz="950">
              <a:solidFill>
                <a:srgbClr val="B5D7D0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2E5694F-6F4C-BFFA-3C14-CDA45600D53F}"/>
              </a:ext>
            </a:extLst>
          </p:cNvPr>
          <p:cNvCxnSpPr/>
          <p:nvPr/>
        </p:nvCxnSpPr>
        <p:spPr>
          <a:xfrm>
            <a:off x="749808" y="3401568"/>
            <a:ext cx="1261872" cy="0"/>
          </a:xfrm>
          <a:prstGeom prst="line">
            <a:avLst/>
          </a:prstGeom>
          <a:ln w="30480">
            <a:solidFill>
              <a:srgbClr val="5BC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872FAFE-89E9-AAD9-7AA1-95B24B2399AE}"/>
              </a:ext>
            </a:extLst>
          </p:cNvPr>
          <p:cNvSpPr txBox="1"/>
          <p:nvPr/>
        </p:nvSpPr>
        <p:spPr>
          <a:xfrm>
            <a:off x="8476488" y="1048129"/>
            <a:ext cx="3931920" cy="44319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600" b="1" dirty="0">
                <a:solidFill>
                  <a:srgbClr val="087069"/>
                </a:solidFill>
                <a:latin typeface="Malgun Gothic" panose="020B0503020000020004" pitchFamily="50" charset="-127"/>
              </a:rPr>
              <a:t>B</a:t>
            </a:r>
            <a:r>
              <a:rPr lang="en-US" altLang="ko-KR" sz="5000" b="1" dirty="0">
                <a:solidFill>
                  <a:srgbClr val="087069"/>
                </a:solidFill>
                <a:latin typeface="Malgun Gothic" panose="020B0503020000020004" pitchFamily="50" charset="-127"/>
              </a:rPr>
              <a:t>rain</a:t>
            </a:r>
          </a:p>
          <a:p>
            <a:r>
              <a:rPr lang="en-US" altLang="ko-KR" sz="9600" b="1" dirty="0">
                <a:solidFill>
                  <a:srgbClr val="087069"/>
                </a:solidFill>
                <a:latin typeface="Malgun Gothic" panose="020B0503020000020004" pitchFamily="50" charset="-127"/>
              </a:rPr>
              <a:t>A</a:t>
            </a:r>
            <a:r>
              <a:rPr lang="en-US" altLang="ko-KR" sz="5000" b="1" dirty="0">
                <a:solidFill>
                  <a:srgbClr val="087069"/>
                </a:solidFill>
                <a:latin typeface="Malgun Gothic" panose="020B0503020000020004" pitchFamily="50" charset="-127"/>
              </a:rPr>
              <a:t>ge</a:t>
            </a:r>
          </a:p>
          <a:p>
            <a:r>
              <a:rPr lang="en-US" altLang="ko-KR" sz="9600" b="1" dirty="0">
                <a:solidFill>
                  <a:srgbClr val="087069"/>
                </a:solidFill>
                <a:latin typeface="Malgun Gothic" panose="020B0503020000020004" pitchFamily="50" charset="-127"/>
              </a:rPr>
              <a:t>G</a:t>
            </a:r>
            <a:r>
              <a:rPr lang="en-US" altLang="ko-KR" sz="5000" b="1" dirty="0">
                <a:solidFill>
                  <a:srgbClr val="087069"/>
                </a:solidFill>
                <a:latin typeface="Malgun Gothic" panose="020B0503020000020004" pitchFamily="50" charset="-127"/>
              </a:rPr>
              <a:t>ap</a:t>
            </a:r>
            <a:endParaRPr lang="ko-KR" altLang="en-US" sz="5000" b="1" dirty="0">
              <a:solidFill>
                <a:srgbClr val="08706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2C4BB9-92AC-0891-0949-EA5F548FC4B8}"/>
              </a:ext>
            </a:extLst>
          </p:cNvPr>
          <p:cNvSpPr txBox="1"/>
          <p:nvPr/>
        </p:nvSpPr>
        <p:spPr>
          <a:xfrm>
            <a:off x="609600" y="5989318"/>
            <a:ext cx="6355080" cy="64008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dirty="0">
                <a:solidFill>
                  <a:srgbClr val="BAE9E0"/>
                </a:solidFill>
                <a:latin typeface="Malgun Gothic" panose="020B0503020000020004" pitchFamily="50" charset="-127"/>
              </a:rPr>
              <a:t>황인영 함정관 </a:t>
            </a:r>
            <a:r>
              <a:rPr lang="ko-KR" altLang="en-US" dirty="0" err="1">
                <a:solidFill>
                  <a:srgbClr val="BAE9E0"/>
                </a:solidFill>
                <a:latin typeface="Malgun Gothic" panose="020B0503020000020004" pitchFamily="50" charset="-127"/>
              </a:rPr>
              <a:t>박예지</a:t>
            </a:r>
            <a:r>
              <a:rPr lang="ko-KR" altLang="en-US" dirty="0">
                <a:solidFill>
                  <a:srgbClr val="BAE9E0"/>
                </a:solidFill>
                <a:latin typeface="Malgun Gothic" panose="020B0503020000020004" pitchFamily="50" charset="-127"/>
              </a:rPr>
              <a:t> </a:t>
            </a:r>
            <a:r>
              <a:rPr lang="ko-KR" altLang="en-US" dirty="0" err="1">
                <a:solidFill>
                  <a:srgbClr val="BAE9E0"/>
                </a:solidFill>
                <a:latin typeface="Malgun Gothic" panose="020B0503020000020004" pitchFamily="50" charset="-127"/>
              </a:rPr>
              <a:t>유혜인</a:t>
            </a:r>
            <a:r>
              <a:rPr lang="ko-KR" altLang="en-US" dirty="0">
                <a:solidFill>
                  <a:srgbClr val="BAE9E0"/>
                </a:solidFill>
                <a:latin typeface="Malgun Gothic" panose="020B0503020000020004" pitchFamily="50" charset="-127"/>
              </a:rPr>
              <a:t> 이지민</a:t>
            </a:r>
          </a:p>
        </p:txBody>
      </p:sp>
    </p:spTree>
    <p:extLst>
      <p:ext uri="{BB962C8B-B14F-4D97-AF65-F5344CB8AC3E}">
        <p14:creationId xmlns:p14="http://schemas.microsoft.com/office/powerpoint/2010/main" val="3283837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D2349A3-F112-6F1C-89CF-2A24DAAC9D9C}"/>
              </a:ext>
            </a:extLst>
          </p:cNvPr>
          <p:cNvSpPr/>
          <p:nvPr/>
        </p:nvSpPr>
        <p:spPr>
          <a:xfrm>
            <a:off x="3886200" y="1143000"/>
            <a:ext cx="4434840" cy="4434840"/>
          </a:xfrm>
          <a:prstGeom prst="rect">
            <a:avLst/>
          </a:prstGeom>
          <a:blipFill dpi="0" rotWithShape="1">
            <a:blip r:embed="rId2">
              <a:alphaModFix amt="5000"/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80D13E-68B2-2640-DCEF-4C0B6148E970}"/>
              </a:ext>
            </a:extLst>
          </p:cNvPr>
          <p:cNvSpPr txBox="1"/>
          <p:nvPr/>
        </p:nvSpPr>
        <p:spPr>
          <a:xfrm>
            <a:off x="612648" y="530352"/>
            <a:ext cx="2743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087069"/>
                </a:solidFill>
                <a:latin typeface="Malgun Gothic" panose="020B0503020000020004" pitchFamily="50" charset="-127"/>
              </a:rPr>
              <a:t>연구의 출발점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C58A26-A2CD-7F43-21EC-3264DDC58624}"/>
              </a:ext>
            </a:extLst>
          </p:cNvPr>
          <p:cNvSpPr txBox="1"/>
          <p:nvPr/>
        </p:nvSpPr>
        <p:spPr>
          <a:xfrm>
            <a:off x="612648" y="950976"/>
            <a:ext cx="6858000" cy="12003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900" b="1" dirty="0">
                <a:solidFill>
                  <a:srgbClr val="163F3C"/>
                </a:solidFill>
                <a:latin typeface="Malgun Gothic" panose="020B0503020000020004" pitchFamily="50" charset="-127"/>
              </a:rPr>
              <a:t>같은 나이라도</a:t>
            </a:r>
            <a:r>
              <a:rPr lang="en-US" altLang="ko-KR" sz="3900" b="1" dirty="0">
                <a:solidFill>
                  <a:srgbClr val="163F3C"/>
                </a:solidFill>
                <a:latin typeface="Malgun Gothic" panose="020B0503020000020004" pitchFamily="50" charset="-127"/>
              </a:rPr>
              <a:t>,
</a:t>
            </a:r>
            <a:r>
              <a:rPr lang="ko-KR" altLang="en-US" sz="3900" b="1" dirty="0">
                <a:solidFill>
                  <a:srgbClr val="163F3C"/>
                </a:solidFill>
                <a:latin typeface="Malgun Gothic" panose="020B0503020000020004" pitchFamily="50" charset="-127"/>
              </a:rPr>
              <a:t>뇌의 노화 부담은 다릅니다</a:t>
            </a:r>
            <a:r>
              <a:rPr lang="en-US" altLang="ko-KR" sz="3900" b="1" dirty="0">
                <a:solidFill>
                  <a:srgbClr val="163F3C"/>
                </a:solidFill>
                <a:latin typeface="Malgun Gothic" panose="020B0503020000020004" pitchFamily="50" charset="-127"/>
              </a:rPr>
              <a:t>.</a:t>
            </a:r>
            <a:endParaRPr lang="ko-KR" altLang="en-US" sz="3900" b="1" dirty="0">
              <a:solidFill>
                <a:srgbClr val="163F3C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0228897-4AC6-D698-51CC-3DD53B17B9C3}"/>
              </a:ext>
            </a:extLst>
          </p:cNvPr>
          <p:cNvCxnSpPr/>
          <p:nvPr/>
        </p:nvCxnSpPr>
        <p:spPr>
          <a:xfrm>
            <a:off x="612648" y="2267712"/>
            <a:ext cx="1307592" cy="0"/>
          </a:xfrm>
          <a:prstGeom prst="line">
            <a:avLst/>
          </a:prstGeom>
          <a:ln w="27940">
            <a:solidFill>
              <a:srgbClr val="0F90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E6AEA56-B85C-0B4A-311D-7FC972B4810A}"/>
              </a:ext>
            </a:extLst>
          </p:cNvPr>
          <p:cNvSpPr txBox="1"/>
          <p:nvPr/>
        </p:nvSpPr>
        <p:spPr>
          <a:xfrm>
            <a:off x="612648" y="2606040"/>
            <a:ext cx="106984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dirty="0">
                <a:solidFill>
                  <a:srgbClr val="52706C"/>
                </a:solidFill>
                <a:latin typeface="Malgun Gothic" panose="020B0503020000020004" pitchFamily="50" charset="-127"/>
              </a:rPr>
              <a:t>나이는 시간의 흐름을 말하지만</a:t>
            </a:r>
            <a:r>
              <a:rPr lang="en-US" altLang="ko-KR" dirty="0">
                <a:solidFill>
                  <a:srgbClr val="52706C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dirty="0">
                <a:solidFill>
                  <a:srgbClr val="52706C"/>
                </a:solidFill>
                <a:latin typeface="Malgun Gothic" panose="020B0503020000020004" pitchFamily="50" charset="-127"/>
              </a:rPr>
              <a:t>구조 </a:t>
            </a:r>
            <a:r>
              <a:rPr lang="en-US" altLang="ko-KR" dirty="0">
                <a:solidFill>
                  <a:srgbClr val="52706C"/>
                </a:solidFill>
                <a:latin typeface="Malgun Gothic" panose="020B0503020000020004" pitchFamily="50" charset="-127"/>
              </a:rPr>
              <a:t>MRI</a:t>
            </a:r>
            <a:r>
              <a:rPr lang="ko-KR" altLang="en-US" dirty="0">
                <a:solidFill>
                  <a:srgbClr val="52706C"/>
                </a:solidFill>
                <a:latin typeface="Malgun Gothic" panose="020B0503020000020004" pitchFamily="50" charset="-127"/>
              </a:rPr>
              <a:t>는 사람마다 다른 뇌 구조의 변화를 보여 줍니다</a:t>
            </a:r>
            <a:r>
              <a:rPr lang="en-US" altLang="ko-KR" dirty="0">
                <a:solidFill>
                  <a:srgbClr val="52706C"/>
                </a:solidFill>
                <a:latin typeface="Malgun Gothic" panose="020B0503020000020004" pitchFamily="50" charset="-127"/>
              </a:rPr>
              <a:t>.</a:t>
            </a:r>
            <a:endParaRPr lang="ko-KR" altLang="en-US" dirty="0">
              <a:solidFill>
                <a:srgbClr val="52706C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A4FC72-1476-E113-C4E4-A1AFAE35E90C}"/>
              </a:ext>
            </a:extLst>
          </p:cNvPr>
          <p:cNvSpPr txBox="1"/>
          <p:nvPr/>
        </p:nvSpPr>
        <p:spPr>
          <a:xfrm>
            <a:off x="777240" y="3822192"/>
            <a:ext cx="237744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 dirty="0">
                <a:solidFill>
                  <a:srgbClr val="087069"/>
                </a:solidFill>
                <a:latin typeface="Malgun Gothic" panose="020B0503020000020004" pitchFamily="50" charset="-127"/>
              </a:rPr>
              <a:t>실제 나이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DF945F-9D88-A667-282C-C8712895B005}"/>
              </a:ext>
            </a:extLst>
          </p:cNvPr>
          <p:cNvSpPr txBox="1"/>
          <p:nvPr/>
        </p:nvSpPr>
        <p:spPr>
          <a:xfrm>
            <a:off x="777240" y="4315968"/>
            <a:ext cx="260604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52706C"/>
                </a:solidFill>
                <a:latin typeface="Malgun Gothic" panose="020B0503020000020004" pitchFamily="50" charset="-127"/>
              </a:rPr>
              <a:t>시간의 흐름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9EAC46-2FD5-5ED6-56A6-D7EA0A8B721B}"/>
              </a:ext>
            </a:extLst>
          </p:cNvPr>
          <p:cNvSpPr txBox="1"/>
          <p:nvPr/>
        </p:nvSpPr>
        <p:spPr>
          <a:xfrm>
            <a:off x="3291840" y="3950208"/>
            <a:ext cx="4114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200" b="1">
                <a:solidFill>
                  <a:srgbClr val="5BCFBE"/>
                </a:solidFill>
                <a:latin typeface="Malgun Gothic" panose="020B0503020000020004" pitchFamily="50" charset="-127"/>
              </a:rPr>
              <a:t>→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3E3497-C537-9FF5-B3D3-B62F758C1458}"/>
              </a:ext>
            </a:extLst>
          </p:cNvPr>
          <p:cNvSpPr txBox="1"/>
          <p:nvPr/>
        </p:nvSpPr>
        <p:spPr>
          <a:xfrm>
            <a:off x="4069080" y="3822192"/>
            <a:ext cx="237744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087069"/>
                </a:solidFill>
                <a:latin typeface="Malgun Gothic" panose="020B0503020000020004" pitchFamily="50" charset="-127"/>
              </a:rPr>
              <a:t>구조 </a:t>
            </a:r>
            <a:r>
              <a:rPr lang="en-US" altLang="ko-KR" sz="2400" b="1">
                <a:solidFill>
                  <a:srgbClr val="087069"/>
                </a:solidFill>
                <a:latin typeface="Malgun Gothic" panose="020B0503020000020004" pitchFamily="50" charset="-127"/>
              </a:rPr>
              <a:t>MRI</a:t>
            </a:r>
            <a:endParaRPr lang="ko-KR" altLang="en-US" sz="2400" b="1">
              <a:solidFill>
                <a:srgbClr val="08706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754523-DE99-3452-61C8-A231B6283F96}"/>
              </a:ext>
            </a:extLst>
          </p:cNvPr>
          <p:cNvSpPr txBox="1"/>
          <p:nvPr/>
        </p:nvSpPr>
        <p:spPr>
          <a:xfrm>
            <a:off x="4069080" y="4315968"/>
            <a:ext cx="260604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52706C"/>
                </a:solidFill>
                <a:latin typeface="Malgun Gothic" panose="020B0503020000020004" pitchFamily="50" charset="-127"/>
              </a:rPr>
              <a:t>뇌 구조의 개인차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686605-6C97-F20C-9885-AE2FC6314664}"/>
              </a:ext>
            </a:extLst>
          </p:cNvPr>
          <p:cNvSpPr txBox="1"/>
          <p:nvPr/>
        </p:nvSpPr>
        <p:spPr>
          <a:xfrm>
            <a:off x="6583680" y="3950208"/>
            <a:ext cx="4114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200" b="1">
                <a:solidFill>
                  <a:srgbClr val="5BCFBE"/>
                </a:solidFill>
                <a:latin typeface="Malgun Gothic" panose="020B0503020000020004" pitchFamily="50" charset="-127"/>
              </a:rPr>
              <a:t>→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2A3A01-1800-4954-DA6A-D6FCC5946AAB}"/>
              </a:ext>
            </a:extLst>
          </p:cNvPr>
          <p:cNvSpPr txBox="1"/>
          <p:nvPr/>
        </p:nvSpPr>
        <p:spPr>
          <a:xfrm>
            <a:off x="7452360" y="3822192"/>
            <a:ext cx="237744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400" b="1" dirty="0">
                <a:solidFill>
                  <a:srgbClr val="0F9084"/>
                </a:solidFill>
                <a:latin typeface="Malgun Gothic" panose="020B0503020000020004" pitchFamily="50" charset="-127"/>
              </a:rPr>
              <a:t>BAG + 3D</a:t>
            </a:r>
            <a:endParaRPr lang="ko-KR" altLang="en-US" sz="2400" b="1" dirty="0">
              <a:solidFill>
                <a:srgbClr val="0F908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6B15AE-DEB5-3CF5-5F22-7467EE334282}"/>
              </a:ext>
            </a:extLst>
          </p:cNvPr>
          <p:cNvSpPr txBox="1"/>
          <p:nvPr/>
        </p:nvSpPr>
        <p:spPr>
          <a:xfrm>
            <a:off x="7452360" y="4315968"/>
            <a:ext cx="260604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 dirty="0">
                <a:solidFill>
                  <a:srgbClr val="52706C"/>
                </a:solidFill>
                <a:latin typeface="Malgun Gothic" panose="020B0503020000020004" pitchFamily="50" charset="-127"/>
              </a:rPr>
              <a:t>노화 부담과 취약 위치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3F5379C-D0F4-F51D-2ACE-BF3E3954C2F4}"/>
              </a:ext>
            </a:extLst>
          </p:cNvPr>
          <p:cNvSpPr/>
          <p:nvPr/>
        </p:nvSpPr>
        <p:spPr>
          <a:xfrm>
            <a:off x="612648" y="5074920"/>
            <a:ext cx="10972800" cy="566928"/>
          </a:xfrm>
          <a:prstGeom prst="rect">
            <a:avLst/>
          </a:prstGeom>
          <a:solidFill>
            <a:srgbClr val="EFF9F7"/>
          </a:solidFill>
          <a:ln>
            <a:solidFill>
              <a:srgbClr val="CAE2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8A4617-CD16-DD71-90A7-8BDA225876B3}"/>
              </a:ext>
            </a:extLst>
          </p:cNvPr>
          <p:cNvSpPr txBox="1"/>
          <p:nvPr/>
        </p:nvSpPr>
        <p:spPr>
          <a:xfrm>
            <a:off x="868680" y="5239512"/>
            <a:ext cx="10515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163F3C"/>
                </a:solidFill>
                <a:latin typeface="Malgun Gothic" panose="020B0503020000020004" pitchFamily="50" charset="-127"/>
              </a:rPr>
              <a:t>목적</a:t>
            </a:r>
            <a:r>
              <a:rPr lang="en-US" altLang="ko-KR" sz="1500" b="1">
                <a:solidFill>
                  <a:srgbClr val="163F3C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500" b="1">
                <a:solidFill>
                  <a:srgbClr val="163F3C"/>
                </a:solidFill>
                <a:latin typeface="Malgun Gothic" panose="020B0503020000020004" pitchFamily="50" charset="-127"/>
              </a:rPr>
              <a:t>진단명을 맞히는 것이 아니라</a:t>
            </a:r>
            <a:r>
              <a:rPr lang="en-US" altLang="ko-KR" sz="1500" b="1">
                <a:solidFill>
                  <a:srgbClr val="163F3C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500" b="1">
                <a:solidFill>
                  <a:srgbClr val="163F3C"/>
                </a:solidFill>
                <a:latin typeface="Malgun Gothic" panose="020B0503020000020004" pitchFamily="50" charset="-127"/>
              </a:rPr>
              <a:t>정상 노화 기준에서 벗어난 구조적 부담을 수치와 위치로 해석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5EEF1302-8912-89A3-935D-ACAA900A2D63}"/>
              </a:ext>
            </a:extLst>
          </p:cNvPr>
          <p:cNvCxnSpPr/>
          <p:nvPr/>
        </p:nvCxnSpPr>
        <p:spPr>
          <a:xfrm>
            <a:off x="612648" y="6391656"/>
            <a:ext cx="10972800" cy="0"/>
          </a:xfrm>
          <a:prstGeom prst="line">
            <a:avLst/>
          </a:prstGeom>
          <a:ln w="10160">
            <a:solidFill>
              <a:srgbClr val="CAE2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077416E-D704-C830-1F65-B026DAD25B32}"/>
              </a:ext>
            </a:extLst>
          </p:cNvPr>
          <p:cNvSpPr txBox="1"/>
          <p:nvPr/>
        </p:nvSpPr>
        <p:spPr>
          <a:xfrm>
            <a:off x="612648" y="6528816"/>
            <a:ext cx="4443984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 dirty="0">
                <a:solidFill>
                  <a:srgbClr val="52706C"/>
                </a:solidFill>
                <a:latin typeface="Malgun Gothic" panose="020B0503020000020004" pitchFamily="50" charset="-127"/>
              </a:rPr>
              <a:t>ADNI </a:t>
            </a:r>
            <a:r>
              <a:rPr lang="ko-KR" altLang="en-US" sz="1000" dirty="0">
                <a:solidFill>
                  <a:srgbClr val="52706C"/>
                </a:solidFill>
                <a:latin typeface="Malgun Gothic" panose="020B0503020000020004" pitchFamily="50" charset="-127"/>
              </a:rPr>
              <a:t>기반 뇌 연령 </a:t>
            </a:r>
            <a:r>
              <a:rPr lang="en-US" altLang="ko-KR" sz="1000" dirty="0">
                <a:solidFill>
                  <a:srgbClr val="52706C"/>
                </a:solidFill>
                <a:latin typeface="Malgun Gothic" panose="020B0503020000020004" pitchFamily="50" charset="-127"/>
              </a:rPr>
              <a:t>BAG </a:t>
            </a:r>
            <a:r>
              <a:rPr lang="ko-KR" altLang="en-US" sz="1000" dirty="0">
                <a:solidFill>
                  <a:srgbClr val="52706C"/>
                </a:solidFill>
                <a:latin typeface="Malgun Gothic" panose="020B0503020000020004" pitchFamily="50" charset="-127"/>
              </a:rPr>
              <a:t>분석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68BA03-5665-1D63-49F4-BFC598FC1B12}"/>
              </a:ext>
            </a:extLst>
          </p:cNvPr>
          <p:cNvSpPr txBox="1"/>
          <p:nvPr/>
        </p:nvSpPr>
        <p:spPr>
          <a:xfrm>
            <a:off x="10607040" y="6528816"/>
            <a:ext cx="978408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52706C"/>
                </a:solidFill>
                <a:latin typeface="Malgun Gothic" panose="020B0503020000020004" pitchFamily="50" charset="-127"/>
              </a:rPr>
              <a:t>2 / 17</a:t>
            </a:r>
            <a:endParaRPr lang="ko-KR" altLang="en-US" sz="1000">
              <a:solidFill>
                <a:srgbClr val="52706C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0689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37FBE710-96D3-EFBD-B7D0-8CA489A4731C}"/>
              </a:ext>
            </a:extLst>
          </p:cNvPr>
          <p:cNvSpPr/>
          <p:nvPr/>
        </p:nvSpPr>
        <p:spPr>
          <a:xfrm>
            <a:off x="3886200" y="1143000"/>
            <a:ext cx="4434840" cy="4434840"/>
          </a:xfrm>
          <a:prstGeom prst="rect">
            <a:avLst/>
          </a:prstGeom>
          <a:blipFill dpi="0" rotWithShape="1">
            <a:blip r:embed="rId2">
              <a:alphaModFix amt="5000"/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567D58-68B3-D39E-6B88-38DE8A744240}"/>
              </a:ext>
            </a:extLst>
          </p:cNvPr>
          <p:cNvSpPr txBox="1"/>
          <p:nvPr/>
        </p:nvSpPr>
        <p:spPr>
          <a:xfrm>
            <a:off x="609600" y="5334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087069"/>
                </a:solidFill>
                <a:latin typeface="맑은 고딕" panose="020B0503020000020004" pitchFamily="50" charset="-127"/>
              </a:rPr>
              <a:t>핵심 개념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28BD94-CB9A-F2E3-4D9B-73FD1C1438F6}"/>
              </a:ext>
            </a:extLst>
          </p:cNvPr>
          <p:cNvSpPr txBox="1"/>
          <p:nvPr/>
        </p:nvSpPr>
        <p:spPr>
          <a:xfrm>
            <a:off x="609600" y="8382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3000" b="1" dirty="0">
                <a:solidFill>
                  <a:srgbClr val="163F3C"/>
                </a:solidFill>
                <a:latin typeface="맑은 고딕" panose="020B0503020000020004" pitchFamily="50" charset="-127"/>
              </a:rPr>
              <a:t>BAG</a:t>
            </a:r>
            <a:r>
              <a:rPr lang="ko-KR" altLang="en-US" sz="3000" b="1" dirty="0">
                <a:solidFill>
                  <a:srgbClr val="163F3C"/>
                </a:solidFill>
                <a:latin typeface="맑은 고딕" panose="020B0503020000020004" pitchFamily="50" charset="-127"/>
              </a:rPr>
              <a:t>는 “얼마나”</a:t>
            </a:r>
            <a:r>
              <a:rPr lang="en-US" altLang="ko-KR" sz="3000" b="1" dirty="0">
                <a:solidFill>
                  <a:srgbClr val="163F3C"/>
                </a:solidFill>
                <a:latin typeface="맑은 고딕" panose="020B0503020000020004" pitchFamily="50" charset="-127"/>
              </a:rPr>
              <a:t>, 3D </a:t>
            </a:r>
            <a:r>
              <a:rPr lang="ko-KR" altLang="en-US" sz="3000" b="1" dirty="0">
                <a:solidFill>
                  <a:srgbClr val="163F3C"/>
                </a:solidFill>
                <a:latin typeface="맑은 고딕" panose="020B0503020000020004" pitchFamily="50" charset="-127"/>
              </a:rPr>
              <a:t>지도는 “</a:t>
            </a:r>
            <a:r>
              <a:rPr lang="ko-KR" altLang="en-US" sz="3000" b="1" dirty="0" err="1">
                <a:solidFill>
                  <a:srgbClr val="163F3C"/>
                </a:solidFill>
                <a:latin typeface="맑은 고딕" panose="020B0503020000020004" pitchFamily="50" charset="-127"/>
              </a:rPr>
              <a:t>어디”를</a:t>
            </a:r>
            <a:r>
              <a:rPr lang="ko-KR" altLang="en-US" sz="3000" b="1" dirty="0">
                <a:solidFill>
                  <a:srgbClr val="163F3C"/>
                </a:solidFill>
                <a:latin typeface="맑은 고딕" panose="020B0503020000020004" pitchFamily="50" charset="-127"/>
              </a:rPr>
              <a:t> 보여 줍니다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D81B5A4-F5D9-1334-0F35-04AFDDE86CC2}"/>
              </a:ext>
            </a:extLst>
          </p:cNvPr>
          <p:cNvCxnSpPr/>
          <p:nvPr/>
        </p:nvCxnSpPr>
        <p:spPr>
          <a:xfrm>
            <a:off x="609600" y="1536700"/>
            <a:ext cx="1295400" cy="0"/>
          </a:xfrm>
          <a:prstGeom prst="line">
            <a:avLst/>
          </a:prstGeom>
          <a:ln w="25400">
            <a:solidFill>
              <a:srgbClr val="0870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B528623-98B1-C44E-EB16-11D25512E879}"/>
              </a:ext>
            </a:extLst>
          </p:cNvPr>
          <p:cNvCxnSpPr/>
          <p:nvPr/>
        </p:nvCxnSpPr>
        <p:spPr>
          <a:xfrm>
            <a:off x="609600" y="6388100"/>
            <a:ext cx="10972800" cy="0"/>
          </a:xfrm>
          <a:prstGeom prst="line">
            <a:avLst/>
          </a:prstGeom>
          <a:ln w="10160">
            <a:solidFill>
              <a:srgbClr val="CAE2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AD50CDA-D0D3-468D-7F70-367BD2CD7014}"/>
              </a:ext>
            </a:extLst>
          </p:cNvPr>
          <p:cNvSpPr txBox="1"/>
          <p:nvPr/>
        </p:nvSpPr>
        <p:spPr>
          <a:xfrm>
            <a:off x="609600" y="65278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950" dirty="0">
                <a:solidFill>
                  <a:srgbClr val="52706C"/>
                </a:solidFill>
                <a:latin typeface="맑은 고딕" panose="020B0503020000020004" pitchFamily="50" charset="-127"/>
              </a:rPr>
              <a:t>ADNI </a:t>
            </a:r>
            <a:r>
              <a:rPr lang="ko-KR" altLang="en-US" sz="950" dirty="0">
                <a:solidFill>
                  <a:srgbClr val="52706C"/>
                </a:solidFill>
                <a:latin typeface="맑은 고딕" panose="020B0503020000020004" pitchFamily="50" charset="-127"/>
              </a:rPr>
              <a:t>기반 뇌 연령 </a:t>
            </a:r>
            <a:r>
              <a:rPr lang="en-US" altLang="ko-KR" sz="950" dirty="0">
                <a:solidFill>
                  <a:srgbClr val="52706C"/>
                </a:solidFill>
                <a:latin typeface="맑은 고딕" panose="020B0503020000020004" pitchFamily="50" charset="-127"/>
              </a:rPr>
              <a:t>BAG </a:t>
            </a:r>
            <a:r>
              <a:rPr lang="ko-KR" altLang="en-US" sz="950" dirty="0">
                <a:solidFill>
                  <a:srgbClr val="52706C"/>
                </a:solidFill>
                <a:latin typeface="맑은 고딕" panose="020B0503020000020004" pitchFamily="50" charset="-127"/>
              </a:rPr>
              <a:t>분석</a:t>
            </a:r>
            <a:endParaRPr lang="en-US" altLang="ko-KR" sz="950" dirty="0">
              <a:solidFill>
                <a:srgbClr val="52706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19A346-D899-78BB-9834-225790C9B130}"/>
              </a:ext>
            </a:extLst>
          </p:cNvPr>
          <p:cNvSpPr txBox="1"/>
          <p:nvPr/>
        </p:nvSpPr>
        <p:spPr>
          <a:xfrm>
            <a:off x="10604500" y="6527800"/>
            <a:ext cx="977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52706C"/>
                </a:solidFill>
                <a:latin typeface="Malgun Gothic" panose="020B0503020000020004" pitchFamily="50" charset="-127"/>
              </a:rPr>
              <a:t>3 / 17</a:t>
            </a:r>
            <a:endParaRPr lang="ko-KR" altLang="en-US" sz="950">
              <a:solidFill>
                <a:srgbClr val="52706C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66E094-C74A-701F-AC6E-AFD1A2AE3F68}"/>
              </a:ext>
            </a:extLst>
          </p:cNvPr>
          <p:cNvSpPr txBox="1"/>
          <p:nvPr/>
        </p:nvSpPr>
        <p:spPr>
          <a:xfrm>
            <a:off x="609600" y="19050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2800" b="1" dirty="0">
                <a:solidFill>
                  <a:srgbClr val="163F3C"/>
                </a:solidFill>
                <a:latin typeface="맑은 고딕" panose="020B0503020000020004" pitchFamily="50" charset="-127"/>
              </a:rPr>
              <a:t>보정 예측 뇌 연령  −  실제 나이  </a:t>
            </a:r>
            <a:r>
              <a:rPr lang="en-US" altLang="ko-KR" sz="2800" b="1" dirty="0">
                <a:solidFill>
                  <a:srgbClr val="163F3C"/>
                </a:solidFill>
                <a:latin typeface="맑은 고딕" panose="020B0503020000020004" pitchFamily="50" charset="-127"/>
              </a:rPr>
              <a:t>=  Bias-Corrected BAG</a:t>
            </a:r>
            <a:endParaRPr lang="ko-KR" altLang="en-US" sz="2800" b="1" dirty="0">
              <a:solidFill>
                <a:srgbClr val="163F3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18DD171-9539-1E06-8378-CC461DFBAE03}"/>
              </a:ext>
            </a:extLst>
          </p:cNvPr>
          <p:cNvSpPr/>
          <p:nvPr/>
        </p:nvSpPr>
        <p:spPr>
          <a:xfrm>
            <a:off x="609600" y="3276600"/>
            <a:ext cx="4546600" cy="1727200"/>
          </a:xfrm>
          <a:prstGeom prst="rect">
            <a:avLst/>
          </a:prstGeom>
          <a:solidFill>
            <a:srgbClr val="F8FCFB"/>
          </a:solidFill>
          <a:ln w="10160">
            <a:solidFill>
              <a:srgbClr val="DBF0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110CED-8864-2846-AEE8-ABEC53E0D93C}"/>
              </a:ext>
            </a:extLst>
          </p:cNvPr>
          <p:cNvSpPr txBox="1"/>
          <p:nvPr/>
        </p:nvSpPr>
        <p:spPr>
          <a:xfrm>
            <a:off x="914400" y="3594100"/>
            <a:ext cx="355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000" b="1">
                <a:solidFill>
                  <a:srgbClr val="087069"/>
                </a:solidFill>
                <a:latin typeface="맑은 고딕" panose="020B0503020000020004" pitchFamily="50" charset="-127"/>
              </a:rPr>
              <a:t>BAG: </a:t>
            </a:r>
            <a:r>
              <a:rPr lang="ko-KR" altLang="en-US" sz="2000" b="1">
                <a:solidFill>
                  <a:srgbClr val="087069"/>
                </a:solidFill>
                <a:latin typeface="맑은 고딕" panose="020B0503020000020004" pitchFamily="50" charset="-127"/>
              </a:rPr>
              <a:t>노화 부담의 크기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8293D8-BBF8-4B38-96FE-42F3CE30B632}"/>
              </a:ext>
            </a:extLst>
          </p:cNvPr>
          <p:cNvSpPr txBox="1"/>
          <p:nvPr/>
        </p:nvSpPr>
        <p:spPr>
          <a:xfrm>
            <a:off x="914400" y="4140200"/>
            <a:ext cx="349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00">
                <a:solidFill>
                  <a:srgbClr val="52706C"/>
                </a:solidFill>
                <a:latin typeface="맑은 고딕" panose="020B0503020000020004" pitchFamily="50" charset="-127"/>
              </a:rPr>
              <a:t>양수</a:t>
            </a:r>
            <a:r>
              <a:rPr lang="en-US" altLang="ko-KR" sz="1600">
                <a:solidFill>
                  <a:srgbClr val="52706C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600">
                <a:solidFill>
                  <a:srgbClr val="52706C"/>
                </a:solidFill>
                <a:latin typeface="맑은 고딕" panose="020B0503020000020004" pitchFamily="50" charset="-127"/>
              </a:rPr>
              <a:t>실제 나이보다 더 늙게 예측
음수</a:t>
            </a:r>
            <a:r>
              <a:rPr lang="en-US" altLang="ko-KR" sz="1600">
                <a:solidFill>
                  <a:srgbClr val="52706C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600">
                <a:solidFill>
                  <a:srgbClr val="52706C"/>
                </a:solidFill>
                <a:latin typeface="맑은 고딕" panose="020B0503020000020004" pitchFamily="50" charset="-127"/>
              </a:rPr>
              <a:t>실제 나이보다 더 젊게 예측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A4BB33-4BD9-83DB-BB4C-775DE6364E26}"/>
              </a:ext>
            </a:extLst>
          </p:cNvPr>
          <p:cNvSpPr txBox="1"/>
          <p:nvPr/>
        </p:nvSpPr>
        <p:spPr>
          <a:xfrm>
            <a:off x="5499100" y="37846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3600" b="1">
                <a:solidFill>
                  <a:srgbClr val="1AA79A"/>
                </a:solidFill>
                <a:latin typeface="맑은 고딕" panose="020B0503020000020004" pitchFamily="50" charset="-127"/>
              </a:rPr>
              <a:t>→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369091A-0829-9208-6200-6D4FB26D305C}"/>
              </a:ext>
            </a:extLst>
          </p:cNvPr>
          <p:cNvSpPr/>
          <p:nvPr/>
        </p:nvSpPr>
        <p:spPr>
          <a:xfrm>
            <a:off x="7010400" y="3276600"/>
            <a:ext cx="4572000" cy="1727200"/>
          </a:xfrm>
          <a:prstGeom prst="rect">
            <a:avLst/>
          </a:prstGeom>
          <a:solidFill>
            <a:srgbClr val="F3FBF9"/>
          </a:solidFill>
          <a:ln w="10160">
            <a:solidFill>
              <a:srgbClr val="AEE4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CCC8FB-6F03-A726-5C81-C3FDEA882CCD}"/>
              </a:ext>
            </a:extLst>
          </p:cNvPr>
          <p:cNvSpPr txBox="1"/>
          <p:nvPr/>
        </p:nvSpPr>
        <p:spPr>
          <a:xfrm>
            <a:off x="7315200" y="3594100"/>
            <a:ext cx="368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000" b="1">
                <a:solidFill>
                  <a:srgbClr val="075F5A"/>
                </a:solidFill>
                <a:latin typeface="맑은 고딕" panose="020B0503020000020004" pitchFamily="50" charset="-127"/>
              </a:rPr>
              <a:t>3D </a:t>
            </a:r>
            <a:r>
              <a:rPr lang="ko-KR" altLang="en-US" sz="2000" b="1">
                <a:solidFill>
                  <a:srgbClr val="075F5A"/>
                </a:solidFill>
                <a:latin typeface="맑은 고딕" panose="020B0503020000020004" pitchFamily="50" charset="-127"/>
              </a:rPr>
              <a:t>지도</a:t>
            </a:r>
            <a:r>
              <a:rPr lang="en-US" altLang="ko-KR" sz="2000" b="1">
                <a:solidFill>
                  <a:srgbClr val="075F5A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2000" b="1">
                <a:solidFill>
                  <a:srgbClr val="075F5A"/>
                </a:solidFill>
                <a:latin typeface="맑은 고딕" panose="020B0503020000020004" pitchFamily="50" charset="-127"/>
              </a:rPr>
              <a:t>취약 부위의 위치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114A4D-5383-C57A-784D-37CC410130EF}"/>
              </a:ext>
            </a:extLst>
          </p:cNvPr>
          <p:cNvSpPr txBox="1"/>
          <p:nvPr/>
        </p:nvSpPr>
        <p:spPr>
          <a:xfrm>
            <a:off x="7315200" y="4140200"/>
            <a:ext cx="355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>
                <a:solidFill>
                  <a:srgbClr val="52706C"/>
                </a:solidFill>
                <a:latin typeface="맑은 고딕" panose="020B0503020000020004" pitchFamily="50" charset="-127"/>
              </a:rPr>
              <a:t>FreeSurfer ROI</a:t>
            </a:r>
            <a:r>
              <a:rPr lang="ko-KR" altLang="en-US" sz="1600">
                <a:solidFill>
                  <a:srgbClr val="52706C"/>
                </a:solidFill>
                <a:latin typeface="맑은 고딕" panose="020B0503020000020004" pitchFamily="50" charset="-127"/>
              </a:rPr>
              <a:t>의 정량 차이를
표준 피질 표면에 표시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50C121-F57C-C4A4-0FD4-0FAC114AA908}"/>
              </a:ext>
            </a:extLst>
          </p:cNvPr>
          <p:cNvSpPr txBox="1"/>
          <p:nvPr/>
        </p:nvSpPr>
        <p:spPr>
          <a:xfrm>
            <a:off x="609600" y="55245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endParaRPr lang="ko-KR" altLang="en-US" sz="1700" b="1" dirty="0">
              <a:solidFill>
                <a:srgbClr val="163F3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273509-D599-D3A3-1A03-526654212148}"/>
              </a:ext>
            </a:extLst>
          </p:cNvPr>
          <p:cNvSpPr txBox="1"/>
          <p:nvPr/>
        </p:nvSpPr>
        <p:spPr>
          <a:xfrm>
            <a:off x="609600" y="27432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250" dirty="0">
                <a:solidFill>
                  <a:srgbClr val="52706C"/>
                </a:solidFill>
                <a:latin typeface="맑은 고딕" panose="020B0503020000020004" pitchFamily="50" charset="-127"/>
              </a:rPr>
              <a:t>보정 기준</a:t>
            </a:r>
            <a:r>
              <a:rPr lang="en-US" altLang="ko-KR" sz="1250" dirty="0">
                <a:solidFill>
                  <a:srgbClr val="52706C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250" dirty="0">
                <a:solidFill>
                  <a:srgbClr val="52706C"/>
                </a:solidFill>
                <a:latin typeface="맑은 고딕" panose="020B0503020000020004" pitchFamily="50" charset="-127"/>
              </a:rPr>
              <a:t>검증 </a:t>
            </a:r>
            <a:r>
              <a:rPr lang="en-US" altLang="ko-KR" sz="1250" dirty="0">
                <a:solidFill>
                  <a:srgbClr val="52706C"/>
                </a:solidFill>
                <a:latin typeface="맑은 고딕" panose="020B0503020000020004" pitchFamily="50" charset="-127"/>
              </a:rPr>
              <a:t>CN</a:t>
            </a:r>
            <a:r>
              <a:rPr lang="ko-KR" altLang="en-US" sz="1250" dirty="0">
                <a:solidFill>
                  <a:srgbClr val="52706C"/>
                </a:solidFill>
                <a:latin typeface="맑은 고딕" panose="020B0503020000020004" pitchFamily="50" charset="-127"/>
              </a:rPr>
              <a:t>에서 </a:t>
            </a:r>
            <a:r>
              <a:rPr lang="en-US" altLang="ko-KR" sz="1250" dirty="0">
                <a:solidFill>
                  <a:srgbClr val="52706C"/>
                </a:solidFill>
                <a:latin typeface="맑은 고딕" panose="020B0503020000020004" pitchFamily="50" charset="-127"/>
              </a:rPr>
              <a:t>raw prediction = a + b × </a:t>
            </a:r>
            <a:r>
              <a:rPr lang="ko-KR" altLang="en-US" sz="1250" dirty="0">
                <a:solidFill>
                  <a:srgbClr val="52706C"/>
                </a:solidFill>
                <a:latin typeface="맑은 고딕" panose="020B0503020000020004" pitchFamily="50" charset="-127"/>
              </a:rPr>
              <a:t>실제 나이 → 보정 예측 뇌 연령 </a:t>
            </a:r>
            <a:r>
              <a:rPr lang="en-US" altLang="ko-KR" sz="1250" dirty="0">
                <a:solidFill>
                  <a:srgbClr val="52706C"/>
                </a:solidFill>
                <a:latin typeface="맑은 고딕" panose="020B0503020000020004" pitchFamily="50" charset="-127"/>
              </a:rPr>
              <a:t>= (raw − a) / b</a:t>
            </a:r>
            <a:endParaRPr lang="ko-KR" altLang="en-US" sz="1250" dirty="0">
              <a:solidFill>
                <a:srgbClr val="52706C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84567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D080E466-F7AF-1560-F576-627F1995F0EE}"/>
              </a:ext>
            </a:extLst>
          </p:cNvPr>
          <p:cNvSpPr/>
          <p:nvPr/>
        </p:nvSpPr>
        <p:spPr>
          <a:xfrm>
            <a:off x="3886200" y="1143000"/>
            <a:ext cx="4434840" cy="4434840"/>
          </a:xfrm>
          <a:prstGeom prst="rect">
            <a:avLst/>
          </a:prstGeom>
          <a:blipFill dpi="0" rotWithShape="1">
            <a:blip r:embed="rId2">
              <a:alphaModFix amt="5000"/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9493B-8D16-E322-5199-771A4E0C5670}"/>
              </a:ext>
            </a:extLst>
          </p:cNvPr>
          <p:cNvSpPr txBox="1"/>
          <p:nvPr/>
        </p:nvSpPr>
        <p:spPr>
          <a:xfrm>
            <a:off x="609600" y="5334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087069"/>
                </a:solidFill>
                <a:latin typeface="맑은 고딕" panose="020B0503020000020004" pitchFamily="50" charset="-127"/>
              </a:rPr>
              <a:t>데이터 품질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CBF08C-D547-BFC9-61C1-0A9616F3BFEE}"/>
              </a:ext>
            </a:extLst>
          </p:cNvPr>
          <p:cNvSpPr txBox="1"/>
          <p:nvPr/>
        </p:nvSpPr>
        <p:spPr>
          <a:xfrm>
            <a:off x="609600" y="8382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3000" b="1">
                <a:solidFill>
                  <a:srgbClr val="163F3C"/>
                </a:solidFill>
                <a:latin typeface="맑은 고딕" panose="020B0503020000020004" pitchFamily="50" charset="-127"/>
              </a:rPr>
              <a:t>비교에 앞서</a:t>
            </a:r>
            <a:r>
              <a:rPr lang="en-US" altLang="ko-KR" sz="3000" b="1">
                <a:solidFill>
                  <a:srgbClr val="163F3C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3000" b="1">
                <a:solidFill>
                  <a:srgbClr val="163F3C"/>
                </a:solidFill>
                <a:latin typeface="맑은 고딕" panose="020B0503020000020004" pitchFamily="50" charset="-127"/>
              </a:rPr>
              <a:t>같은 사람의 반복 </a:t>
            </a:r>
            <a:r>
              <a:rPr lang="en-US" altLang="ko-KR" sz="3000" b="1">
                <a:solidFill>
                  <a:srgbClr val="163F3C"/>
                </a:solidFill>
                <a:latin typeface="맑은 고딕" panose="020B0503020000020004" pitchFamily="50" charset="-127"/>
              </a:rPr>
              <a:t>MRI</a:t>
            </a:r>
            <a:r>
              <a:rPr lang="ko-KR" altLang="en-US" sz="3000" b="1">
                <a:solidFill>
                  <a:srgbClr val="163F3C"/>
                </a:solidFill>
                <a:latin typeface="맑은 고딕" panose="020B0503020000020004" pitchFamily="50" charset="-127"/>
              </a:rPr>
              <a:t>를 제거했습니다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F247E49-7B3D-3954-8100-F06B3C570168}"/>
              </a:ext>
            </a:extLst>
          </p:cNvPr>
          <p:cNvCxnSpPr/>
          <p:nvPr/>
        </p:nvCxnSpPr>
        <p:spPr>
          <a:xfrm>
            <a:off x="609600" y="1536700"/>
            <a:ext cx="1295400" cy="0"/>
          </a:xfrm>
          <a:prstGeom prst="line">
            <a:avLst/>
          </a:prstGeom>
          <a:ln w="25400">
            <a:solidFill>
              <a:srgbClr val="0870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34AD8E7-1A9E-8022-039A-FF080573AB08}"/>
              </a:ext>
            </a:extLst>
          </p:cNvPr>
          <p:cNvCxnSpPr/>
          <p:nvPr/>
        </p:nvCxnSpPr>
        <p:spPr>
          <a:xfrm>
            <a:off x="609600" y="6388100"/>
            <a:ext cx="10972800" cy="0"/>
          </a:xfrm>
          <a:prstGeom prst="line">
            <a:avLst/>
          </a:prstGeom>
          <a:ln w="10160">
            <a:solidFill>
              <a:srgbClr val="CAE2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67B155C-4350-448F-9BED-1D6C73A6866F}"/>
              </a:ext>
            </a:extLst>
          </p:cNvPr>
          <p:cNvSpPr txBox="1"/>
          <p:nvPr/>
        </p:nvSpPr>
        <p:spPr>
          <a:xfrm>
            <a:off x="609600" y="65278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950" dirty="0">
                <a:solidFill>
                  <a:srgbClr val="52706C"/>
                </a:solidFill>
                <a:latin typeface="맑은 고딕" panose="020B0503020000020004" pitchFamily="50" charset="-127"/>
              </a:rPr>
              <a:t>ADNI </a:t>
            </a:r>
            <a:r>
              <a:rPr lang="ko-KR" altLang="en-US" sz="950" dirty="0">
                <a:solidFill>
                  <a:srgbClr val="52706C"/>
                </a:solidFill>
                <a:latin typeface="맑은 고딕" panose="020B0503020000020004" pitchFamily="50" charset="-127"/>
              </a:rPr>
              <a:t>기반 뇌 연령 </a:t>
            </a:r>
            <a:r>
              <a:rPr lang="en-US" altLang="ko-KR" sz="950" dirty="0">
                <a:solidFill>
                  <a:srgbClr val="52706C"/>
                </a:solidFill>
                <a:latin typeface="맑은 고딕" panose="020B0503020000020004" pitchFamily="50" charset="-127"/>
              </a:rPr>
              <a:t>BAG </a:t>
            </a:r>
            <a:r>
              <a:rPr lang="ko-KR" altLang="en-US" sz="950" dirty="0">
                <a:solidFill>
                  <a:srgbClr val="52706C"/>
                </a:solidFill>
                <a:latin typeface="맑은 고딕" panose="020B0503020000020004" pitchFamily="50" charset="-127"/>
              </a:rPr>
              <a:t>분석</a:t>
            </a:r>
            <a:endParaRPr lang="en-US" altLang="ko-KR" sz="950" dirty="0">
              <a:solidFill>
                <a:srgbClr val="52706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FF8EEE-C453-BA7F-EE74-24AE9611CC57}"/>
              </a:ext>
            </a:extLst>
          </p:cNvPr>
          <p:cNvSpPr txBox="1"/>
          <p:nvPr/>
        </p:nvSpPr>
        <p:spPr>
          <a:xfrm>
            <a:off x="10604500" y="6527800"/>
            <a:ext cx="977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52706C"/>
                </a:solidFill>
                <a:latin typeface="Malgun Gothic" panose="020B0503020000020004" pitchFamily="50" charset="-127"/>
              </a:rPr>
              <a:t>4 / 17</a:t>
            </a:r>
            <a:endParaRPr lang="ko-KR" altLang="en-US" sz="950">
              <a:solidFill>
                <a:srgbClr val="52706C"/>
              </a:solidFill>
              <a:latin typeface="Malgun Gothic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B33103C-39B4-F6EE-49CC-7F5AC966E41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006600"/>
            <a:ext cx="5842000" cy="35306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957E5EB-3455-CF07-D1E6-17C07D2CB981}"/>
              </a:ext>
            </a:extLst>
          </p:cNvPr>
          <p:cNvSpPr txBox="1"/>
          <p:nvPr/>
        </p:nvSpPr>
        <p:spPr>
          <a:xfrm>
            <a:off x="7162800" y="20828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200" b="1">
                <a:solidFill>
                  <a:srgbClr val="087069"/>
                </a:solidFill>
                <a:latin typeface="맑은 고딕" panose="020B0503020000020004" pitchFamily="50" charset="-127"/>
              </a:rPr>
              <a:t>Index MRI </a:t>
            </a:r>
            <a:r>
              <a:rPr lang="ko-KR" altLang="en-US" sz="2200" b="1">
                <a:solidFill>
                  <a:srgbClr val="087069"/>
                </a:solidFill>
                <a:latin typeface="맑은 고딕" panose="020B0503020000020004" pitchFamily="50" charset="-127"/>
              </a:rPr>
              <a:t>원칙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966B3A-5360-35E8-2ECB-2F2F6734E668}"/>
              </a:ext>
            </a:extLst>
          </p:cNvPr>
          <p:cNvSpPr txBox="1"/>
          <p:nvPr/>
        </p:nvSpPr>
        <p:spPr>
          <a:xfrm>
            <a:off x="7162800" y="26289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700">
                <a:solidFill>
                  <a:srgbClr val="163F3C"/>
                </a:solidFill>
                <a:latin typeface="맑은 고딕" panose="020B0503020000020004" pitchFamily="50" charset="-127"/>
              </a:rPr>
              <a:t>RID</a:t>
            </a:r>
            <a:r>
              <a:rPr lang="ko-KR" altLang="en-US" sz="1700">
                <a:solidFill>
                  <a:srgbClr val="163F3C"/>
                </a:solidFill>
                <a:latin typeface="맑은 고딕" panose="020B0503020000020004" pitchFamily="50" charset="-127"/>
              </a:rPr>
              <a:t>별 가장 이른 유효 </a:t>
            </a:r>
            <a:r>
              <a:rPr lang="en-US" altLang="ko-KR" sz="1700">
                <a:solidFill>
                  <a:srgbClr val="163F3C"/>
                </a:solidFill>
                <a:latin typeface="맑은 고딕" panose="020B0503020000020004" pitchFamily="50" charset="-127"/>
              </a:rPr>
              <a:t>T1 MRI 1</a:t>
            </a:r>
            <a:r>
              <a:rPr lang="ko-KR" altLang="en-US" sz="1700">
                <a:solidFill>
                  <a:srgbClr val="163F3C"/>
                </a:solidFill>
                <a:latin typeface="맑은 고딕" panose="020B0503020000020004" pitchFamily="50" charset="-127"/>
              </a:rPr>
              <a:t>건만 사용
반복 측정이 학습과 평가에 함께 섞이는 문제를 방지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631EBD0-F56C-471C-66C4-44FE0199E6A1}"/>
              </a:ext>
            </a:extLst>
          </p:cNvPr>
          <p:cNvCxnSpPr/>
          <p:nvPr/>
        </p:nvCxnSpPr>
        <p:spPr>
          <a:xfrm>
            <a:off x="7162800" y="3644900"/>
            <a:ext cx="4241800" cy="0"/>
          </a:xfrm>
          <a:prstGeom prst="line">
            <a:avLst/>
          </a:prstGeom>
          <a:ln w="12700">
            <a:solidFill>
              <a:srgbClr val="CAE2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AC07673-5443-0EBD-67C0-53BFB67498C7}"/>
              </a:ext>
            </a:extLst>
          </p:cNvPr>
          <p:cNvSpPr txBox="1"/>
          <p:nvPr/>
        </p:nvSpPr>
        <p:spPr>
          <a:xfrm>
            <a:off x="7162800" y="39116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3300" b="1">
                <a:solidFill>
                  <a:srgbClr val="163F3C"/>
                </a:solidFill>
                <a:latin typeface="맑은 고딕" panose="020B0503020000020004" pitchFamily="50" charset="-127"/>
              </a:rPr>
              <a:t>2,385</a:t>
            </a:r>
            <a:r>
              <a:rPr lang="ko-KR" altLang="en-US" sz="3300" b="1">
                <a:solidFill>
                  <a:srgbClr val="163F3C"/>
                </a:solidFill>
                <a:latin typeface="맑은 고딕" panose="020B0503020000020004" pitchFamily="50" charset="-127"/>
              </a:rPr>
              <a:t>명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7C875A-1DE4-59A9-8FAF-465D90DFF9A2}"/>
              </a:ext>
            </a:extLst>
          </p:cNvPr>
          <p:cNvSpPr txBox="1"/>
          <p:nvPr/>
        </p:nvSpPr>
        <p:spPr>
          <a:xfrm>
            <a:off x="7162800" y="44958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>
                <a:solidFill>
                  <a:srgbClr val="52706C"/>
                </a:solidFill>
                <a:latin typeface="맑은 고딕" panose="020B0503020000020004" pitchFamily="50" charset="-127"/>
              </a:rPr>
              <a:t>최종 </a:t>
            </a:r>
            <a:r>
              <a:rPr lang="en-US" altLang="ko-KR" sz="1500">
                <a:solidFill>
                  <a:srgbClr val="52706C"/>
                </a:solidFill>
                <a:latin typeface="맑은 고딕" panose="020B0503020000020004" pitchFamily="50" charset="-127"/>
              </a:rPr>
              <a:t>Index MRI </a:t>
            </a:r>
            <a:r>
              <a:rPr lang="ko-KR" altLang="en-US" sz="1500">
                <a:solidFill>
                  <a:srgbClr val="52706C"/>
                </a:solidFill>
                <a:latin typeface="맑은 고딕" panose="020B0503020000020004" pitchFamily="50" charset="-127"/>
              </a:rPr>
              <a:t>코호트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256291-4218-F9CE-2F03-8D1DC39453EA}"/>
              </a:ext>
            </a:extLst>
          </p:cNvPr>
          <p:cNvSpPr txBox="1"/>
          <p:nvPr/>
        </p:nvSpPr>
        <p:spPr>
          <a:xfrm>
            <a:off x="7162800" y="4991100"/>
            <a:ext cx="1371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400" b="1">
                <a:solidFill>
                  <a:srgbClr val="087069"/>
                </a:solidFill>
                <a:latin typeface="맑은 고딕" panose="020B0503020000020004" pitchFamily="50" charset="-127"/>
              </a:rPr>
              <a:t>CN 911</a:t>
            </a:r>
            <a:endParaRPr lang="ko-KR" altLang="en-US" sz="2400" b="1">
              <a:solidFill>
                <a:srgbClr val="08706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4C1248-B7F0-B7A8-141B-7CD8EE48802C}"/>
              </a:ext>
            </a:extLst>
          </p:cNvPr>
          <p:cNvSpPr txBox="1"/>
          <p:nvPr/>
        </p:nvSpPr>
        <p:spPr>
          <a:xfrm>
            <a:off x="8750300" y="49911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400" b="1">
                <a:solidFill>
                  <a:srgbClr val="1AA79A"/>
                </a:solidFill>
                <a:latin typeface="맑은 고딕" panose="020B0503020000020004" pitchFamily="50" charset="-127"/>
              </a:rPr>
              <a:t>MCI 1,088</a:t>
            </a:r>
            <a:endParaRPr lang="ko-KR" altLang="en-US" sz="2400" b="1">
              <a:solidFill>
                <a:srgbClr val="1AA79A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470B78-E9C6-5192-F452-688D45278952}"/>
              </a:ext>
            </a:extLst>
          </p:cNvPr>
          <p:cNvSpPr txBox="1"/>
          <p:nvPr/>
        </p:nvSpPr>
        <p:spPr>
          <a:xfrm>
            <a:off x="10477500" y="50165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000" b="1">
                <a:solidFill>
                  <a:srgbClr val="075F5A"/>
                </a:solidFill>
                <a:latin typeface="맑은 고딕" panose="020B0503020000020004" pitchFamily="50" charset="-127"/>
              </a:rPr>
              <a:t>AD 386</a:t>
            </a:r>
            <a:endParaRPr lang="ko-KR" altLang="en-US" sz="2000" b="1">
              <a:solidFill>
                <a:srgbClr val="075F5A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A11AAB-B9BC-D1F5-99BE-F54421B1D33E}"/>
              </a:ext>
            </a:extLst>
          </p:cNvPr>
          <p:cNvSpPr txBox="1"/>
          <p:nvPr/>
        </p:nvSpPr>
        <p:spPr>
          <a:xfrm>
            <a:off x="609600" y="57912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300" dirty="0">
                <a:solidFill>
                  <a:srgbClr val="52706C"/>
                </a:solidFill>
                <a:latin typeface="맑은 고딕" panose="020B0503020000020004" pitchFamily="50" charset="-127"/>
              </a:rPr>
              <a:t>CN=</a:t>
            </a:r>
            <a:r>
              <a:rPr lang="ko-KR" altLang="en-US" sz="1300" dirty="0">
                <a:solidFill>
                  <a:srgbClr val="52706C"/>
                </a:solidFill>
                <a:latin typeface="맑은 고딕" panose="020B0503020000020004" pitchFamily="50" charset="-127"/>
              </a:rPr>
              <a:t>정상 인지 </a:t>
            </a:r>
            <a:r>
              <a:rPr lang="en-US" altLang="ko-KR" sz="1300" dirty="0">
                <a:solidFill>
                  <a:srgbClr val="52706C"/>
                </a:solidFill>
                <a:latin typeface="맑은 고딕" panose="020B0503020000020004" pitchFamily="50" charset="-127"/>
              </a:rPr>
              <a:t>| MCI=</a:t>
            </a:r>
            <a:r>
              <a:rPr lang="ko-KR" altLang="en-US" sz="1300" dirty="0">
                <a:solidFill>
                  <a:srgbClr val="52706C"/>
                </a:solidFill>
                <a:latin typeface="맑은 고딕" panose="020B0503020000020004" pitchFamily="50" charset="-127"/>
              </a:rPr>
              <a:t>경도인지장애 </a:t>
            </a:r>
            <a:r>
              <a:rPr lang="en-US" altLang="ko-KR" sz="1300" dirty="0">
                <a:solidFill>
                  <a:srgbClr val="52706C"/>
                </a:solidFill>
                <a:latin typeface="맑은 고딕" panose="020B0503020000020004" pitchFamily="50" charset="-127"/>
              </a:rPr>
              <a:t>| AD=</a:t>
            </a:r>
            <a:r>
              <a:rPr lang="ko-KR" altLang="en-US" sz="1300" dirty="0">
                <a:solidFill>
                  <a:srgbClr val="52706C"/>
                </a:solidFill>
                <a:latin typeface="맑은 고딕" panose="020B0503020000020004" pitchFamily="50" charset="-127"/>
              </a:rPr>
              <a:t>알츠하이머병</a:t>
            </a:r>
          </a:p>
        </p:txBody>
      </p:sp>
    </p:spTree>
    <p:extLst>
      <p:ext uri="{BB962C8B-B14F-4D97-AF65-F5344CB8AC3E}">
        <p14:creationId xmlns:p14="http://schemas.microsoft.com/office/powerpoint/2010/main" val="2158356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D235303-C61C-B57E-230B-56CB82A2D2AE}"/>
              </a:ext>
            </a:extLst>
          </p:cNvPr>
          <p:cNvSpPr/>
          <p:nvPr/>
        </p:nvSpPr>
        <p:spPr>
          <a:xfrm>
            <a:off x="3886200" y="1143000"/>
            <a:ext cx="4434840" cy="4434840"/>
          </a:xfrm>
          <a:prstGeom prst="rect">
            <a:avLst/>
          </a:prstGeom>
          <a:blipFill dpi="0" rotWithShape="1">
            <a:blip r:embed="rId2">
              <a:alphaModFix amt="5000"/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691742-D7E7-7AAE-015D-3C095B805819}"/>
              </a:ext>
            </a:extLst>
          </p:cNvPr>
          <p:cNvSpPr txBox="1"/>
          <p:nvPr/>
        </p:nvSpPr>
        <p:spPr>
          <a:xfrm>
            <a:off x="609600" y="355600"/>
            <a:ext cx="190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007669"/>
                </a:solidFill>
                <a:latin typeface="Malgun Gothic" panose="020B0503020000020004" pitchFamily="50" charset="-127"/>
              </a:rPr>
              <a:t>분석 흐름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814D6A-1C76-DB7E-2861-7662488B1687}"/>
              </a:ext>
            </a:extLst>
          </p:cNvPr>
          <p:cNvSpPr txBox="1"/>
          <p:nvPr/>
        </p:nvSpPr>
        <p:spPr>
          <a:xfrm>
            <a:off x="609600" y="711200"/>
            <a:ext cx="10668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700" b="1">
                <a:solidFill>
                  <a:srgbClr val="17413D"/>
                </a:solidFill>
                <a:latin typeface="Malgun Gothic" panose="020B0503020000020004" pitchFamily="50" charset="-127"/>
              </a:rPr>
              <a:t>원자료에서 개인별 </a:t>
            </a:r>
            <a:r>
              <a:rPr lang="en-US" altLang="ko-KR" sz="2700" b="1">
                <a:solidFill>
                  <a:srgbClr val="17413D"/>
                </a:solidFill>
                <a:latin typeface="Malgun Gothic" panose="020B0503020000020004" pitchFamily="50" charset="-127"/>
              </a:rPr>
              <a:t>3D </a:t>
            </a:r>
            <a:r>
              <a:rPr lang="ko-KR" altLang="en-US" sz="2700" b="1">
                <a:solidFill>
                  <a:srgbClr val="17413D"/>
                </a:solidFill>
                <a:latin typeface="Malgun Gothic" panose="020B0503020000020004" pitchFamily="50" charset="-127"/>
              </a:rPr>
              <a:t>지도까지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4C0075-4860-4F68-A290-B70F81C3D929}"/>
              </a:ext>
            </a:extLst>
          </p:cNvPr>
          <p:cNvSpPr txBox="1"/>
          <p:nvPr/>
        </p:nvSpPr>
        <p:spPr>
          <a:xfrm>
            <a:off x="609600" y="1257300"/>
            <a:ext cx="10795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4E6F6B"/>
                </a:solidFill>
                <a:latin typeface="Malgun Gothic" panose="020B0503020000020004" pitchFamily="50" charset="-127"/>
              </a:rPr>
              <a:t>데이터 선택</a:t>
            </a:r>
            <a:r>
              <a:rPr lang="en-US" altLang="ko-KR" sz="1300">
                <a:solidFill>
                  <a:srgbClr val="4E6F6B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300">
                <a:solidFill>
                  <a:srgbClr val="4E6F6B"/>
                </a:solidFill>
                <a:latin typeface="Malgun Gothic" panose="020B0503020000020004" pitchFamily="50" charset="-127"/>
              </a:rPr>
              <a:t>전처리</a:t>
            </a:r>
            <a:r>
              <a:rPr lang="en-US" altLang="ko-KR" sz="1300">
                <a:solidFill>
                  <a:srgbClr val="4E6F6B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300">
                <a:solidFill>
                  <a:srgbClr val="4E6F6B"/>
                </a:solidFill>
                <a:latin typeface="Malgun Gothic" panose="020B0503020000020004" pitchFamily="50" charset="-127"/>
              </a:rPr>
              <a:t>모델 학습</a:t>
            </a:r>
            <a:r>
              <a:rPr lang="en-US" altLang="ko-KR" sz="1300">
                <a:solidFill>
                  <a:srgbClr val="4E6F6B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300">
                <a:solidFill>
                  <a:srgbClr val="4E6F6B"/>
                </a:solidFill>
                <a:latin typeface="Malgun Gothic" panose="020B0503020000020004" pitchFamily="50" charset="-127"/>
              </a:rPr>
              <a:t>검증</a:t>
            </a:r>
            <a:r>
              <a:rPr lang="en-US" altLang="ko-KR" sz="1300">
                <a:solidFill>
                  <a:srgbClr val="4E6F6B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300">
                <a:solidFill>
                  <a:srgbClr val="4E6F6B"/>
                </a:solidFill>
                <a:latin typeface="Malgun Gothic" panose="020B0503020000020004" pitchFamily="50" charset="-127"/>
              </a:rPr>
              <a:t>해석이 분리된 하나의 파이프라인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51AE0BE-EDA3-1F8B-8B43-A760A8E974DA}"/>
              </a:ext>
            </a:extLst>
          </p:cNvPr>
          <p:cNvCxnSpPr/>
          <p:nvPr/>
        </p:nvCxnSpPr>
        <p:spPr>
          <a:xfrm>
            <a:off x="609600" y="1689100"/>
            <a:ext cx="1295400" cy="0"/>
          </a:xfrm>
          <a:prstGeom prst="line">
            <a:avLst/>
          </a:prstGeom>
          <a:ln w="25400">
            <a:solidFill>
              <a:srgbClr val="0076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CB8568F-D50A-0816-C590-687CC524811E}"/>
              </a:ext>
            </a:extLst>
          </p:cNvPr>
          <p:cNvCxnSpPr/>
          <p:nvPr/>
        </p:nvCxnSpPr>
        <p:spPr>
          <a:xfrm>
            <a:off x="2616200" y="3073400"/>
            <a:ext cx="177800" cy="0"/>
          </a:xfrm>
          <a:prstGeom prst="line">
            <a:avLst/>
          </a:prstGeom>
          <a:ln w="21590">
            <a:solidFill>
              <a:srgbClr val="B2D8C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998245A-5F51-4DC2-B306-CC33BF8E6762}"/>
              </a:ext>
            </a:extLst>
          </p:cNvPr>
          <p:cNvCxnSpPr/>
          <p:nvPr/>
        </p:nvCxnSpPr>
        <p:spPr>
          <a:xfrm>
            <a:off x="4927600" y="3073400"/>
            <a:ext cx="177800" cy="0"/>
          </a:xfrm>
          <a:prstGeom prst="line">
            <a:avLst/>
          </a:prstGeom>
          <a:ln w="21590">
            <a:solidFill>
              <a:srgbClr val="B2D8C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ED3F401B-2821-BCB9-DEBC-8261D8613F5B}"/>
              </a:ext>
            </a:extLst>
          </p:cNvPr>
          <p:cNvCxnSpPr/>
          <p:nvPr/>
        </p:nvCxnSpPr>
        <p:spPr>
          <a:xfrm>
            <a:off x="7239000" y="3073400"/>
            <a:ext cx="177800" cy="0"/>
          </a:xfrm>
          <a:prstGeom prst="line">
            <a:avLst/>
          </a:prstGeom>
          <a:ln w="21590">
            <a:solidFill>
              <a:srgbClr val="B2D8C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B0F49EF-D4ED-C883-179E-8DE7AB91230D}"/>
              </a:ext>
            </a:extLst>
          </p:cNvPr>
          <p:cNvCxnSpPr/>
          <p:nvPr/>
        </p:nvCxnSpPr>
        <p:spPr>
          <a:xfrm>
            <a:off x="9550400" y="3073400"/>
            <a:ext cx="177800" cy="0"/>
          </a:xfrm>
          <a:prstGeom prst="line">
            <a:avLst/>
          </a:prstGeom>
          <a:ln w="21590">
            <a:solidFill>
              <a:srgbClr val="B2D8C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1C1295F-BAA8-BC4B-0E57-4931A3C38F64}"/>
              </a:ext>
            </a:extLst>
          </p:cNvPr>
          <p:cNvSpPr/>
          <p:nvPr/>
        </p:nvSpPr>
        <p:spPr>
          <a:xfrm>
            <a:off x="609600" y="2146300"/>
            <a:ext cx="2006600" cy="1866900"/>
          </a:xfrm>
          <a:prstGeom prst="rect">
            <a:avLst/>
          </a:prstGeom>
          <a:solidFill>
            <a:srgbClr val="FFFFFF"/>
          </a:solidFill>
          <a:ln w="10160">
            <a:solidFill>
              <a:srgbClr val="B2D8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FB0A959-AF17-98FC-0855-813B7B2CB57C}"/>
              </a:ext>
            </a:extLst>
          </p:cNvPr>
          <p:cNvSpPr/>
          <p:nvPr/>
        </p:nvSpPr>
        <p:spPr>
          <a:xfrm>
            <a:off x="609600" y="2146300"/>
            <a:ext cx="2006600" cy="101600"/>
          </a:xfrm>
          <a:prstGeom prst="rect">
            <a:avLst/>
          </a:prstGeom>
          <a:solidFill>
            <a:srgbClr val="0076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B9BE10-B78A-73ED-AD80-9DB4DEF770EC}"/>
              </a:ext>
            </a:extLst>
          </p:cNvPr>
          <p:cNvSpPr txBox="1"/>
          <p:nvPr/>
        </p:nvSpPr>
        <p:spPr>
          <a:xfrm>
            <a:off x="774700" y="2374900"/>
            <a:ext cx="533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 b="1">
                <a:solidFill>
                  <a:srgbClr val="007669"/>
                </a:solidFill>
                <a:latin typeface="Malgun Gothic" panose="020B0503020000020004" pitchFamily="50" charset="-127"/>
              </a:rPr>
              <a:t>01</a:t>
            </a:r>
            <a:endParaRPr lang="ko-KR" altLang="en-US" sz="1000" b="1">
              <a:solidFill>
                <a:srgbClr val="00766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A8B3A8-7FC4-2AD0-ADF8-7366C103D83C}"/>
              </a:ext>
            </a:extLst>
          </p:cNvPr>
          <p:cNvSpPr txBox="1"/>
          <p:nvPr/>
        </p:nvSpPr>
        <p:spPr>
          <a:xfrm>
            <a:off x="774700" y="2667000"/>
            <a:ext cx="167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500" b="1">
                <a:solidFill>
                  <a:srgbClr val="17413D"/>
                </a:solidFill>
                <a:latin typeface="Malgun Gothic" panose="020B0503020000020004" pitchFamily="50" charset="-127"/>
              </a:rPr>
              <a:t>ADNI T1 </a:t>
            </a:r>
            <a:r>
              <a:rPr lang="ko-KR" altLang="en-US" sz="1500" b="1">
                <a:solidFill>
                  <a:srgbClr val="17413D"/>
                </a:solidFill>
                <a:latin typeface="Malgun Gothic" panose="020B0503020000020004" pitchFamily="50" charset="-127"/>
              </a:rPr>
              <a:t>원자료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16BB6A-B0F1-72A1-289A-80FBB69AE51F}"/>
              </a:ext>
            </a:extLst>
          </p:cNvPr>
          <p:cNvSpPr txBox="1"/>
          <p:nvPr/>
        </p:nvSpPr>
        <p:spPr>
          <a:xfrm>
            <a:off x="774700" y="3225800"/>
            <a:ext cx="1676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50">
                <a:solidFill>
                  <a:srgbClr val="4E6F6B"/>
                </a:solidFill>
                <a:latin typeface="Malgun Gothic" panose="020B0503020000020004" pitchFamily="50" charset="-127"/>
              </a:rPr>
              <a:t>10,260 </a:t>
            </a:r>
            <a:r>
              <a:rPr lang="ko-KR" altLang="en-US" sz="1050">
                <a:solidFill>
                  <a:srgbClr val="4E6F6B"/>
                </a:solidFill>
                <a:latin typeface="Malgun Gothic" panose="020B0503020000020004" pitchFamily="50" charset="-127"/>
              </a:rPr>
              <a:t>검사 </a:t>
            </a:r>
            <a:r>
              <a:rPr lang="en-US" altLang="ko-KR" sz="1050">
                <a:solidFill>
                  <a:srgbClr val="4E6F6B"/>
                </a:solidFill>
                <a:latin typeface="Malgun Gothic" panose="020B0503020000020004" pitchFamily="50" charset="-127"/>
              </a:rPr>
              <a:t>/ RID 2,504
FreeSurfer ComBat ROI</a:t>
            </a:r>
            <a:endParaRPr lang="ko-KR" altLang="en-US" sz="1050">
              <a:solidFill>
                <a:srgbClr val="4E6F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46DCF53-B4EB-8CD6-9BB9-8DAB9B4C8499}"/>
              </a:ext>
            </a:extLst>
          </p:cNvPr>
          <p:cNvSpPr/>
          <p:nvPr/>
        </p:nvSpPr>
        <p:spPr>
          <a:xfrm>
            <a:off x="2921000" y="2146300"/>
            <a:ext cx="2006600" cy="1866900"/>
          </a:xfrm>
          <a:prstGeom prst="rect">
            <a:avLst/>
          </a:prstGeom>
          <a:solidFill>
            <a:srgbClr val="FFFFFF"/>
          </a:solidFill>
          <a:ln w="10160">
            <a:solidFill>
              <a:srgbClr val="B2D8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9356F94-64AE-4464-7E9E-9691DB7AF47C}"/>
              </a:ext>
            </a:extLst>
          </p:cNvPr>
          <p:cNvSpPr/>
          <p:nvPr/>
        </p:nvSpPr>
        <p:spPr>
          <a:xfrm>
            <a:off x="2921000" y="2146300"/>
            <a:ext cx="2006600" cy="101600"/>
          </a:xfrm>
          <a:prstGeom prst="rect">
            <a:avLst/>
          </a:prstGeom>
          <a:solidFill>
            <a:srgbClr val="0076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EAEE1A-E803-508C-E847-0B90B132E962}"/>
              </a:ext>
            </a:extLst>
          </p:cNvPr>
          <p:cNvSpPr txBox="1"/>
          <p:nvPr/>
        </p:nvSpPr>
        <p:spPr>
          <a:xfrm>
            <a:off x="3086100" y="2374900"/>
            <a:ext cx="533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 b="1">
                <a:solidFill>
                  <a:srgbClr val="007669"/>
                </a:solidFill>
                <a:latin typeface="Malgun Gothic" panose="020B0503020000020004" pitchFamily="50" charset="-127"/>
              </a:rPr>
              <a:t>02</a:t>
            </a:r>
            <a:endParaRPr lang="ko-KR" altLang="en-US" sz="1000" b="1">
              <a:solidFill>
                <a:srgbClr val="00766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5CC145-D3EE-225A-9B3B-582E34957573}"/>
              </a:ext>
            </a:extLst>
          </p:cNvPr>
          <p:cNvSpPr txBox="1"/>
          <p:nvPr/>
        </p:nvSpPr>
        <p:spPr>
          <a:xfrm>
            <a:off x="3086100" y="2667000"/>
            <a:ext cx="167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17413D"/>
                </a:solidFill>
                <a:latin typeface="Malgun Gothic" panose="020B0503020000020004" pitchFamily="50" charset="-127"/>
              </a:rPr>
              <a:t>유효성</a:t>
            </a:r>
            <a:r>
              <a:rPr lang="en-US" altLang="ko-KR" sz="1500" b="1">
                <a:solidFill>
                  <a:srgbClr val="17413D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500" b="1">
                <a:solidFill>
                  <a:srgbClr val="17413D"/>
                </a:solidFill>
                <a:latin typeface="Malgun Gothic" panose="020B0503020000020004" pitchFamily="50" charset="-127"/>
              </a:rPr>
              <a:t>결측 점검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0AA1B4-31F0-7A6D-62A1-11F89642468E}"/>
              </a:ext>
            </a:extLst>
          </p:cNvPr>
          <p:cNvSpPr txBox="1"/>
          <p:nvPr/>
        </p:nvSpPr>
        <p:spPr>
          <a:xfrm>
            <a:off x="3086100" y="3225800"/>
            <a:ext cx="16764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50">
                <a:solidFill>
                  <a:srgbClr val="4E6F6B"/>
                </a:solidFill>
                <a:latin typeface="Malgun Gothic" panose="020B0503020000020004" pitchFamily="50" charset="-127"/>
              </a:rPr>
              <a:t>날짜</a:t>
            </a:r>
            <a:r>
              <a:rPr lang="en-US" altLang="ko-KR" sz="1050">
                <a:solidFill>
                  <a:srgbClr val="4E6F6B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050">
                <a:solidFill>
                  <a:srgbClr val="4E6F6B"/>
                </a:solidFill>
                <a:latin typeface="Malgun Gothic" panose="020B0503020000020004" pitchFamily="50" charset="-127"/>
              </a:rPr>
              <a:t>수치 변환 </a:t>
            </a:r>
            <a:r>
              <a:rPr lang="en-US" altLang="ko-KR" sz="1050">
                <a:solidFill>
                  <a:srgbClr val="4E6F6B"/>
                </a:solidFill>
                <a:latin typeface="Malgun Gothic" panose="020B0503020000020004" pitchFamily="50" charset="-127"/>
              </a:rPr>
              <a:t>/ </a:t>
            </a:r>
            <a:r>
              <a:rPr lang="ko-KR" altLang="en-US" sz="1050">
                <a:solidFill>
                  <a:srgbClr val="4E6F6B"/>
                </a:solidFill>
                <a:latin typeface="Malgun Gothic" panose="020B0503020000020004" pitchFamily="50" charset="-127"/>
              </a:rPr>
              <a:t>범위 검사
필수값 </a:t>
            </a:r>
            <a:r>
              <a:rPr lang="en-US" altLang="ko-KR" sz="1050">
                <a:solidFill>
                  <a:srgbClr val="4E6F6B"/>
                </a:solidFill>
                <a:latin typeface="Malgun Gothic" panose="020B0503020000020004" pitchFamily="50" charset="-127"/>
              </a:rPr>
              <a:t>complete-case
8,766 </a:t>
            </a:r>
            <a:r>
              <a:rPr lang="ko-KR" altLang="en-US" sz="1050">
                <a:solidFill>
                  <a:srgbClr val="4E6F6B"/>
                </a:solidFill>
                <a:latin typeface="Malgun Gothic" panose="020B0503020000020004" pitchFamily="50" charset="-127"/>
              </a:rPr>
              <a:t>검사 통과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6D3E03C-A9F6-6B03-35D4-1930E0A925C2}"/>
              </a:ext>
            </a:extLst>
          </p:cNvPr>
          <p:cNvSpPr/>
          <p:nvPr/>
        </p:nvSpPr>
        <p:spPr>
          <a:xfrm>
            <a:off x="5232400" y="2146300"/>
            <a:ext cx="2006600" cy="1866900"/>
          </a:xfrm>
          <a:prstGeom prst="rect">
            <a:avLst/>
          </a:prstGeom>
          <a:solidFill>
            <a:srgbClr val="FFFFFF"/>
          </a:solidFill>
          <a:ln w="10160">
            <a:solidFill>
              <a:srgbClr val="B2D8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E793F7F-4830-C1C6-5A75-CE082E94D266}"/>
              </a:ext>
            </a:extLst>
          </p:cNvPr>
          <p:cNvSpPr/>
          <p:nvPr/>
        </p:nvSpPr>
        <p:spPr>
          <a:xfrm>
            <a:off x="5232400" y="2146300"/>
            <a:ext cx="2006600" cy="101600"/>
          </a:xfrm>
          <a:prstGeom prst="rect">
            <a:avLst/>
          </a:prstGeom>
          <a:solidFill>
            <a:srgbClr val="0076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E617DC-8118-9BE1-B516-AFFC31DF999E}"/>
              </a:ext>
            </a:extLst>
          </p:cNvPr>
          <p:cNvSpPr txBox="1"/>
          <p:nvPr/>
        </p:nvSpPr>
        <p:spPr>
          <a:xfrm>
            <a:off x="5397500" y="2374900"/>
            <a:ext cx="533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 b="1">
                <a:solidFill>
                  <a:srgbClr val="007669"/>
                </a:solidFill>
                <a:latin typeface="Malgun Gothic" panose="020B0503020000020004" pitchFamily="50" charset="-127"/>
              </a:rPr>
              <a:t>03</a:t>
            </a:r>
            <a:endParaRPr lang="ko-KR" altLang="en-US" sz="1000" b="1">
              <a:solidFill>
                <a:srgbClr val="00766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1206CD-E5FE-278D-1A7F-189C0D74926A}"/>
              </a:ext>
            </a:extLst>
          </p:cNvPr>
          <p:cNvSpPr txBox="1"/>
          <p:nvPr/>
        </p:nvSpPr>
        <p:spPr>
          <a:xfrm>
            <a:off x="5397500" y="2667000"/>
            <a:ext cx="167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500" b="1">
                <a:solidFill>
                  <a:srgbClr val="17413D"/>
                </a:solidFill>
                <a:latin typeface="Malgun Gothic" panose="020B0503020000020004" pitchFamily="50" charset="-127"/>
              </a:rPr>
              <a:t>Index MRI</a:t>
            </a:r>
            <a:endParaRPr lang="ko-KR" altLang="en-US" sz="1500" b="1">
              <a:solidFill>
                <a:srgbClr val="17413D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AF95C1-2FC3-F122-05B8-014DB8CDD0D6}"/>
              </a:ext>
            </a:extLst>
          </p:cNvPr>
          <p:cNvSpPr txBox="1"/>
          <p:nvPr/>
        </p:nvSpPr>
        <p:spPr>
          <a:xfrm>
            <a:off x="5397500" y="3225800"/>
            <a:ext cx="16764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50">
                <a:solidFill>
                  <a:srgbClr val="4E6F6B"/>
                </a:solidFill>
                <a:latin typeface="Malgun Gothic" panose="020B0503020000020004" pitchFamily="50" charset="-127"/>
              </a:rPr>
              <a:t>RID</a:t>
            </a:r>
            <a:r>
              <a:rPr lang="ko-KR" altLang="en-US" sz="1050">
                <a:solidFill>
                  <a:srgbClr val="4E6F6B"/>
                </a:solidFill>
                <a:latin typeface="Malgun Gothic" panose="020B0503020000020004" pitchFamily="50" charset="-127"/>
              </a:rPr>
              <a:t>별 가장 이른 유효 </a:t>
            </a:r>
            <a:r>
              <a:rPr lang="en-US" altLang="ko-KR" sz="1050">
                <a:solidFill>
                  <a:srgbClr val="4E6F6B"/>
                </a:solidFill>
                <a:latin typeface="Malgun Gothic" panose="020B0503020000020004" pitchFamily="50" charset="-127"/>
              </a:rPr>
              <a:t>T1
1</a:t>
            </a:r>
            <a:r>
              <a:rPr lang="ko-KR" altLang="en-US" sz="1050">
                <a:solidFill>
                  <a:srgbClr val="4E6F6B"/>
                </a:solidFill>
                <a:latin typeface="Malgun Gothic" panose="020B0503020000020004" pitchFamily="50" charset="-127"/>
              </a:rPr>
              <a:t>인 </a:t>
            </a:r>
            <a:r>
              <a:rPr lang="en-US" altLang="ko-KR" sz="1050">
                <a:solidFill>
                  <a:srgbClr val="4E6F6B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1050">
                <a:solidFill>
                  <a:srgbClr val="4E6F6B"/>
                </a:solidFill>
                <a:latin typeface="Malgun Gothic" panose="020B0503020000020004" pitchFamily="50" charset="-127"/>
              </a:rPr>
              <a:t>검사
</a:t>
            </a:r>
            <a:r>
              <a:rPr lang="en-US" altLang="ko-KR" sz="1050">
                <a:solidFill>
                  <a:srgbClr val="4E6F6B"/>
                </a:solidFill>
                <a:latin typeface="Malgun Gothic" panose="020B0503020000020004" pitchFamily="50" charset="-127"/>
              </a:rPr>
              <a:t>2,385</a:t>
            </a:r>
            <a:r>
              <a:rPr lang="ko-KR" altLang="en-US" sz="1050">
                <a:solidFill>
                  <a:srgbClr val="4E6F6B"/>
                </a:solidFill>
                <a:latin typeface="Malgun Gothic" panose="020B0503020000020004" pitchFamily="50" charset="-127"/>
              </a:rPr>
              <a:t>명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3AC0AAE-C138-8FA9-C2FC-9CCF778AFA62}"/>
              </a:ext>
            </a:extLst>
          </p:cNvPr>
          <p:cNvSpPr/>
          <p:nvPr/>
        </p:nvSpPr>
        <p:spPr>
          <a:xfrm>
            <a:off x="7543800" y="2146300"/>
            <a:ext cx="2006600" cy="1866900"/>
          </a:xfrm>
          <a:prstGeom prst="rect">
            <a:avLst/>
          </a:prstGeom>
          <a:solidFill>
            <a:srgbClr val="FFFFFF"/>
          </a:solidFill>
          <a:ln w="10160">
            <a:solidFill>
              <a:srgbClr val="B2D8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DD5BF68-6076-3996-B31D-61847D61C1BD}"/>
              </a:ext>
            </a:extLst>
          </p:cNvPr>
          <p:cNvSpPr/>
          <p:nvPr/>
        </p:nvSpPr>
        <p:spPr>
          <a:xfrm>
            <a:off x="7543800" y="2146300"/>
            <a:ext cx="2006600" cy="101600"/>
          </a:xfrm>
          <a:prstGeom prst="rect">
            <a:avLst/>
          </a:prstGeom>
          <a:solidFill>
            <a:srgbClr val="0076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21853E-F18B-0F9B-06B7-8CB785F82869}"/>
              </a:ext>
            </a:extLst>
          </p:cNvPr>
          <p:cNvSpPr txBox="1"/>
          <p:nvPr/>
        </p:nvSpPr>
        <p:spPr>
          <a:xfrm>
            <a:off x="7708900" y="2374900"/>
            <a:ext cx="533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 b="1">
                <a:solidFill>
                  <a:srgbClr val="007669"/>
                </a:solidFill>
                <a:latin typeface="Malgun Gothic" panose="020B0503020000020004" pitchFamily="50" charset="-127"/>
              </a:rPr>
              <a:t>04</a:t>
            </a:r>
            <a:endParaRPr lang="ko-KR" altLang="en-US" sz="1000" b="1">
              <a:solidFill>
                <a:srgbClr val="00766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DBF6AA-EC40-04F4-DC6C-36B9C5EC5F6E}"/>
              </a:ext>
            </a:extLst>
          </p:cNvPr>
          <p:cNvSpPr txBox="1"/>
          <p:nvPr/>
        </p:nvSpPr>
        <p:spPr>
          <a:xfrm>
            <a:off x="7708900" y="2667000"/>
            <a:ext cx="167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500" b="1" dirty="0">
                <a:solidFill>
                  <a:srgbClr val="17413D"/>
                </a:solidFill>
                <a:latin typeface="Malgun Gothic" panose="020B0503020000020004" pitchFamily="50" charset="-127"/>
              </a:rPr>
              <a:t>CN </a:t>
            </a:r>
            <a:r>
              <a:rPr lang="ko-KR" altLang="en-US" sz="1500" b="1" dirty="0">
                <a:solidFill>
                  <a:srgbClr val="17413D"/>
                </a:solidFill>
                <a:latin typeface="Malgun Gothic" panose="020B0503020000020004" pitchFamily="50" charset="-127"/>
              </a:rPr>
              <a:t>학습</a:t>
            </a:r>
            <a:r>
              <a:rPr lang="en-US" altLang="ko-KR" sz="1500" b="1" dirty="0">
                <a:solidFill>
                  <a:srgbClr val="17413D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500" b="1" dirty="0">
                <a:solidFill>
                  <a:srgbClr val="17413D"/>
                </a:solidFill>
                <a:latin typeface="Malgun Gothic" panose="020B0503020000020004" pitchFamily="50" charset="-127"/>
              </a:rPr>
              <a:t>보정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C9F2488-CF71-D9A5-BBDC-722877757D56}"/>
              </a:ext>
            </a:extLst>
          </p:cNvPr>
          <p:cNvSpPr txBox="1"/>
          <p:nvPr/>
        </p:nvSpPr>
        <p:spPr>
          <a:xfrm>
            <a:off x="7708900" y="3225800"/>
            <a:ext cx="16764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50" dirty="0">
                <a:solidFill>
                  <a:srgbClr val="4E6F6B"/>
                </a:solidFill>
                <a:latin typeface="Malgun Gothic" panose="020B0503020000020004" pitchFamily="50" charset="-127"/>
              </a:rPr>
              <a:t>표준화 </a:t>
            </a:r>
            <a:r>
              <a:rPr lang="en-US" altLang="ko-KR" sz="1050" dirty="0">
                <a:solidFill>
                  <a:srgbClr val="4E6F6B"/>
                </a:solidFill>
                <a:latin typeface="Malgun Gothic" panose="020B0503020000020004" pitchFamily="50" charset="-127"/>
              </a:rPr>
              <a:t>+ Ridge
</a:t>
            </a:r>
            <a:r>
              <a:rPr lang="ko-KR" altLang="en-US" sz="1050" dirty="0">
                <a:solidFill>
                  <a:srgbClr val="4E6F6B"/>
                </a:solidFill>
                <a:latin typeface="Malgun Gothic" panose="020B0503020000020004" pitchFamily="50" charset="-127"/>
              </a:rPr>
              <a:t>검증 </a:t>
            </a:r>
            <a:r>
              <a:rPr lang="en-US" altLang="ko-KR" sz="1050" dirty="0">
                <a:solidFill>
                  <a:srgbClr val="4E6F6B"/>
                </a:solidFill>
                <a:latin typeface="Malgun Gothic" panose="020B0503020000020004" pitchFamily="50" charset="-127"/>
              </a:rPr>
              <a:t>CN</a:t>
            </a:r>
            <a:r>
              <a:rPr lang="ko-KR" altLang="en-US" sz="1050" dirty="0">
                <a:solidFill>
                  <a:srgbClr val="4E6F6B"/>
                </a:solidFill>
                <a:latin typeface="Malgun Gothic" panose="020B0503020000020004" pitchFamily="50" charset="-127"/>
              </a:rPr>
              <a:t>으로 나이 편향 보정
</a:t>
            </a:r>
            <a:r>
              <a:rPr lang="en-US" altLang="ko-KR" sz="1050" dirty="0">
                <a:solidFill>
                  <a:srgbClr val="4E6F6B"/>
                </a:solidFill>
                <a:latin typeface="Malgun Gothic" panose="020B0503020000020004" pitchFamily="50" charset="-127"/>
              </a:rPr>
              <a:t>Corrected BAG</a:t>
            </a:r>
            <a:endParaRPr lang="ko-KR" altLang="en-US" sz="1050" dirty="0">
              <a:solidFill>
                <a:srgbClr val="4E6F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1173CB2-82A7-8D18-C29A-BD12BDE0ACE0}"/>
              </a:ext>
            </a:extLst>
          </p:cNvPr>
          <p:cNvSpPr/>
          <p:nvPr/>
        </p:nvSpPr>
        <p:spPr>
          <a:xfrm>
            <a:off x="9855200" y="2146300"/>
            <a:ext cx="2006600" cy="1866900"/>
          </a:xfrm>
          <a:prstGeom prst="rect">
            <a:avLst/>
          </a:prstGeom>
          <a:solidFill>
            <a:srgbClr val="FFFFFF"/>
          </a:solidFill>
          <a:ln w="10160">
            <a:solidFill>
              <a:srgbClr val="B2D8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868CFDB-2817-C156-C681-35DFE9A8D833}"/>
              </a:ext>
            </a:extLst>
          </p:cNvPr>
          <p:cNvSpPr/>
          <p:nvPr/>
        </p:nvSpPr>
        <p:spPr>
          <a:xfrm>
            <a:off x="9855200" y="2146300"/>
            <a:ext cx="2006600" cy="101600"/>
          </a:xfrm>
          <a:prstGeom prst="rect">
            <a:avLst/>
          </a:prstGeom>
          <a:solidFill>
            <a:srgbClr val="0076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C3FB88D-BF20-2E6A-B58F-CC38245A2E50}"/>
              </a:ext>
            </a:extLst>
          </p:cNvPr>
          <p:cNvSpPr txBox="1"/>
          <p:nvPr/>
        </p:nvSpPr>
        <p:spPr>
          <a:xfrm>
            <a:off x="10020300" y="2374900"/>
            <a:ext cx="533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 b="1">
                <a:solidFill>
                  <a:srgbClr val="007669"/>
                </a:solidFill>
                <a:latin typeface="Malgun Gothic" panose="020B0503020000020004" pitchFamily="50" charset="-127"/>
              </a:rPr>
              <a:t>05</a:t>
            </a:r>
            <a:endParaRPr lang="ko-KR" altLang="en-US" sz="1000" b="1">
              <a:solidFill>
                <a:srgbClr val="00766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C9A35CF-1666-AEDC-8662-0219C493A993}"/>
              </a:ext>
            </a:extLst>
          </p:cNvPr>
          <p:cNvSpPr txBox="1"/>
          <p:nvPr/>
        </p:nvSpPr>
        <p:spPr>
          <a:xfrm>
            <a:off x="10020300" y="2667000"/>
            <a:ext cx="167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17413D"/>
                </a:solidFill>
                <a:latin typeface="Malgun Gothic" panose="020B0503020000020004" pitchFamily="50" charset="-127"/>
              </a:rPr>
              <a:t>검증</a:t>
            </a:r>
            <a:r>
              <a:rPr lang="en-US" altLang="ko-KR" sz="1500" b="1">
                <a:solidFill>
                  <a:srgbClr val="17413D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500" b="1">
                <a:solidFill>
                  <a:srgbClr val="17413D"/>
                </a:solidFill>
                <a:latin typeface="Malgun Gothic" panose="020B0503020000020004" pitchFamily="50" charset="-127"/>
              </a:rPr>
              <a:t>해석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244270-B1F3-7CB0-E38E-9D2D56350E2A}"/>
              </a:ext>
            </a:extLst>
          </p:cNvPr>
          <p:cNvSpPr txBox="1"/>
          <p:nvPr/>
        </p:nvSpPr>
        <p:spPr>
          <a:xfrm>
            <a:off x="10020300" y="3225800"/>
            <a:ext cx="1676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50">
                <a:solidFill>
                  <a:srgbClr val="4E6F6B"/>
                </a:solidFill>
                <a:latin typeface="Malgun Gothic" panose="020B0503020000020004" pitchFamily="50" charset="-127"/>
              </a:rPr>
              <a:t>독립 </a:t>
            </a:r>
            <a:r>
              <a:rPr lang="en-US" altLang="ko-KR" sz="1050">
                <a:solidFill>
                  <a:srgbClr val="4E6F6B"/>
                </a:solidFill>
                <a:latin typeface="Malgun Gothic" panose="020B0503020000020004" pitchFamily="50" charset="-127"/>
              </a:rPr>
              <a:t>CN · OOF · </a:t>
            </a:r>
            <a:r>
              <a:rPr lang="ko-KR" altLang="en-US" sz="1050">
                <a:solidFill>
                  <a:srgbClr val="4E6F6B"/>
                </a:solidFill>
                <a:latin typeface="Malgun Gothic" panose="020B0503020000020004" pitchFamily="50" charset="-127"/>
              </a:rPr>
              <a:t>순열검정
집단 비교 </a:t>
            </a:r>
            <a:r>
              <a:rPr lang="en-US" altLang="ko-KR" sz="1050">
                <a:solidFill>
                  <a:srgbClr val="4E6F6B"/>
                </a:solidFill>
                <a:latin typeface="Malgun Gothic" panose="020B0503020000020004" pitchFamily="50" charset="-127"/>
              </a:rPr>
              <a:t>· ROI · </a:t>
            </a:r>
            <a:r>
              <a:rPr lang="ko-KR" altLang="en-US" sz="1050">
                <a:solidFill>
                  <a:srgbClr val="4E6F6B"/>
                </a:solidFill>
                <a:latin typeface="Malgun Gothic" panose="020B0503020000020004" pitchFamily="50" charset="-127"/>
              </a:rPr>
              <a:t>개인 </a:t>
            </a:r>
            <a:r>
              <a:rPr lang="en-US" altLang="ko-KR" sz="1050">
                <a:solidFill>
                  <a:srgbClr val="4E6F6B"/>
                </a:solidFill>
                <a:latin typeface="Malgun Gothic" panose="020B0503020000020004" pitchFamily="50" charset="-127"/>
              </a:rPr>
              <a:t>3D</a:t>
            </a:r>
            <a:endParaRPr lang="ko-KR" altLang="en-US" sz="1050">
              <a:solidFill>
                <a:srgbClr val="4E6F6B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E8F56E23-472F-A18E-4D5B-8865FAFC7954}"/>
              </a:ext>
            </a:extLst>
          </p:cNvPr>
          <p:cNvCxnSpPr/>
          <p:nvPr/>
        </p:nvCxnSpPr>
        <p:spPr>
          <a:xfrm>
            <a:off x="609600" y="4483100"/>
            <a:ext cx="10972800" cy="0"/>
          </a:xfrm>
          <a:prstGeom prst="line">
            <a:avLst/>
          </a:prstGeom>
          <a:ln w="10160">
            <a:solidFill>
              <a:srgbClr val="B2D8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4705CA8-6049-C6A8-35F0-93D6FC691442}"/>
              </a:ext>
            </a:extLst>
          </p:cNvPr>
          <p:cNvSpPr txBox="1"/>
          <p:nvPr/>
        </p:nvSpPr>
        <p:spPr>
          <a:xfrm>
            <a:off x="609600" y="4711700"/>
            <a:ext cx="215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 b="1">
                <a:solidFill>
                  <a:srgbClr val="007669"/>
                </a:solidFill>
                <a:latin typeface="Malgun Gothic" panose="020B0503020000020004" pitchFamily="50" charset="-127"/>
              </a:rPr>
              <a:t>뇌 연령 모델 입력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6522129-37D7-2174-5838-26FD2C2BEE27}"/>
              </a:ext>
            </a:extLst>
          </p:cNvPr>
          <p:cNvSpPr txBox="1"/>
          <p:nvPr/>
        </p:nvSpPr>
        <p:spPr>
          <a:xfrm>
            <a:off x="609600" y="5054600"/>
            <a:ext cx="4724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400" b="1" dirty="0" err="1">
                <a:solidFill>
                  <a:srgbClr val="17413D"/>
                </a:solidFill>
                <a:latin typeface="Malgun Gothic" panose="020B0503020000020004" pitchFamily="50" charset="-127"/>
              </a:rPr>
              <a:t>ComBat</a:t>
            </a:r>
            <a:r>
              <a:rPr lang="en-US" altLang="ko-KR" sz="1400" b="1" dirty="0">
                <a:solidFill>
                  <a:srgbClr val="17413D"/>
                </a:solidFill>
                <a:latin typeface="Malgun Gothic" panose="020B0503020000020004" pitchFamily="50" charset="-127"/>
              </a:rPr>
              <a:t> ROI 191</a:t>
            </a:r>
            <a:r>
              <a:rPr lang="ko-KR" altLang="en-US" sz="1400" b="1" dirty="0">
                <a:solidFill>
                  <a:srgbClr val="17413D"/>
                </a:solidFill>
                <a:latin typeface="Malgun Gothic" panose="020B0503020000020004" pitchFamily="50" charset="-127"/>
              </a:rPr>
              <a:t>개 </a:t>
            </a:r>
            <a:r>
              <a:rPr lang="en-US" altLang="ko-KR" sz="1400" b="1" dirty="0">
                <a:solidFill>
                  <a:srgbClr val="17413D"/>
                </a:solidFill>
                <a:latin typeface="Malgun Gothic" panose="020B0503020000020004" pitchFamily="50" charset="-127"/>
              </a:rPr>
              <a:t>+ </a:t>
            </a:r>
            <a:r>
              <a:rPr lang="ko-KR" altLang="en-US" sz="1400" b="1" dirty="0">
                <a:solidFill>
                  <a:srgbClr val="17413D"/>
                </a:solidFill>
                <a:latin typeface="Malgun Gothic" panose="020B0503020000020004" pitchFamily="50" charset="-127"/>
              </a:rPr>
              <a:t>성별 </a:t>
            </a:r>
            <a:r>
              <a:rPr lang="en-US" altLang="ko-KR" sz="1400" b="1" dirty="0">
                <a:solidFill>
                  <a:srgbClr val="17413D"/>
                </a:solidFill>
                <a:latin typeface="Malgun Gothic" panose="020B0503020000020004" pitchFamily="50" charset="-127"/>
              </a:rPr>
              <a:t>+ </a:t>
            </a:r>
            <a:r>
              <a:rPr lang="ko-KR" altLang="en-US" sz="1400" b="1" dirty="0">
                <a:solidFill>
                  <a:srgbClr val="17413D"/>
                </a:solidFill>
                <a:latin typeface="Malgun Gothic" panose="020B0503020000020004" pitchFamily="50" charset="-127"/>
              </a:rPr>
              <a:t>교육연수 </a:t>
            </a:r>
            <a:r>
              <a:rPr lang="en-US" altLang="ko-KR" sz="1400" b="1" dirty="0">
                <a:solidFill>
                  <a:srgbClr val="17413D"/>
                </a:solidFill>
                <a:latin typeface="Malgun Gothic" panose="020B0503020000020004" pitchFamily="50" charset="-127"/>
              </a:rPr>
              <a:t>+ ICV
= </a:t>
            </a:r>
            <a:r>
              <a:rPr lang="ko-KR" altLang="en-US" sz="1400" b="1" dirty="0">
                <a:solidFill>
                  <a:srgbClr val="17413D"/>
                </a:solidFill>
                <a:latin typeface="Malgun Gothic" panose="020B0503020000020004" pitchFamily="50" charset="-127"/>
              </a:rPr>
              <a:t>총 </a:t>
            </a:r>
            <a:r>
              <a:rPr lang="en-US" altLang="ko-KR" sz="1400" b="1" dirty="0">
                <a:solidFill>
                  <a:srgbClr val="17413D"/>
                </a:solidFill>
                <a:latin typeface="Malgun Gothic" panose="020B0503020000020004" pitchFamily="50" charset="-127"/>
              </a:rPr>
              <a:t>194</a:t>
            </a:r>
            <a:r>
              <a:rPr lang="ko-KR" altLang="en-US" sz="1400" b="1" dirty="0">
                <a:solidFill>
                  <a:srgbClr val="17413D"/>
                </a:solidFill>
                <a:latin typeface="Malgun Gothic" panose="020B0503020000020004" pitchFamily="50" charset="-127"/>
              </a:rPr>
              <a:t>개 입력 변수</a:t>
            </a: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CC6D7B09-FC8E-4256-021B-295AC8FF5C39}"/>
              </a:ext>
            </a:extLst>
          </p:cNvPr>
          <p:cNvCxnSpPr/>
          <p:nvPr/>
        </p:nvCxnSpPr>
        <p:spPr>
          <a:xfrm>
            <a:off x="5791200" y="4711700"/>
            <a:ext cx="0" cy="952500"/>
          </a:xfrm>
          <a:prstGeom prst="line">
            <a:avLst/>
          </a:prstGeom>
          <a:ln w="10160">
            <a:solidFill>
              <a:srgbClr val="B2D8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0134D19-E7D7-997C-BE04-331CA395A0ED}"/>
              </a:ext>
            </a:extLst>
          </p:cNvPr>
          <p:cNvSpPr txBox="1"/>
          <p:nvPr/>
        </p:nvSpPr>
        <p:spPr>
          <a:xfrm>
            <a:off x="6146800" y="5054600"/>
            <a:ext cx="53975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50" b="1" dirty="0" err="1">
                <a:solidFill>
                  <a:srgbClr val="17413D"/>
                </a:solidFill>
                <a:latin typeface="Malgun Gothic" panose="020B0503020000020004" pitchFamily="50" charset="-127"/>
              </a:rPr>
              <a:t>PHC_Diagnosis</a:t>
            </a:r>
            <a:r>
              <a:rPr lang="en-US" altLang="ko-KR" sz="1350" b="1" dirty="0">
                <a:solidFill>
                  <a:srgbClr val="17413D"/>
                </a:solidFill>
                <a:latin typeface="Malgun Gothic" panose="020B0503020000020004" pitchFamily="50" charset="-127"/>
              </a:rPr>
              <a:t>, CDR, DXSUM </a:t>
            </a:r>
            <a:r>
              <a:rPr lang="ko-KR" altLang="en-US" sz="1350" b="1" dirty="0">
                <a:solidFill>
                  <a:srgbClr val="17413D"/>
                </a:solidFill>
                <a:latin typeface="Malgun Gothic" panose="020B0503020000020004" pitchFamily="50" charset="-127"/>
              </a:rPr>
              <a:t>추적 진단은
집단 비교와 </a:t>
            </a:r>
            <a:r>
              <a:rPr lang="en-US" altLang="ko-KR" sz="1350" b="1" dirty="0">
                <a:solidFill>
                  <a:srgbClr val="17413D"/>
                </a:solidFill>
                <a:latin typeface="Malgun Gothic" panose="020B0503020000020004" pitchFamily="50" charset="-127"/>
              </a:rPr>
              <a:t>RID</a:t>
            </a:r>
            <a:r>
              <a:rPr lang="ko-KR" altLang="en-US" sz="1350" b="1" dirty="0">
                <a:solidFill>
                  <a:srgbClr val="17413D"/>
                </a:solidFill>
                <a:latin typeface="Malgun Gothic" panose="020B0503020000020004" pitchFamily="50" charset="-127"/>
              </a:rPr>
              <a:t>별 개인 결과 설명에만 사용</a:t>
            </a: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34E3AA2E-C2F4-75D7-A21F-7EB9449ADF96}"/>
              </a:ext>
            </a:extLst>
          </p:cNvPr>
          <p:cNvCxnSpPr/>
          <p:nvPr/>
        </p:nvCxnSpPr>
        <p:spPr>
          <a:xfrm>
            <a:off x="609600" y="6375400"/>
            <a:ext cx="10972800" cy="0"/>
          </a:xfrm>
          <a:prstGeom prst="line">
            <a:avLst/>
          </a:prstGeom>
          <a:ln w="7620">
            <a:solidFill>
              <a:srgbClr val="B2D8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8E01AD3D-FD47-FC72-34D9-FF411A61E580}"/>
              </a:ext>
            </a:extLst>
          </p:cNvPr>
          <p:cNvSpPr txBox="1"/>
          <p:nvPr/>
        </p:nvSpPr>
        <p:spPr>
          <a:xfrm>
            <a:off x="609600" y="6527800"/>
            <a:ext cx="3810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850">
                <a:solidFill>
                  <a:srgbClr val="4E6F6B"/>
                </a:solidFill>
                <a:latin typeface="Malgun Gothic" panose="020B0503020000020004" pitchFamily="50" charset="-127"/>
              </a:rPr>
              <a:t>ADNI </a:t>
            </a:r>
            <a:r>
              <a:rPr lang="ko-KR" altLang="en-US" sz="850">
                <a:solidFill>
                  <a:srgbClr val="4E6F6B"/>
                </a:solidFill>
                <a:latin typeface="Malgun Gothic" panose="020B0503020000020004" pitchFamily="50" charset="-127"/>
              </a:rPr>
              <a:t>기반 뇌 연령 </a:t>
            </a:r>
            <a:r>
              <a:rPr lang="en-US" altLang="ko-KR" sz="850">
                <a:solidFill>
                  <a:srgbClr val="4E6F6B"/>
                </a:solidFill>
                <a:latin typeface="Malgun Gothic" panose="020B0503020000020004" pitchFamily="50" charset="-127"/>
              </a:rPr>
              <a:t>BAG </a:t>
            </a:r>
            <a:r>
              <a:rPr lang="ko-KR" altLang="en-US" sz="850">
                <a:solidFill>
                  <a:srgbClr val="4E6F6B"/>
                </a:solidFill>
                <a:latin typeface="Malgun Gothic" panose="020B0503020000020004" pitchFamily="50" charset="-127"/>
              </a:rPr>
              <a:t>분석 </a:t>
            </a:r>
            <a:r>
              <a:rPr lang="en-US" altLang="ko-KR" sz="850">
                <a:solidFill>
                  <a:srgbClr val="4E6F6B"/>
                </a:solidFill>
                <a:latin typeface="Malgun Gothic" panose="020B0503020000020004" pitchFamily="50" charset="-127"/>
              </a:rPr>
              <a:t>| </a:t>
            </a:r>
            <a:r>
              <a:rPr lang="ko-KR" altLang="en-US" sz="850">
                <a:solidFill>
                  <a:srgbClr val="4E6F6B"/>
                </a:solidFill>
                <a:latin typeface="Malgun Gothic" panose="020B0503020000020004" pitchFamily="50" charset="-127"/>
              </a:rPr>
              <a:t>연구용 결과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0A73A1-5043-B34D-446C-54ABACAFBD07}"/>
              </a:ext>
            </a:extLst>
          </p:cNvPr>
          <p:cNvSpPr txBox="1"/>
          <p:nvPr/>
        </p:nvSpPr>
        <p:spPr>
          <a:xfrm>
            <a:off x="10769600" y="6527800"/>
            <a:ext cx="8128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850">
                <a:solidFill>
                  <a:srgbClr val="4E6F6B"/>
                </a:solidFill>
                <a:latin typeface="Malgun Gothic" panose="020B0503020000020004" pitchFamily="50" charset="-127"/>
              </a:rPr>
              <a:t>5 / 17</a:t>
            </a:r>
            <a:endParaRPr lang="ko-KR" altLang="en-US" sz="850">
              <a:solidFill>
                <a:srgbClr val="4E6F6B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5958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5DF12AB6-381B-8FB8-FB1D-112972631334}"/>
              </a:ext>
            </a:extLst>
          </p:cNvPr>
          <p:cNvSpPr/>
          <p:nvPr/>
        </p:nvSpPr>
        <p:spPr>
          <a:xfrm>
            <a:off x="3886200" y="1143000"/>
            <a:ext cx="4434840" cy="4434840"/>
          </a:xfrm>
          <a:prstGeom prst="rect">
            <a:avLst/>
          </a:prstGeom>
          <a:blipFill dpi="0" rotWithShape="1">
            <a:blip r:embed="rId2">
              <a:alphaModFix amt="5000"/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FADD91-BA01-749D-42E5-4E03CBCAB255}"/>
              </a:ext>
            </a:extLst>
          </p:cNvPr>
          <p:cNvSpPr txBox="1"/>
          <p:nvPr/>
        </p:nvSpPr>
        <p:spPr>
          <a:xfrm>
            <a:off x="609600" y="5334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087069"/>
                </a:solidFill>
                <a:latin typeface="맑은 고딕" panose="020B0503020000020004" pitchFamily="50" charset="-127"/>
              </a:rPr>
              <a:t>모델 설계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75FF50-77EF-F863-0C8B-8517B2333BAF}"/>
              </a:ext>
            </a:extLst>
          </p:cNvPr>
          <p:cNvSpPr txBox="1"/>
          <p:nvPr/>
        </p:nvSpPr>
        <p:spPr>
          <a:xfrm>
            <a:off x="609600" y="8382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3000" b="1">
                <a:solidFill>
                  <a:srgbClr val="163F3C"/>
                </a:solidFill>
                <a:latin typeface="맑은 고딕" panose="020B0503020000020004" pitchFamily="50" charset="-127"/>
              </a:rPr>
              <a:t>정상 노화의 기준을 먼저 학습했습니다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80039BF-CABB-D9E5-570C-7EA4703688D9}"/>
              </a:ext>
            </a:extLst>
          </p:cNvPr>
          <p:cNvCxnSpPr/>
          <p:nvPr/>
        </p:nvCxnSpPr>
        <p:spPr>
          <a:xfrm>
            <a:off x="609600" y="1536700"/>
            <a:ext cx="1295400" cy="0"/>
          </a:xfrm>
          <a:prstGeom prst="line">
            <a:avLst/>
          </a:prstGeom>
          <a:ln w="25400">
            <a:solidFill>
              <a:srgbClr val="0870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7D055CD-905C-B3AD-39E6-2014368F3DED}"/>
              </a:ext>
            </a:extLst>
          </p:cNvPr>
          <p:cNvCxnSpPr/>
          <p:nvPr/>
        </p:nvCxnSpPr>
        <p:spPr>
          <a:xfrm>
            <a:off x="609600" y="6388100"/>
            <a:ext cx="10972800" cy="0"/>
          </a:xfrm>
          <a:prstGeom prst="line">
            <a:avLst/>
          </a:prstGeom>
          <a:ln w="10160">
            <a:solidFill>
              <a:srgbClr val="CAE2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732B958-B830-3B8F-4ABA-2EC0D1485180}"/>
              </a:ext>
            </a:extLst>
          </p:cNvPr>
          <p:cNvSpPr txBox="1"/>
          <p:nvPr/>
        </p:nvSpPr>
        <p:spPr>
          <a:xfrm>
            <a:off x="609600" y="65278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950" dirty="0">
                <a:solidFill>
                  <a:srgbClr val="52706C"/>
                </a:solidFill>
                <a:latin typeface="맑은 고딕" panose="020B0503020000020004" pitchFamily="50" charset="-127"/>
              </a:rPr>
              <a:t>ADNI </a:t>
            </a:r>
            <a:r>
              <a:rPr lang="ko-KR" altLang="en-US" sz="950" dirty="0">
                <a:solidFill>
                  <a:srgbClr val="52706C"/>
                </a:solidFill>
                <a:latin typeface="맑은 고딕" panose="020B0503020000020004" pitchFamily="50" charset="-127"/>
              </a:rPr>
              <a:t>기반 뇌 연령 </a:t>
            </a:r>
            <a:r>
              <a:rPr lang="en-US" altLang="ko-KR" sz="950" dirty="0">
                <a:solidFill>
                  <a:srgbClr val="52706C"/>
                </a:solidFill>
                <a:latin typeface="맑은 고딕" panose="020B0503020000020004" pitchFamily="50" charset="-127"/>
              </a:rPr>
              <a:t>BAG </a:t>
            </a:r>
            <a:r>
              <a:rPr lang="ko-KR" altLang="en-US" sz="950" dirty="0">
                <a:solidFill>
                  <a:srgbClr val="52706C"/>
                </a:solidFill>
                <a:latin typeface="맑은 고딕" panose="020B0503020000020004" pitchFamily="50" charset="-127"/>
              </a:rPr>
              <a:t>분석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9B9ABD-4F90-4745-E827-9AA3F088B55B}"/>
              </a:ext>
            </a:extLst>
          </p:cNvPr>
          <p:cNvSpPr txBox="1"/>
          <p:nvPr/>
        </p:nvSpPr>
        <p:spPr>
          <a:xfrm>
            <a:off x="10604500" y="6527800"/>
            <a:ext cx="977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52706C"/>
                </a:solidFill>
                <a:latin typeface="Malgun Gothic" panose="020B0503020000020004" pitchFamily="50" charset="-127"/>
              </a:rPr>
              <a:t>6 / 17</a:t>
            </a:r>
            <a:endParaRPr lang="ko-KR" altLang="en-US" sz="950">
              <a:solidFill>
                <a:srgbClr val="52706C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ACFD1-898C-7272-8494-2995A8D34605}"/>
              </a:ext>
            </a:extLst>
          </p:cNvPr>
          <p:cNvSpPr txBox="1"/>
          <p:nvPr/>
        </p:nvSpPr>
        <p:spPr>
          <a:xfrm>
            <a:off x="609600" y="1905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dirty="0">
                <a:solidFill>
                  <a:srgbClr val="163F3C"/>
                </a:solidFill>
                <a:latin typeface="맑은 고딕" panose="020B0503020000020004" pitchFamily="50" charset="-127"/>
              </a:rPr>
              <a:t>CN</a:t>
            </a:r>
            <a:r>
              <a:rPr lang="ko-KR" altLang="en-US" dirty="0">
                <a:solidFill>
                  <a:srgbClr val="163F3C"/>
                </a:solidFill>
                <a:latin typeface="맑은 고딕" panose="020B0503020000020004" pitchFamily="50" charset="-127"/>
              </a:rPr>
              <a:t>만으로 정상 노화의 뇌 구조</a:t>
            </a:r>
            <a:r>
              <a:rPr lang="en-US" altLang="ko-KR" dirty="0">
                <a:solidFill>
                  <a:srgbClr val="163F3C"/>
                </a:solidFill>
                <a:latin typeface="맑은 고딕" panose="020B0503020000020004" pitchFamily="50" charset="-127"/>
              </a:rPr>
              <a:t>-</a:t>
            </a:r>
            <a:r>
              <a:rPr lang="ko-KR" altLang="en-US" dirty="0">
                <a:solidFill>
                  <a:srgbClr val="163F3C"/>
                </a:solidFill>
                <a:latin typeface="맑은 고딕" panose="020B0503020000020004" pitchFamily="50" charset="-127"/>
              </a:rPr>
              <a:t>나이 관계를 학습하고</a:t>
            </a:r>
            <a:r>
              <a:rPr lang="en-US" altLang="ko-KR" dirty="0">
                <a:solidFill>
                  <a:srgbClr val="163F3C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dirty="0">
                <a:solidFill>
                  <a:srgbClr val="163F3C"/>
                </a:solidFill>
                <a:latin typeface="맑은 고딕" panose="020B0503020000020004" pitchFamily="50" charset="-127"/>
              </a:rPr>
              <a:t>모든 집단의 이탈 정도를 </a:t>
            </a:r>
            <a:r>
              <a:rPr lang="en-US" altLang="ko-KR" dirty="0">
                <a:solidFill>
                  <a:srgbClr val="163F3C"/>
                </a:solidFill>
                <a:latin typeface="맑은 고딕" panose="020B0503020000020004" pitchFamily="50" charset="-127"/>
              </a:rPr>
              <a:t>BAG</a:t>
            </a:r>
            <a:r>
              <a:rPr lang="ko-KR" altLang="en-US" dirty="0">
                <a:solidFill>
                  <a:srgbClr val="163F3C"/>
                </a:solidFill>
                <a:latin typeface="맑은 고딕" panose="020B0503020000020004" pitchFamily="50" charset="-127"/>
              </a:rPr>
              <a:t>로 평가했습니다</a:t>
            </a:r>
            <a:r>
              <a:rPr lang="en-US" altLang="ko-KR" dirty="0">
                <a:solidFill>
                  <a:srgbClr val="163F3C"/>
                </a:solidFill>
                <a:latin typeface="맑은 고딕" panose="020B0503020000020004" pitchFamily="50" charset="-127"/>
              </a:rPr>
              <a:t>.</a:t>
            </a:r>
            <a:endParaRPr lang="ko-KR" altLang="en-US" dirty="0">
              <a:solidFill>
                <a:srgbClr val="163F3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E59C00-57B5-ED79-1D2C-831BB418A0DF}"/>
              </a:ext>
            </a:extLst>
          </p:cNvPr>
          <p:cNvSpPr txBox="1"/>
          <p:nvPr/>
        </p:nvSpPr>
        <p:spPr>
          <a:xfrm>
            <a:off x="825500" y="29718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b="1">
                <a:solidFill>
                  <a:srgbClr val="087069"/>
                </a:solidFill>
                <a:latin typeface="맑은 고딕" panose="020B0503020000020004" pitchFamily="50" charset="-127"/>
              </a:rPr>
              <a:t>01</a:t>
            </a:r>
            <a:endParaRPr lang="ko-KR" altLang="en-US" b="1">
              <a:solidFill>
                <a:srgbClr val="087069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16428CD-BBAB-5C20-A51A-F141A1ECE47B}"/>
              </a:ext>
            </a:extLst>
          </p:cNvPr>
          <p:cNvCxnSpPr/>
          <p:nvPr/>
        </p:nvCxnSpPr>
        <p:spPr>
          <a:xfrm>
            <a:off x="825500" y="3390900"/>
            <a:ext cx="2108200" cy="0"/>
          </a:xfrm>
          <a:prstGeom prst="line">
            <a:avLst/>
          </a:prstGeom>
          <a:ln w="15240">
            <a:solidFill>
              <a:srgbClr val="CAE2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4F7672D-8959-60B1-7C9A-9293BE9C7051}"/>
              </a:ext>
            </a:extLst>
          </p:cNvPr>
          <p:cNvSpPr txBox="1"/>
          <p:nvPr/>
        </p:nvSpPr>
        <p:spPr>
          <a:xfrm>
            <a:off x="825500" y="36449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100" b="1" dirty="0">
                <a:solidFill>
                  <a:srgbClr val="163F3C"/>
                </a:solidFill>
                <a:latin typeface="맑은 고딕" panose="020B0503020000020004" pitchFamily="50" charset="-127"/>
              </a:rPr>
              <a:t>T1 MRI
</a:t>
            </a:r>
            <a:r>
              <a:rPr lang="en-US" altLang="ko-KR" sz="2100" b="1" dirty="0" err="1">
                <a:solidFill>
                  <a:srgbClr val="163F3C"/>
                </a:solidFill>
                <a:latin typeface="맑은 고딕" panose="020B0503020000020004" pitchFamily="50" charset="-127"/>
              </a:rPr>
              <a:t>FreeSurfer</a:t>
            </a:r>
            <a:r>
              <a:rPr lang="en-US" altLang="ko-KR" sz="2100" b="1" dirty="0">
                <a:solidFill>
                  <a:srgbClr val="163F3C"/>
                </a:solidFill>
                <a:latin typeface="맑은 고딕" panose="020B0503020000020004" pitchFamily="50" charset="-127"/>
              </a:rPr>
              <a:t> ROI</a:t>
            </a:r>
            <a:endParaRPr lang="ko-KR" altLang="en-US" sz="2100" b="1" dirty="0">
              <a:solidFill>
                <a:srgbClr val="163F3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CDD9A6-F3A4-8E05-A2DE-D5DCF2DF0253}"/>
              </a:ext>
            </a:extLst>
          </p:cNvPr>
          <p:cNvSpPr txBox="1"/>
          <p:nvPr/>
        </p:nvSpPr>
        <p:spPr>
          <a:xfrm>
            <a:off x="825500" y="45212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450">
                <a:solidFill>
                  <a:srgbClr val="52706C"/>
                </a:solidFill>
                <a:latin typeface="맑은 고딕" panose="020B0503020000020004" pitchFamily="50" charset="-127"/>
              </a:rPr>
              <a:t>피질 두께</a:t>
            </a:r>
            <a:r>
              <a:rPr lang="en-US" altLang="ko-KR" sz="1450">
                <a:solidFill>
                  <a:srgbClr val="52706C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450">
                <a:solidFill>
                  <a:srgbClr val="52706C"/>
                </a:solidFill>
                <a:latin typeface="맑은 고딕" panose="020B0503020000020004" pitchFamily="50" charset="-127"/>
              </a:rPr>
              <a:t>용적</a:t>
            </a:r>
            <a:r>
              <a:rPr lang="en-US" altLang="ko-KR" sz="1450">
                <a:solidFill>
                  <a:srgbClr val="52706C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450">
                <a:solidFill>
                  <a:srgbClr val="52706C"/>
                </a:solidFill>
                <a:latin typeface="맑은 고딕" panose="020B0503020000020004" pitchFamily="50" charset="-127"/>
              </a:rPr>
              <a:t>해마</a:t>
            </a:r>
            <a:r>
              <a:rPr lang="en-US" altLang="ko-KR" sz="1450">
                <a:solidFill>
                  <a:srgbClr val="52706C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450">
                <a:solidFill>
                  <a:srgbClr val="52706C"/>
                </a:solidFill>
                <a:latin typeface="맑은 고딕" panose="020B0503020000020004" pitchFamily="50" charset="-127"/>
              </a:rPr>
              <a:t>뇌실</a:t>
            </a:r>
            <a:r>
              <a:rPr lang="en-US" altLang="ko-KR" sz="1450">
                <a:solidFill>
                  <a:srgbClr val="52706C"/>
                </a:solidFill>
                <a:latin typeface="맑은 고딕" panose="020B0503020000020004" pitchFamily="50" charset="-127"/>
              </a:rPr>
              <a:t>·eTIV</a:t>
            </a:r>
            <a:endParaRPr lang="ko-KR" altLang="en-US" sz="1450">
              <a:solidFill>
                <a:srgbClr val="52706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B70125-23B3-20B2-2FAE-72EBCE4D2FC3}"/>
              </a:ext>
            </a:extLst>
          </p:cNvPr>
          <p:cNvSpPr txBox="1"/>
          <p:nvPr/>
        </p:nvSpPr>
        <p:spPr>
          <a:xfrm>
            <a:off x="3009900" y="3632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2000" b="1">
                <a:solidFill>
                  <a:srgbClr val="1AA79A"/>
                </a:solidFill>
                <a:latin typeface="맑은 고딕" panose="020B0503020000020004" pitchFamily="50" charset="-127"/>
              </a:rPr>
              <a:t>→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BD163F-5562-AB1B-977A-308A7F05A7C0}"/>
              </a:ext>
            </a:extLst>
          </p:cNvPr>
          <p:cNvSpPr txBox="1"/>
          <p:nvPr/>
        </p:nvSpPr>
        <p:spPr>
          <a:xfrm>
            <a:off x="3556000" y="29718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b="1">
                <a:solidFill>
                  <a:srgbClr val="087069"/>
                </a:solidFill>
                <a:latin typeface="맑은 고딕" panose="020B0503020000020004" pitchFamily="50" charset="-127"/>
              </a:rPr>
              <a:t>02</a:t>
            </a:r>
            <a:endParaRPr lang="ko-KR" altLang="en-US" b="1">
              <a:solidFill>
                <a:srgbClr val="087069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A06C632F-B4AC-566E-0ACE-D6CF9D80EE6C}"/>
              </a:ext>
            </a:extLst>
          </p:cNvPr>
          <p:cNvCxnSpPr/>
          <p:nvPr/>
        </p:nvCxnSpPr>
        <p:spPr>
          <a:xfrm>
            <a:off x="3556000" y="3390900"/>
            <a:ext cx="2108200" cy="0"/>
          </a:xfrm>
          <a:prstGeom prst="line">
            <a:avLst/>
          </a:prstGeom>
          <a:ln w="15240">
            <a:solidFill>
              <a:srgbClr val="CAE2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07737C9-B054-8986-6171-1774262B39B9}"/>
              </a:ext>
            </a:extLst>
          </p:cNvPr>
          <p:cNvSpPr txBox="1"/>
          <p:nvPr/>
        </p:nvSpPr>
        <p:spPr>
          <a:xfrm>
            <a:off x="3556000" y="36449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100" b="1" dirty="0">
                <a:solidFill>
                  <a:srgbClr val="163F3C"/>
                </a:solidFill>
                <a:latin typeface="맑은 고딕" panose="020B0503020000020004" pitchFamily="50" charset="-127"/>
              </a:rPr>
              <a:t>Index MRI
</a:t>
            </a:r>
            <a:r>
              <a:rPr lang="ko-KR" altLang="en-US" sz="2100" b="1" dirty="0" err="1">
                <a:solidFill>
                  <a:srgbClr val="163F3C"/>
                </a:solidFill>
                <a:latin typeface="맑은 고딕" panose="020B0503020000020004" pitchFamily="50" charset="-127"/>
              </a:rPr>
              <a:t>전처리</a:t>
            </a:r>
            <a:endParaRPr lang="ko-KR" altLang="en-US" sz="2100" b="1" dirty="0">
              <a:solidFill>
                <a:srgbClr val="163F3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E80B34-E363-2B84-5EF0-34CB14BAFB06}"/>
              </a:ext>
            </a:extLst>
          </p:cNvPr>
          <p:cNvSpPr txBox="1"/>
          <p:nvPr/>
        </p:nvSpPr>
        <p:spPr>
          <a:xfrm>
            <a:off x="3556000" y="45212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50">
                <a:solidFill>
                  <a:srgbClr val="52706C"/>
                </a:solidFill>
                <a:latin typeface="맑은 고딕" panose="020B0503020000020004" pitchFamily="50" charset="-127"/>
              </a:rPr>
              <a:t>RID</a:t>
            </a:r>
            <a:r>
              <a:rPr lang="ko-KR" altLang="en-US" sz="1450">
                <a:solidFill>
                  <a:srgbClr val="52706C"/>
                </a:solidFill>
                <a:latin typeface="맑은 고딕" panose="020B0503020000020004" pitchFamily="50" charset="-127"/>
              </a:rPr>
              <a:t>별 가장 이른 유효 검사 </a:t>
            </a:r>
            <a:r>
              <a:rPr lang="en-US" altLang="ko-KR" sz="1450">
                <a:solidFill>
                  <a:srgbClr val="52706C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450">
                <a:solidFill>
                  <a:srgbClr val="52706C"/>
                </a:solidFill>
                <a:latin typeface="맑은 고딕" panose="020B0503020000020004" pitchFamily="50" charset="-127"/>
              </a:rPr>
              <a:t>건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ABC2FC-86AD-B33A-1102-23823BEF9076}"/>
              </a:ext>
            </a:extLst>
          </p:cNvPr>
          <p:cNvSpPr txBox="1"/>
          <p:nvPr/>
        </p:nvSpPr>
        <p:spPr>
          <a:xfrm>
            <a:off x="5740400" y="3632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2000" b="1">
                <a:solidFill>
                  <a:srgbClr val="1AA79A"/>
                </a:solidFill>
                <a:latin typeface="맑은 고딕" panose="020B0503020000020004" pitchFamily="50" charset="-127"/>
              </a:rPr>
              <a:t>→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EB86A1-E9A5-05BC-AE87-F56E1B8BE7DC}"/>
              </a:ext>
            </a:extLst>
          </p:cNvPr>
          <p:cNvSpPr txBox="1"/>
          <p:nvPr/>
        </p:nvSpPr>
        <p:spPr>
          <a:xfrm>
            <a:off x="6286500" y="29718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b="1">
                <a:solidFill>
                  <a:srgbClr val="087069"/>
                </a:solidFill>
                <a:latin typeface="맑은 고딕" panose="020B0503020000020004" pitchFamily="50" charset="-127"/>
              </a:rPr>
              <a:t>03</a:t>
            </a:r>
            <a:endParaRPr lang="ko-KR" altLang="en-US" b="1">
              <a:solidFill>
                <a:srgbClr val="087069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0444A185-949C-71F6-A548-F5BD480F498C}"/>
              </a:ext>
            </a:extLst>
          </p:cNvPr>
          <p:cNvCxnSpPr/>
          <p:nvPr/>
        </p:nvCxnSpPr>
        <p:spPr>
          <a:xfrm>
            <a:off x="6286500" y="3390900"/>
            <a:ext cx="2108200" cy="0"/>
          </a:xfrm>
          <a:prstGeom prst="line">
            <a:avLst/>
          </a:prstGeom>
          <a:ln w="15240">
            <a:solidFill>
              <a:srgbClr val="CAE2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0AE87FD-3A1B-1929-1689-8C93CC73D526}"/>
              </a:ext>
            </a:extLst>
          </p:cNvPr>
          <p:cNvSpPr txBox="1"/>
          <p:nvPr/>
        </p:nvSpPr>
        <p:spPr>
          <a:xfrm>
            <a:off x="6286500" y="36449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100" b="1" dirty="0">
                <a:solidFill>
                  <a:srgbClr val="163F3C"/>
                </a:solidFill>
                <a:latin typeface="맑은 고딕" panose="020B0503020000020004" pitchFamily="50" charset="-127"/>
              </a:rPr>
              <a:t>CN </a:t>
            </a:r>
            <a:r>
              <a:rPr lang="ko-KR" altLang="en-US" sz="2100" b="1" dirty="0">
                <a:solidFill>
                  <a:srgbClr val="163F3C"/>
                </a:solidFill>
                <a:latin typeface="맑은 고딕" panose="020B0503020000020004" pitchFamily="50" charset="-127"/>
              </a:rPr>
              <a:t>기반
</a:t>
            </a:r>
            <a:r>
              <a:rPr lang="en-US" altLang="ko-KR" sz="2100" b="1" dirty="0">
                <a:solidFill>
                  <a:srgbClr val="163F3C"/>
                </a:solidFill>
                <a:latin typeface="맑은 고딕" panose="020B0503020000020004" pitchFamily="50" charset="-127"/>
              </a:rPr>
              <a:t>Ridge </a:t>
            </a:r>
            <a:r>
              <a:rPr lang="ko-KR" altLang="en-US" sz="2100" b="1" dirty="0">
                <a:solidFill>
                  <a:srgbClr val="163F3C"/>
                </a:solidFill>
                <a:latin typeface="맑은 고딕" panose="020B0503020000020004" pitchFamily="50" charset="-127"/>
              </a:rPr>
              <a:t>회귀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4ABA07-35EE-2CB5-AEA0-C749F3DA8E1E}"/>
              </a:ext>
            </a:extLst>
          </p:cNvPr>
          <p:cNvSpPr txBox="1"/>
          <p:nvPr/>
        </p:nvSpPr>
        <p:spPr>
          <a:xfrm>
            <a:off x="6286500" y="45212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50">
                <a:solidFill>
                  <a:srgbClr val="52706C"/>
                </a:solidFill>
                <a:latin typeface="맑은 고딕" panose="020B0503020000020004" pitchFamily="50" charset="-127"/>
              </a:rPr>
              <a:t>ROI 191</a:t>
            </a:r>
            <a:r>
              <a:rPr lang="ko-KR" altLang="en-US" sz="1450">
                <a:solidFill>
                  <a:srgbClr val="52706C"/>
                </a:solidFill>
                <a:latin typeface="맑은 고딕" panose="020B0503020000020004" pitchFamily="50" charset="-127"/>
              </a:rPr>
              <a:t>개 </a:t>
            </a:r>
            <a:r>
              <a:rPr lang="en-US" altLang="ko-KR" sz="1450">
                <a:solidFill>
                  <a:srgbClr val="52706C"/>
                </a:solidFill>
                <a:latin typeface="맑은 고딕" panose="020B0503020000020004" pitchFamily="50" charset="-127"/>
              </a:rPr>
              <a:t>+ </a:t>
            </a:r>
            <a:r>
              <a:rPr lang="ko-KR" altLang="en-US" sz="1450">
                <a:solidFill>
                  <a:srgbClr val="52706C"/>
                </a:solidFill>
                <a:latin typeface="맑은 고딕" panose="020B0503020000020004" pitchFamily="50" charset="-127"/>
              </a:rPr>
              <a:t>성별</a:t>
            </a:r>
            <a:r>
              <a:rPr lang="en-US" altLang="ko-KR" sz="1450">
                <a:solidFill>
                  <a:srgbClr val="52706C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450">
                <a:solidFill>
                  <a:srgbClr val="52706C"/>
                </a:solidFill>
                <a:latin typeface="맑은 고딕" panose="020B0503020000020004" pitchFamily="50" charset="-127"/>
              </a:rPr>
              <a:t>교육연수</a:t>
            </a:r>
            <a:r>
              <a:rPr lang="en-US" altLang="ko-KR" sz="1450">
                <a:solidFill>
                  <a:srgbClr val="52706C"/>
                </a:solidFill>
                <a:latin typeface="맑은 고딕" panose="020B0503020000020004" pitchFamily="50" charset="-127"/>
              </a:rPr>
              <a:t>·ICV</a:t>
            </a:r>
            <a:endParaRPr lang="ko-KR" altLang="en-US" sz="1450">
              <a:solidFill>
                <a:srgbClr val="52706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E21568E-184A-61ED-7D8B-ADF6D8119D5C}"/>
              </a:ext>
            </a:extLst>
          </p:cNvPr>
          <p:cNvSpPr txBox="1"/>
          <p:nvPr/>
        </p:nvSpPr>
        <p:spPr>
          <a:xfrm>
            <a:off x="8470900" y="3632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2000" b="1">
                <a:solidFill>
                  <a:srgbClr val="1AA79A"/>
                </a:solidFill>
                <a:latin typeface="맑은 고딕" panose="020B0503020000020004" pitchFamily="50" charset="-127"/>
              </a:rPr>
              <a:t>→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6E562E-4A85-FE9C-7314-ED8B4ABB82AD}"/>
              </a:ext>
            </a:extLst>
          </p:cNvPr>
          <p:cNvSpPr txBox="1"/>
          <p:nvPr/>
        </p:nvSpPr>
        <p:spPr>
          <a:xfrm>
            <a:off x="9017000" y="29718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b="1">
                <a:solidFill>
                  <a:srgbClr val="087069"/>
                </a:solidFill>
                <a:latin typeface="맑은 고딕" panose="020B0503020000020004" pitchFamily="50" charset="-127"/>
              </a:rPr>
              <a:t>04</a:t>
            </a:r>
            <a:endParaRPr lang="ko-KR" altLang="en-US" b="1">
              <a:solidFill>
                <a:srgbClr val="087069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02D01FF5-F3EB-4BC6-10AD-7B4C21250E58}"/>
              </a:ext>
            </a:extLst>
          </p:cNvPr>
          <p:cNvCxnSpPr/>
          <p:nvPr/>
        </p:nvCxnSpPr>
        <p:spPr>
          <a:xfrm>
            <a:off x="9017000" y="3390900"/>
            <a:ext cx="2108200" cy="0"/>
          </a:xfrm>
          <a:prstGeom prst="line">
            <a:avLst/>
          </a:prstGeom>
          <a:ln w="15240">
            <a:solidFill>
              <a:srgbClr val="CAE2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C321B36-9BCD-1C0D-A786-5BA55C14F47B}"/>
              </a:ext>
            </a:extLst>
          </p:cNvPr>
          <p:cNvSpPr txBox="1"/>
          <p:nvPr/>
        </p:nvSpPr>
        <p:spPr>
          <a:xfrm>
            <a:off x="9017000" y="36449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100" b="1" dirty="0">
                <a:solidFill>
                  <a:srgbClr val="163F3C"/>
                </a:solidFill>
                <a:latin typeface="맑은 고딕" panose="020B0503020000020004" pitchFamily="50" charset="-127"/>
              </a:rPr>
              <a:t>나이 편향 보정
</a:t>
            </a:r>
            <a:r>
              <a:rPr lang="en-US" altLang="ko-KR" sz="2100" b="1" dirty="0">
                <a:solidFill>
                  <a:srgbClr val="163F3C"/>
                </a:solidFill>
                <a:latin typeface="맑은 고딕" panose="020B0503020000020004" pitchFamily="50" charset="-127"/>
              </a:rPr>
              <a:t>BAG </a:t>
            </a:r>
            <a:r>
              <a:rPr lang="ko-KR" altLang="en-US" sz="2100" b="1" dirty="0">
                <a:solidFill>
                  <a:srgbClr val="163F3C"/>
                </a:solidFill>
                <a:latin typeface="맑은 고딕" panose="020B0503020000020004" pitchFamily="50" charset="-127"/>
              </a:rPr>
              <a:t>산출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9783485-3F43-E261-DBA6-F29A87CC796D}"/>
              </a:ext>
            </a:extLst>
          </p:cNvPr>
          <p:cNvSpPr txBox="1"/>
          <p:nvPr/>
        </p:nvSpPr>
        <p:spPr>
          <a:xfrm>
            <a:off x="9017000" y="45212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450">
                <a:solidFill>
                  <a:srgbClr val="52706C"/>
                </a:solidFill>
                <a:latin typeface="맑은 고딕" panose="020B0503020000020004" pitchFamily="50" charset="-127"/>
              </a:rPr>
              <a:t>검증 </a:t>
            </a:r>
            <a:r>
              <a:rPr lang="en-US" altLang="ko-KR" sz="1450">
                <a:solidFill>
                  <a:srgbClr val="52706C"/>
                </a:solidFill>
                <a:latin typeface="맑은 고딕" panose="020B0503020000020004" pitchFamily="50" charset="-127"/>
              </a:rPr>
              <a:t>CN </a:t>
            </a:r>
            <a:r>
              <a:rPr lang="ko-KR" altLang="en-US" sz="1450">
                <a:solidFill>
                  <a:srgbClr val="52706C"/>
                </a:solidFill>
                <a:latin typeface="맑은 고딕" panose="020B0503020000020004" pitchFamily="50" charset="-127"/>
              </a:rPr>
              <a:t>기준 보정 후 집단 비교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BADA66-A93F-C6DB-073E-1BE556D271DB}"/>
              </a:ext>
            </a:extLst>
          </p:cNvPr>
          <p:cNvSpPr txBox="1"/>
          <p:nvPr/>
        </p:nvSpPr>
        <p:spPr>
          <a:xfrm>
            <a:off x="609600" y="57404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endParaRPr lang="ko-KR" altLang="en-US" sz="1500" dirty="0">
              <a:solidFill>
                <a:srgbClr val="52706C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0228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CAB49-D131-3B5A-91BC-95F26AC11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92C5669F-50E6-8848-71C5-0DA68710D773}"/>
              </a:ext>
            </a:extLst>
          </p:cNvPr>
          <p:cNvSpPr/>
          <p:nvPr/>
        </p:nvSpPr>
        <p:spPr>
          <a:xfrm>
            <a:off x="3886200" y="1143000"/>
            <a:ext cx="4434840" cy="4434840"/>
          </a:xfrm>
          <a:prstGeom prst="rect">
            <a:avLst/>
          </a:prstGeom>
          <a:blipFill dpi="0" rotWithShape="1">
            <a:blip r:embed="rId2">
              <a:alphaModFix amt="5000"/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CDFCC5-BB86-FD5C-DEEF-ABDA6B4F611D}"/>
              </a:ext>
            </a:extLst>
          </p:cNvPr>
          <p:cNvSpPr txBox="1"/>
          <p:nvPr/>
        </p:nvSpPr>
        <p:spPr>
          <a:xfrm>
            <a:off x="609600" y="5334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087069"/>
                </a:solidFill>
                <a:latin typeface="맑은 고딕" panose="020B0503020000020004" pitchFamily="50" charset="-127"/>
              </a:rPr>
              <a:t>모델 선택 근거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AEF781-8972-CD6B-76E3-B0CE6F83DD9F}"/>
              </a:ext>
            </a:extLst>
          </p:cNvPr>
          <p:cNvSpPr txBox="1"/>
          <p:nvPr/>
        </p:nvSpPr>
        <p:spPr>
          <a:xfrm>
            <a:off x="609600" y="8382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3000" b="1">
                <a:solidFill>
                  <a:srgbClr val="163F3C"/>
                </a:solidFill>
                <a:latin typeface="맑은 고딕" panose="020B0503020000020004" pitchFamily="50" charset="-127"/>
              </a:rPr>
              <a:t>왜 </a:t>
            </a:r>
            <a:r>
              <a:rPr lang="en-US" altLang="ko-KR" sz="3000" b="1">
                <a:solidFill>
                  <a:srgbClr val="163F3C"/>
                </a:solidFill>
                <a:latin typeface="맑은 고딕" panose="020B0503020000020004" pitchFamily="50" charset="-127"/>
              </a:rPr>
              <a:t>Ridge </a:t>
            </a:r>
            <a:r>
              <a:rPr lang="ko-KR" altLang="en-US" sz="3000" b="1">
                <a:solidFill>
                  <a:srgbClr val="163F3C"/>
                </a:solidFill>
                <a:latin typeface="맑은 고딕" panose="020B0503020000020004" pitchFamily="50" charset="-127"/>
              </a:rPr>
              <a:t>회귀를 선택했나</a:t>
            </a:r>
            <a:r>
              <a:rPr lang="en-US" altLang="ko-KR" sz="3000" b="1">
                <a:solidFill>
                  <a:srgbClr val="163F3C"/>
                </a:solidFill>
                <a:latin typeface="맑은 고딕" panose="020B0503020000020004" pitchFamily="50" charset="-127"/>
              </a:rPr>
              <a:t>?</a:t>
            </a:r>
            <a:endParaRPr lang="ko-KR" altLang="en-US" sz="3000" b="1">
              <a:solidFill>
                <a:srgbClr val="163F3C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9A303D0-84F7-547E-66F8-98E7FCF696DD}"/>
              </a:ext>
            </a:extLst>
          </p:cNvPr>
          <p:cNvCxnSpPr/>
          <p:nvPr/>
        </p:nvCxnSpPr>
        <p:spPr>
          <a:xfrm>
            <a:off x="609600" y="1536700"/>
            <a:ext cx="1295400" cy="0"/>
          </a:xfrm>
          <a:prstGeom prst="line">
            <a:avLst/>
          </a:prstGeom>
          <a:ln w="25400">
            <a:solidFill>
              <a:srgbClr val="0870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BB49A63-3E3D-1ED5-2467-AC5B3D8705FA}"/>
              </a:ext>
            </a:extLst>
          </p:cNvPr>
          <p:cNvCxnSpPr/>
          <p:nvPr/>
        </p:nvCxnSpPr>
        <p:spPr>
          <a:xfrm>
            <a:off x="609600" y="6388100"/>
            <a:ext cx="10972800" cy="0"/>
          </a:xfrm>
          <a:prstGeom prst="line">
            <a:avLst/>
          </a:prstGeom>
          <a:ln w="10160">
            <a:solidFill>
              <a:srgbClr val="CAE2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9116F50-79A2-80A6-6E17-43A54EA70BDE}"/>
              </a:ext>
            </a:extLst>
          </p:cNvPr>
          <p:cNvSpPr txBox="1"/>
          <p:nvPr/>
        </p:nvSpPr>
        <p:spPr>
          <a:xfrm>
            <a:off x="609600" y="65278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950" dirty="0">
                <a:solidFill>
                  <a:srgbClr val="52706C"/>
                </a:solidFill>
                <a:latin typeface="맑은 고딕" panose="020B0503020000020004" pitchFamily="50" charset="-127"/>
              </a:rPr>
              <a:t>ADNI </a:t>
            </a:r>
            <a:r>
              <a:rPr lang="ko-KR" altLang="en-US" sz="950" dirty="0">
                <a:solidFill>
                  <a:srgbClr val="52706C"/>
                </a:solidFill>
                <a:latin typeface="맑은 고딕" panose="020B0503020000020004" pitchFamily="50" charset="-127"/>
              </a:rPr>
              <a:t>기반 뇌 연령 </a:t>
            </a:r>
            <a:r>
              <a:rPr lang="en-US" altLang="ko-KR" sz="950" dirty="0">
                <a:solidFill>
                  <a:srgbClr val="52706C"/>
                </a:solidFill>
                <a:latin typeface="맑은 고딕" panose="020B0503020000020004" pitchFamily="50" charset="-127"/>
              </a:rPr>
              <a:t>BAG </a:t>
            </a:r>
            <a:r>
              <a:rPr lang="ko-KR" altLang="en-US" sz="950" dirty="0">
                <a:solidFill>
                  <a:srgbClr val="52706C"/>
                </a:solidFill>
                <a:latin typeface="맑은 고딕" panose="020B0503020000020004" pitchFamily="50" charset="-127"/>
              </a:rPr>
              <a:t>분석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419918-9933-F658-C943-7C0C4D0E8E2A}"/>
              </a:ext>
            </a:extLst>
          </p:cNvPr>
          <p:cNvSpPr txBox="1"/>
          <p:nvPr/>
        </p:nvSpPr>
        <p:spPr>
          <a:xfrm>
            <a:off x="10604500" y="6527800"/>
            <a:ext cx="977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52706C"/>
                </a:solidFill>
                <a:latin typeface="Malgun Gothic" panose="020B0503020000020004" pitchFamily="50" charset="-127"/>
              </a:rPr>
              <a:t>7 / 17</a:t>
            </a:r>
            <a:endParaRPr lang="ko-KR" altLang="en-US" sz="950">
              <a:solidFill>
                <a:srgbClr val="52706C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AC45EE-EE16-77D1-B099-FAFD7192716F}"/>
              </a:ext>
            </a:extLst>
          </p:cNvPr>
          <p:cNvSpPr txBox="1"/>
          <p:nvPr/>
        </p:nvSpPr>
        <p:spPr>
          <a:xfrm>
            <a:off x="609600" y="1905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>
                <a:solidFill>
                  <a:srgbClr val="163F3C"/>
                </a:solidFill>
                <a:latin typeface="맑은 고딕" panose="020B0503020000020004" pitchFamily="50" charset="-127"/>
              </a:rPr>
              <a:t>194</a:t>
            </a:r>
            <a:r>
              <a:rPr lang="ko-KR" altLang="en-US">
                <a:solidFill>
                  <a:srgbClr val="163F3C"/>
                </a:solidFill>
                <a:latin typeface="맑은 고딕" panose="020B0503020000020004" pitchFamily="50" charset="-127"/>
              </a:rPr>
              <a:t>개의 서로 연관된 뇌 구조 지표를 함께 쓰되</a:t>
            </a:r>
            <a:r>
              <a:rPr lang="en-US" altLang="ko-KR">
                <a:solidFill>
                  <a:srgbClr val="163F3C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>
                <a:solidFill>
                  <a:srgbClr val="163F3C"/>
                </a:solidFill>
                <a:latin typeface="맑은 고딕" panose="020B0503020000020004" pitchFamily="50" charset="-127"/>
              </a:rPr>
              <a:t>과도한 가중치는 줄여 안정적인 예측을 만듭니다</a:t>
            </a:r>
            <a:r>
              <a:rPr lang="en-US" altLang="ko-KR">
                <a:solidFill>
                  <a:srgbClr val="163F3C"/>
                </a:solidFill>
                <a:latin typeface="맑은 고딕" panose="020B0503020000020004" pitchFamily="50" charset="-127"/>
              </a:rPr>
              <a:t>.</a:t>
            </a:r>
            <a:endParaRPr lang="ko-KR" altLang="en-US">
              <a:solidFill>
                <a:srgbClr val="163F3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1ECC58-C50A-8EB6-23BE-ABCF3A903A2C}"/>
              </a:ext>
            </a:extLst>
          </p:cNvPr>
          <p:cNvSpPr txBox="1"/>
          <p:nvPr/>
        </p:nvSpPr>
        <p:spPr>
          <a:xfrm>
            <a:off x="825500" y="29718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b="1">
                <a:solidFill>
                  <a:srgbClr val="087069"/>
                </a:solidFill>
                <a:latin typeface="맑은 고딕" panose="020B0503020000020004" pitchFamily="50" charset="-127"/>
              </a:rPr>
              <a:t>01</a:t>
            </a:r>
            <a:endParaRPr lang="ko-KR" altLang="en-US" b="1">
              <a:solidFill>
                <a:srgbClr val="087069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9AD064CB-800E-9E50-3B22-9C17CFD8BC61}"/>
              </a:ext>
            </a:extLst>
          </p:cNvPr>
          <p:cNvCxnSpPr/>
          <p:nvPr/>
        </p:nvCxnSpPr>
        <p:spPr>
          <a:xfrm>
            <a:off x="825500" y="3390900"/>
            <a:ext cx="2108200" cy="0"/>
          </a:xfrm>
          <a:prstGeom prst="line">
            <a:avLst/>
          </a:prstGeom>
          <a:ln w="15240">
            <a:solidFill>
              <a:srgbClr val="CAE2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4851F17-77FF-4935-2558-150311D04E1D}"/>
              </a:ext>
            </a:extLst>
          </p:cNvPr>
          <p:cNvSpPr txBox="1"/>
          <p:nvPr/>
        </p:nvSpPr>
        <p:spPr>
          <a:xfrm>
            <a:off x="825500" y="36449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100" b="1">
                <a:solidFill>
                  <a:srgbClr val="163F3C"/>
                </a:solidFill>
                <a:latin typeface="맑은 고딕" panose="020B0503020000020004" pitchFamily="50" charset="-127"/>
              </a:rPr>
              <a:t>상관된 </a:t>
            </a:r>
            <a:r>
              <a:rPr lang="en-US" altLang="ko-KR" sz="2100" b="1">
                <a:solidFill>
                  <a:srgbClr val="163F3C"/>
                </a:solidFill>
                <a:latin typeface="맑은 고딕" panose="020B0503020000020004" pitchFamily="50" charset="-127"/>
              </a:rPr>
              <a:t>ROI</a:t>
            </a:r>
            <a:r>
              <a:rPr lang="ko-KR" altLang="en-US" sz="2100" b="1">
                <a:solidFill>
                  <a:srgbClr val="163F3C"/>
                </a:solidFill>
                <a:latin typeface="맑은 고딕" panose="020B0503020000020004" pitchFamily="50" charset="-127"/>
              </a:rPr>
              <a:t>에도 안정적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E1C982-F5DA-4DC2-0CC3-69365DACE422}"/>
              </a:ext>
            </a:extLst>
          </p:cNvPr>
          <p:cNvSpPr txBox="1"/>
          <p:nvPr/>
        </p:nvSpPr>
        <p:spPr>
          <a:xfrm>
            <a:off x="825500" y="45212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450">
                <a:solidFill>
                  <a:srgbClr val="52706C"/>
                </a:solidFill>
                <a:latin typeface="맑은 고딕" panose="020B0503020000020004" pitchFamily="50" charset="-127"/>
              </a:rPr>
              <a:t>좌</a:t>
            </a:r>
            <a:r>
              <a:rPr lang="en-US" altLang="ko-KR" sz="1450">
                <a:solidFill>
                  <a:srgbClr val="52706C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450">
                <a:solidFill>
                  <a:srgbClr val="52706C"/>
                </a:solidFill>
                <a:latin typeface="맑은 고딕" panose="020B0503020000020004" pitchFamily="50" charset="-127"/>
              </a:rPr>
              <a:t>우</a:t>
            </a:r>
            <a:r>
              <a:rPr lang="en-US" altLang="ko-KR" sz="1450">
                <a:solidFill>
                  <a:srgbClr val="52706C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450">
                <a:solidFill>
                  <a:srgbClr val="52706C"/>
                </a:solidFill>
                <a:latin typeface="맑은 고딕" panose="020B0503020000020004" pitchFamily="50" charset="-127"/>
              </a:rPr>
              <a:t>인접 </a:t>
            </a:r>
            <a:r>
              <a:rPr lang="en-US" altLang="ko-KR" sz="1450">
                <a:solidFill>
                  <a:srgbClr val="52706C"/>
                </a:solidFill>
                <a:latin typeface="맑은 고딕" panose="020B0503020000020004" pitchFamily="50" charset="-127"/>
              </a:rPr>
              <a:t>ROI</a:t>
            </a:r>
            <a:r>
              <a:rPr lang="ko-KR" altLang="en-US" sz="1450">
                <a:solidFill>
                  <a:srgbClr val="52706C"/>
                </a:solidFill>
                <a:latin typeface="맑은 고딕" panose="020B0503020000020004" pitchFamily="50" charset="-127"/>
              </a:rPr>
              <a:t>는 함께 변합니다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037A42-4C93-4548-2098-477AF2D69220}"/>
              </a:ext>
            </a:extLst>
          </p:cNvPr>
          <p:cNvSpPr txBox="1"/>
          <p:nvPr/>
        </p:nvSpPr>
        <p:spPr>
          <a:xfrm>
            <a:off x="3009900" y="3632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2000" b="1">
                <a:solidFill>
                  <a:srgbClr val="1AA79A"/>
                </a:solidFill>
                <a:latin typeface="맑은 고딕" panose="020B0503020000020004" pitchFamily="50" charset="-127"/>
              </a:rPr>
              <a:t>→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9EF638-4DA6-1632-9FE5-C9F0F47F32E5}"/>
              </a:ext>
            </a:extLst>
          </p:cNvPr>
          <p:cNvSpPr txBox="1"/>
          <p:nvPr/>
        </p:nvSpPr>
        <p:spPr>
          <a:xfrm>
            <a:off x="3556000" y="29718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b="1">
                <a:solidFill>
                  <a:srgbClr val="087069"/>
                </a:solidFill>
                <a:latin typeface="맑은 고딕" panose="020B0503020000020004" pitchFamily="50" charset="-127"/>
              </a:rPr>
              <a:t>02</a:t>
            </a:r>
            <a:endParaRPr lang="ko-KR" altLang="en-US" b="1">
              <a:solidFill>
                <a:srgbClr val="087069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AD4E190-851C-C3BB-E7A2-B701EE364FF4}"/>
              </a:ext>
            </a:extLst>
          </p:cNvPr>
          <p:cNvCxnSpPr/>
          <p:nvPr/>
        </p:nvCxnSpPr>
        <p:spPr>
          <a:xfrm>
            <a:off x="3556000" y="3390900"/>
            <a:ext cx="2108200" cy="0"/>
          </a:xfrm>
          <a:prstGeom prst="line">
            <a:avLst/>
          </a:prstGeom>
          <a:ln w="15240">
            <a:solidFill>
              <a:srgbClr val="CAE2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12D05CA-3F12-F74D-8C23-4827334ABFE7}"/>
              </a:ext>
            </a:extLst>
          </p:cNvPr>
          <p:cNvSpPr txBox="1"/>
          <p:nvPr/>
        </p:nvSpPr>
        <p:spPr>
          <a:xfrm>
            <a:off x="3556000" y="36449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100" b="1">
                <a:solidFill>
                  <a:srgbClr val="163F3C"/>
                </a:solidFill>
                <a:latin typeface="맑은 고딕" panose="020B0503020000020004" pitchFamily="50" charset="-127"/>
              </a:rPr>
              <a:t>모든 </a:t>
            </a:r>
            <a:r>
              <a:rPr lang="en-US" altLang="ko-KR" sz="2100" b="1">
                <a:solidFill>
                  <a:srgbClr val="163F3C"/>
                </a:solidFill>
                <a:latin typeface="맑은 고딕" panose="020B0503020000020004" pitchFamily="50" charset="-127"/>
              </a:rPr>
              <a:t>ROI </a:t>
            </a:r>
            <a:r>
              <a:rPr lang="ko-KR" altLang="en-US" sz="2100" b="1">
                <a:solidFill>
                  <a:srgbClr val="163F3C"/>
                </a:solidFill>
                <a:latin typeface="맑은 고딕" panose="020B0503020000020004" pitchFamily="50" charset="-127"/>
              </a:rPr>
              <a:t>가중치 유지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E9A571-370F-F44B-BD83-6813557B5E4E}"/>
              </a:ext>
            </a:extLst>
          </p:cNvPr>
          <p:cNvSpPr txBox="1"/>
          <p:nvPr/>
        </p:nvSpPr>
        <p:spPr>
          <a:xfrm>
            <a:off x="3556000" y="45212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50">
                <a:solidFill>
                  <a:srgbClr val="52706C"/>
                </a:solidFill>
                <a:latin typeface="맑은 고딕" panose="020B0503020000020004" pitchFamily="50" charset="-127"/>
              </a:rPr>
              <a:t>Lasso: 194</a:t>
            </a:r>
            <a:r>
              <a:rPr lang="ko-KR" altLang="en-US" sz="1450">
                <a:solidFill>
                  <a:srgbClr val="52706C"/>
                </a:solidFill>
                <a:latin typeface="맑은 고딕" panose="020B0503020000020004" pitchFamily="50" charset="-127"/>
              </a:rPr>
              <a:t>개 중 </a:t>
            </a:r>
            <a:r>
              <a:rPr lang="en-US" altLang="ko-KR" sz="1450">
                <a:solidFill>
                  <a:srgbClr val="52706C"/>
                </a:solidFill>
                <a:latin typeface="맑은 고딕" panose="020B0503020000020004" pitchFamily="50" charset="-127"/>
              </a:rPr>
              <a:t>58</a:t>
            </a:r>
            <a:r>
              <a:rPr lang="ko-KR" altLang="en-US" sz="1450">
                <a:solidFill>
                  <a:srgbClr val="52706C"/>
                </a:solidFill>
                <a:latin typeface="맑은 고딕" panose="020B0503020000020004" pitchFamily="50" charset="-127"/>
              </a:rPr>
              <a:t>개만 유지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EFA230-6F42-7CC9-1007-15659BBBADDF}"/>
              </a:ext>
            </a:extLst>
          </p:cNvPr>
          <p:cNvSpPr txBox="1"/>
          <p:nvPr/>
        </p:nvSpPr>
        <p:spPr>
          <a:xfrm>
            <a:off x="5740400" y="3632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2000" b="1">
                <a:solidFill>
                  <a:srgbClr val="1AA79A"/>
                </a:solidFill>
                <a:latin typeface="맑은 고딕" panose="020B0503020000020004" pitchFamily="50" charset="-127"/>
              </a:rPr>
              <a:t>→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F58D33-EBD9-6D92-746A-ECD56AA2F46D}"/>
              </a:ext>
            </a:extLst>
          </p:cNvPr>
          <p:cNvSpPr txBox="1"/>
          <p:nvPr/>
        </p:nvSpPr>
        <p:spPr>
          <a:xfrm>
            <a:off x="6286500" y="29718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b="1">
                <a:solidFill>
                  <a:srgbClr val="087069"/>
                </a:solidFill>
                <a:latin typeface="맑은 고딕" panose="020B0503020000020004" pitchFamily="50" charset="-127"/>
              </a:rPr>
              <a:t>03</a:t>
            </a:r>
            <a:endParaRPr lang="ko-KR" altLang="en-US" b="1">
              <a:solidFill>
                <a:srgbClr val="087069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4F208FD3-F262-8563-3978-C71532A5DD91}"/>
              </a:ext>
            </a:extLst>
          </p:cNvPr>
          <p:cNvCxnSpPr/>
          <p:nvPr/>
        </p:nvCxnSpPr>
        <p:spPr>
          <a:xfrm>
            <a:off x="6286500" y="3390900"/>
            <a:ext cx="2108200" cy="0"/>
          </a:xfrm>
          <a:prstGeom prst="line">
            <a:avLst/>
          </a:prstGeom>
          <a:ln w="15240">
            <a:solidFill>
              <a:srgbClr val="CAE2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1DDE0AB-BB80-6C13-3D7B-2622645B83AF}"/>
              </a:ext>
            </a:extLst>
          </p:cNvPr>
          <p:cNvSpPr txBox="1"/>
          <p:nvPr/>
        </p:nvSpPr>
        <p:spPr>
          <a:xfrm>
            <a:off x="6286500" y="36449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100" b="1">
                <a:solidFill>
                  <a:srgbClr val="163F3C"/>
                </a:solidFill>
                <a:latin typeface="맑은 고딕" panose="020B0503020000020004" pitchFamily="50" charset="-127"/>
              </a:rPr>
              <a:t>성능 차이는 매우 작음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220514-B982-1712-E8E4-0C35BBD46EC4}"/>
              </a:ext>
            </a:extLst>
          </p:cNvPr>
          <p:cNvSpPr txBox="1"/>
          <p:nvPr/>
        </p:nvSpPr>
        <p:spPr>
          <a:xfrm>
            <a:off x="6286500" y="45212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50">
                <a:solidFill>
                  <a:srgbClr val="52706C"/>
                </a:solidFill>
                <a:latin typeface="맑은 고딕" panose="020B0503020000020004" pitchFamily="50" charset="-127"/>
              </a:rPr>
              <a:t>Lasso</a:t>
            </a:r>
            <a:r>
              <a:rPr lang="ko-KR" altLang="en-US" sz="1450">
                <a:solidFill>
                  <a:srgbClr val="52706C"/>
                </a:solidFill>
                <a:latin typeface="맑은 고딕" panose="020B0503020000020004" pitchFamily="50" charset="-127"/>
              </a:rPr>
              <a:t>와 검증 </a:t>
            </a:r>
            <a:r>
              <a:rPr lang="en-US" altLang="ko-KR" sz="1450">
                <a:solidFill>
                  <a:srgbClr val="52706C"/>
                </a:solidFill>
                <a:latin typeface="맑은 고딕" panose="020B0503020000020004" pitchFamily="50" charset="-127"/>
              </a:rPr>
              <a:t>MAE </a:t>
            </a:r>
            <a:r>
              <a:rPr lang="ko-KR" altLang="en-US" sz="1450">
                <a:solidFill>
                  <a:srgbClr val="52706C"/>
                </a:solidFill>
                <a:latin typeface="맑은 고딕" panose="020B0503020000020004" pitchFamily="50" charset="-127"/>
              </a:rPr>
              <a:t>차이 </a:t>
            </a:r>
            <a:r>
              <a:rPr lang="en-US" altLang="ko-KR" sz="1450">
                <a:solidFill>
                  <a:srgbClr val="52706C"/>
                </a:solidFill>
                <a:latin typeface="맑은 고딕" panose="020B0503020000020004" pitchFamily="50" charset="-127"/>
              </a:rPr>
              <a:t>0.023</a:t>
            </a:r>
            <a:r>
              <a:rPr lang="ko-KR" altLang="en-US" sz="1450">
                <a:solidFill>
                  <a:srgbClr val="52706C"/>
                </a:solidFill>
                <a:latin typeface="맑은 고딕" panose="020B0503020000020004" pitchFamily="50" charset="-127"/>
              </a:rPr>
              <a:t>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C2B19E-CB38-1DF6-91EF-15BC1A5F6BC4}"/>
              </a:ext>
            </a:extLst>
          </p:cNvPr>
          <p:cNvSpPr txBox="1"/>
          <p:nvPr/>
        </p:nvSpPr>
        <p:spPr>
          <a:xfrm>
            <a:off x="8470900" y="3632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2000" b="1">
                <a:solidFill>
                  <a:srgbClr val="1AA79A"/>
                </a:solidFill>
                <a:latin typeface="맑은 고딕" panose="020B0503020000020004" pitchFamily="50" charset="-127"/>
              </a:rPr>
              <a:t>→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FB4606-5D82-CF25-544A-1C99B1DD78AC}"/>
              </a:ext>
            </a:extLst>
          </p:cNvPr>
          <p:cNvSpPr txBox="1"/>
          <p:nvPr/>
        </p:nvSpPr>
        <p:spPr>
          <a:xfrm>
            <a:off x="9017000" y="29718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b="1">
                <a:solidFill>
                  <a:srgbClr val="087069"/>
                </a:solidFill>
                <a:latin typeface="맑은 고딕" panose="020B0503020000020004" pitchFamily="50" charset="-127"/>
              </a:rPr>
              <a:t>04</a:t>
            </a:r>
            <a:endParaRPr lang="ko-KR" altLang="en-US" b="1">
              <a:solidFill>
                <a:srgbClr val="087069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0662C2BB-A418-8015-9CBB-DDC3B195CB9D}"/>
              </a:ext>
            </a:extLst>
          </p:cNvPr>
          <p:cNvCxnSpPr/>
          <p:nvPr/>
        </p:nvCxnSpPr>
        <p:spPr>
          <a:xfrm>
            <a:off x="9017000" y="3390900"/>
            <a:ext cx="2108200" cy="0"/>
          </a:xfrm>
          <a:prstGeom prst="line">
            <a:avLst/>
          </a:prstGeom>
          <a:ln w="15240">
            <a:solidFill>
              <a:srgbClr val="CAE2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2B2C537-F98D-7850-60A0-BFC9D0FC4947}"/>
              </a:ext>
            </a:extLst>
          </p:cNvPr>
          <p:cNvSpPr txBox="1"/>
          <p:nvPr/>
        </p:nvSpPr>
        <p:spPr>
          <a:xfrm>
            <a:off x="9017000" y="36449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100" b="1">
                <a:solidFill>
                  <a:srgbClr val="163F3C"/>
                </a:solidFill>
                <a:latin typeface="맑은 고딕" panose="020B0503020000020004" pitchFamily="50" charset="-127"/>
              </a:rPr>
              <a:t>3D </a:t>
            </a:r>
            <a:r>
              <a:rPr lang="ko-KR" altLang="en-US" sz="2100" b="1">
                <a:solidFill>
                  <a:srgbClr val="163F3C"/>
                </a:solidFill>
                <a:latin typeface="맑은 고딕" panose="020B0503020000020004" pitchFamily="50" charset="-127"/>
              </a:rPr>
              <a:t>지도에 바로 연결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6323B6-A849-C77C-A9B5-795114CF2763}"/>
              </a:ext>
            </a:extLst>
          </p:cNvPr>
          <p:cNvSpPr txBox="1"/>
          <p:nvPr/>
        </p:nvSpPr>
        <p:spPr>
          <a:xfrm>
            <a:off x="9017000" y="45212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450">
                <a:solidFill>
                  <a:srgbClr val="52706C"/>
                </a:solidFill>
                <a:latin typeface="맑은 고딕" panose="020B0503020000020004" pitchFamily="50" charset="-127"/>
              </a:rPr>
              <a:t>모든 부위의 표준화 가중치를 </a:t>
            </a:r>
            <a:r>
              <a:rPr lang="en-US" altLang="ko-KR" sz="1450">
                <a:solidFill>
                  <a:srgbClr val="52706C"/>
                </a:solidFill>
                <a:latin typeface="맑은 고딕" panose="020B0503020000020004" pitchFamily="50" charset="-127"/>
              </a:rPr>
              <a:t>3D </a:t>
            </a:r>
            <a:r>
              <a:rPr lang="ko-KR" altLang="en-US" sz="1450">
                <a:solidFill>
                  <a:srgbClr val="52706C"/>
                </a:solidFill>
                <a:latin typeface="맑은 고딕" panose="020B0503020000020004" pitchFamily="50" charset="-127"/>
              </a:rPr>
              <a:t>색상으로 연결합니다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D071C2-62BD-4178-2940-6B369D32670C}"/>
              </a:ext>
            </a:extLst>
          </p:cNvPr>
          <p:cNvSpPr txBox="1"/>
          <p:nvPr/>
        </p:nvSpPr>
        <p:spPr>
          <a:xfrm>
            <a:off x="609600" y="57404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endParaRPr lang="ko-KR" altLang="en-US" sz="1500" dirty="0">
              <a:solidFill>
                <a:srgbClr val="52706C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38743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E115-D8B6-DE22-C87C-1FA75B4B0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C6BE1861-C2FD-6ACF-E43D-26514F63983C}"/>
              </a:ext>
            </a:extLst>
          </p:cNvPr>
          <p:cNvSpPr/>
          <p:nvPr/>
        </p:nvSpPr>
        <p:spPr>
          <a:xfrm>
            <a:off x="3886200" y="1143000"/>
            <a:ext cx="4434840" cy="4434840"/>
          </a:xfrm>
          <a:prstGeom prst="rect">
            <a:avLst/>
          </a:prstGeom>
          <a:blipFill dpi="0" rotWithShape="1">
            <a:blip r:embed="rId2">
              <a:alphaModFix amt="5000"/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793746-5D95-EB6C-26D7-E02236C6650D}"/>
              </a:ext>
            </a:extLst>
          </p:cNvPr>
          <p:cNvSpPr txBox="1"/>
          <p:nvPr/>
        </p:nvSpPr>
        <p:spPr>
          <a:xfrm>
            <a:off x="609600" y="5334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087069"/>
                </a:solidFill>
                <a:latin typeface="맑은 고딕" panose="020B0503020000020004" pitchFamily="50" charset="-127"/>
              </a:rPr>
              <a:t>핵심 예측 지표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653345-58F9-A570-AEB3-74141C3788A8}"/>
              </a:ext>
            </a:extLst>
          </p:cNvPr>
          <p:cNvSpPr txBox="1"/>
          <p:nvPr/>
        </p:nvSpPr>
        <p:spPr>
          <a:xfrm>
            <a:off x="609600" y="8382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3000" b="1">
                <a:solidFill>
                  <a:srgbClr val="163F3C"/>
                </a:solidFill>
                <a:latin typeface="맑은 고딕" panose="020B0503020000020004" pitchFamily="50" charset="-127"/>
              </a:rPr>
              <a:t>하나의 지표가 아니라</a:t>
            </a:r>
            <a:r>
              <a:rPr lang="en-US" altLang="ko-KR" sz="3000" b="1">
                <a:solidFill>
                  <a:srgbClr val="163F3C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3000" b="1">
                <a:solidFill>
                  <a:srgbClr val="163F3C"/>
                </a:solidFill>
                <a:latin typeface="맑은 고딕" panose="020B0503020000020004" pitchFamily="50" charset="-127"/>
              </a:rPr>
              <a:t>여러 구조 지표를 함께 읽습니다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9B59C5F-4BCD-B0FF-B1AF-CD3382FFA403}"/>
              </a:ext>
            </a:extLst>
          </p:cNvPr>
          <p:cNvCxnSpPr/>
          <p:nvPr/>
        </p:nvCxnSpPr>
        <p:spPr>
          <a:xfrm>
            <a:off x="609600" y="1536700"/>
            <a:ext cx="1295400" cy="0"/>
          </a:xfrm>
          <a:prstGeom prst="line">
            <a:avLst/>
          </a:prstGeom>
          <a:ln w="25400">
            <a:solidFill>
              <a:srgbClr val="0870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A37BCF5-BD02-F2CC-5242-6B8E65586422}"/>
              </a:ext>
            </a:extLst>
          </p:cNvPr>
          <p:cNvCxnSpPr/>
          <p:nvPr/>
        </p:nvCxnSpPr>
        <p:spPr>
          <a:xfrm>
            <a:off x="609600" y="6388100"/>
            <a:ext cx="10972800" cy="0"/>
          </a:xfrm>
          <a:prstGeom prst="line">
            <a:avLst/>
          </a:prstGeom>
          <a:ln w="10160">
            <a:solidFill>
              <a:srgbClr val="CAE2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88E0E1E-622A-BC8B-E67B-7CC648C13178}"/>
              </a:ext>
            </a:extLst>
          </p:cNvPr>
          <p:cNvSpPr txBox="1"/>
          <p:nvPr/>
        </p:nvSpPr>
        <p:spPr>
          <a:xfrm>
            <a:off x="609600" y="65278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950" dirty="0">
                <a:solidFill>
                  <a:srgbClr val="52706C"/>
                </a:solidFill>
                <a:latin typeface="맑은 고딕" panose="020B0503020000020004" pitchFamily="50" charset="-127"/>
              </a:rPr>
              <a:t>ADNI </a:t>
            </a:r>
            <a:r>
              <a:rPr lang="ko-KR" altLang="en-US" sz="950" dirty="0">
                <a:solidFill>
                  <a:srgbClr val="52706C"/>
                </a:solidFill>
                <a:latin typeface="맑은 고딕" panose="020B0503020000020004" pitchFamily="50" charset="-127"/>
              </a:rPr>
              <a:t>기반 뇌 연령 </a:t>
            </a:r>
            <a:r>
              <a:rPr lang="en-US" altLang="ko-KR" sz="950" dirty="0">
                <a:solidFill>
                  <a:srgbClr val="52706C"/>
                </a:solidFill>
                <a:latin typeface="맑은 고딕" panose="020B0503020000020004" pitchFamily="50" charset="-127"/>
              </a:rPr>
              <a:t>BAG </a:t>
            </a:r>
            <a:r>
              <a:rPr lang="ko-KR" altLang="en-US" sz="950" dirty="0">
                <a:solidFill>
                  <a:srgbClr val="52706C"/>
                </a:solidFill>
                <a:latin typeface="맑은 고딕" panose="020B0503020000020004" pitchFamily="50" charset="-127"/>
              </a:rPr>
              <a:t>분석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1B321B-8B13-E46A-D811-A063B61CED0B}"/>
              </a:ext>
            </a:extLst>
          </p:cNvPr>
          <p:cNvSpPr txBox="1"/>
          <p:nvPr/>
        </p:nvSpPr>
        <p:spPr>
          <a:xfrm>
            <a:off x="10604500" y="6527800"/>
            <a:ext cx="977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52706C"/>
                </a:solidFill>
                <a:latin typeface="Malgun Gothic" panose="020B0503020000020004" pitchFamily="50" charset="-127"/>
              </a:rPr>
              <a:t>8 / 17</a:t>
            </a:r>
            <a:endParaRPr lang="ko-KR" altLang="en-US" sz="950">
              <a:solidFill>
                <a:srgbClr val="52706C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84634E-CCD5-8F6C-4119-DDC94F53C9E9}"/>
              </a:ext>
            </a:extLst>
          </p:cNvPr>
          <p:cNvSpPr txBox="1"/>
          <p:nvPr/>
        </p:nvSpPr>
        <p:spPr>
          <a:xfrm>
            <a:off x="609600" y="1905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dirty="0">
                <a:solidFill>
                  <a:srgbClr val="163F3C"/>
                </a:solidFill>
                <a:latin typeface="맑은 고딕" panose="020B0503020000020004" pitchFamily="50" charset="-127"/>
              </a:rPr>
              <a:t>표준화 </a:t>
            </a:r>
            <a:r>
              <a:rPr lang="en-US" altLang="ko-KR" dirty="0">
                <a:solidFill>
                  <a:srgbClr val="163F3C"/>
                </a:solidFill>
                <a:latin typeface="맑은 고딕" panose="020B0503020000020004" pitchFamily="50" charset="-127"/>
              </a:rPr>
              <a:t>Ridge </a:t>
            </a:r>
            <a:r>
              <a:rPr lang="ko-KR" altLang="en-US" dirty="0">
                <a:solidFill>
                  <a:srgbClr val="163F3C"/>
                </a:solidFill>
                <a:latin typeface="맑은 고딕" panose="020B0503020000020004" pitchFamily="50" charset="-127"/>
              </a:rPr>
              <a:t>가중치로 상대적 중요도를 확인했습니다</a:t>
            </a:r>
            <a:r>
              <a:rPr lang="en-US" altLang="ko-KR" dirty="0">
                <a:solidFill>
                  <a:srgbClr val="163F3C"/>
                </a:solidFill>
                <a:latin typeface="맑은 고딕" panose="020B0503020000020004" pitchFamily="50" charset="-127"/>
              </a:rPr>
              <a:t>.</a:t>
            </a:r>
            <a:endParaRPr lang="ko-KR" altLang="en-US" dirty="0">
              <a:solidFill>
                <a:srgbClr val="163F3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25BA83-6E0C-7E5E-18F8-05F90E8AE5FF}"/>
              </a:ext>
            </a:extLst>
          </p:cNvPr>
          <p:cNvSpPr txBox="1"/>
          <p:nvPr/>
        </p:nvSpPr>
        <p:spPr>
          <a:xfrm>
            <a:off x="825500" y="29718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b="1">
                <a:solidFill>
                  <a:srgbClr val="087069"/>
                </a:solidFill>
                <a:latin typeface="맑은 고딕" panose="020B0503020000020004" pitchFamily="50" charset="-127"/>
              </a:rPr>
              <a:t>01</a:t>
            </a:r>
            <a:endParaRPr lang="ko-KR" altLang="en-US" b="1">
              <a:solidFill>
                <a:srgbClr val="087069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9DE30B7-877F-3722-8575-BF941CAF4108}"/>
              </a:ext>
            </a:extLst>
          </p:cNvPr>
          <p:cNvCxnSpPr/>
          <p:nvPr/>
        </p:nvCxnSpPr>
        <p:spPr>
          <a:xfrm>
            <a:off x="825500" y="3390900"/>
            <a:ext cx="2108200" cy="0"/>
          </a:xfrm>
          <a:prstGeom prst="line">
            <a:avLst/>
          </a:prstGeom>
          <a:ln w="15240">
            <a:solidFill>
              <a:srgbClr val="CAE2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BBFAF38-F05D-4920-7948-74B870967564}"/>
              </a:ext>
            </a:extLst>
          </p:cNvPr>
          <p:cNvSpPr txBox="1"/>
          <p:nvPr/>
        </p:nvSpPr>
        <p:spPr>
          <a:xfrm>
            <a:off x="825500" y="36449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100" b="1">
                <a:solidFill>
                  <a:srgbClr val="163F3C"/>
                </a:solidFill>
                <a:latin typeface="맑은 고딕" panose="020B0503020000020004" pitchFamily="50" charset="-127"/>
              </a:rPr>
              <a:t>제</a:t>
            </a:r>
            <a:r>
              <a:rPr lang="en-US" altLang="ko-KR" sz="2100" b="1">
                <a:solidFill>
                  <a:srgbClr val="163F3C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2100" b="1">
                <a:solidFill>
                  <a:srgbClr val="163F3C"/>
                </a:solidFill>
                <a:latin typeface="맑은 고딕" panose="020B0503020000020004" pitchFamily="50" charset="-127"/>
              </a:rPr>
              <a:t>뇌실 용적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D71CF3-71D6-E1E8-6A4F-3DFF1CBB1D0C}"/>
              </a:ext>
            </a:extLst>
          </p:cNvPr>
          <p:cNvSpPr txBox="1"/>
          <p:nvPr/>
        </p:nvSpPr>
        <p:spPr>
          <a:xfrm>
            <a:off x="825500" y="45212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50">
                <a:solidFill>
                  <a:srgbClr val="52706C"/>
                </a:solidFill>
                <a:latin typeface="맑은 고딕" panose="020B0503020000020004" pitchFamily="50" charset="-127"/>
              </a:rPr>
              <a:t>+0.541 | </a:t>
            </a:r>
            <a:r>
              <a:rPr lang="ko-KR" altLang="en-US" sz="1450">
                <a:solidFill>
                  <a:srgbClr val="52706C"/>
                </a:solidFill>
                <a:latin typeface="맑은 고딕" panose="020B0503020000020004" pitchFamily="50" charset="-127"/>
              </a:rPr>
              <a:t>커질수록 더 높은 나이 예측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C8F78C-0B4B-AC27-6F91-128D3F2077DC}"/>
              </a:ext>
            </a:extLst>
          </p:cNvPr>
          <p:cNvSpPr txBox="1"/>
          <p:nvPr/>
        </p:nvSpPr>
        <p:spPr>
          <a:xfrm>
            <a:off x="3009900" y="3632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2000" b="1">
                <a:solidFill>
                  <a:srgbClr val="1AA79A"/>
                </a:solidFill>
                <a:latin typeface="맑은 고딕" panose="020B0503020000020004" pitchFamily="50" charset="-127"/>
              </a:rPr>
              <a:t>→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56DE27-D6EC-CDEA-A969-F9BF1EB62780}"/>
              </a:ext>
            </a:extLst>
          </p:cNvPr>
          <p:cNvSpPr txBox="1"/>
          <p:nvPr/>
        </p:nvSpPr>
        <p:spPr>
          <a:xfrm>
            <a:off x="3556000" y="29718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b="1">
                <a:solidFill>
                  <a:srgbClr val="087069"/>
                </a:solidFill>
                <a:latin typeface="맑은 고딕" panose="020B0503020000020004" pitchFamily="50" charset="-127"/>
              </a:rPr>
              <a:t>02</a:t>
            </a:r>
            <a:endParaRPr lang="ko-KR" altLang="en-US" b="1">
              <a:solidFill>
                <a:srgbClr val="087069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E349D7D5-8EFC-6191-A380-41748F393A69}"/>
              </a:ext>
            </a:extLst>
          </p:cNvPr>
          <p:cNvCxnSpPr/>
          <p:nvPr/>
        </p:nvCxnSpPr>
        <p:spPr>
          <a:xfrm>
            <a:off x="3556000" y="3390900"/>
            <a:ext cx="2108200" cy="0"/>
          </a:xfrm>
          <a:prstGeom prst="line">
            <a:avLst/>
          </a:prstGeom>
          <a:ln w="15240">
            <a:solidFill>
              <a:srgbClr val="CAE2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BE6ACCC-9047-0603-4E3A-B8D7255EDD03}"/>
              </a:ext>
            </a:extLst>
          </p:cNvPr>
          <p:cNvSpPr txBox="1"/>
          <p:nvPr/>
        </p:nvSpPr>
        <p:spPr>
          <a:xfrm>
            <a:off x="3556000" y="36449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100" b="1">
                <a:solidFill>
                  <a:srgbClr val="163F3C"/>
                </a:solidFill>
                <a:latin typeface="맑은 고딕" panose="020B0503020000020004" pitchFamily="50" charset="-127"/>
              </a:rPr>
              <a:t>백질 고신호량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CA75E9-5EDD-9EFB-2A89-5FC39491F500}"/>
              </a:ext>
            </a:extLst>
          </p:cNvPr>
          <p:cNvSpPr txBox="1"/>
          <p:nvPr/>
        </p:nvSpPr>
        <p:spPr>
          <a:xfrm>
            <a:off x="3556000" y="45212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50">
                <a:solidFill>
                  <a:srgbClr val="52706C"/>
                </a:solidFill>
                <a:latin typeface="맑은 고딕" panose="020B0503020000020004" pitchFamily="50" charset="-127"/>
              </a:rPr>
              <a:t>+0.527 | </a:t>
            </a:r>
            <a:r>
              <a:rPr lang="ko-KR" altLang="en-US" sz="1450">
                <a:solidFill>
                  <a:srgbClr val="52706C"/>
                </a:solidFill>
                <a:latin typeface="맑은 고딕" panose="020B0503020000020004" pitchFamily="50" charset="-127"/>
              </a:rPr>
              <a:t>노화</a:t>
            </a:r>
            <a:r>
              <a:rPr lang="en-US" altLang="ko-KR" sz="1450">
                <a:solidFill>
                  <a:srgbClr val="52706C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450">
                <a:solidFill>
                  <a:srgbClr val="52706C"/>
                </a:solidFill>
                <a:latin typeface="맑은 고딕" panose="020B0503020000020004" pitchFamily="50" charset="-127"/>
              </a:rPr>
              <a:t>혈관 변화의 보조 신호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A67A95-DC52-9E21-B1B9-71C2D9AB3BE1}"/>
              </a:ext>
            </a:extLst>
          </p:cNvPr>
          <p:cNvSpPr txBox="1"/>
          <p:nvPr/>
        </p:nvSpPr>
        <p:spPr>
          <a:xfrm>
            <a:off x="5740400" y="3632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2000" b="1">
                <a:solidFill>
                  <a:srgbClr val="1AA79A"/>
                </a:solidFill>
                <a:latin typeface="맑은 고딕" panose="020B0503020000020004" pitchFamily="50" charset="-127"/>
              </a:rPr>
              <a:t>→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199F0E-E703-7FAC-E4E4-26744A1C14E4}"/>
              </a:ext>
            </a:extLst>
          </p:cNvPr>
          <p:cNvSpPr txBox="1"/>
          <p:nvPr/>
        </p:nvSpPr>
        <p:spPr>
          <a:xfrm>
            <a:off x="6286500" y="29718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b="1">
                <a:solidFill>
                  <a:srgbClr val="087069"/>
                </a:solidFill>
                <a:latin typeface="맑은 고딕" panose="020B0503020000020004" pitchFamily="50" charset="-127"/>
              </a:rPr>
              <a:t>03</a:t>
            </a:r>
            <a:endParaRPr lang="ko-KR" altLang="en-US" b="1">
              <a:solidFill>
                <a:srgbClr val="087069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BE5DCE72-B3EC-B072-5FB7-2228C4E63BBC}"/>
              </a:ext>
            </a:extLst>
          </p:cNvPr>
          <p:cNvCxnSpPr/>
          <p:nvPr/>
        </p:nvCxnSpPr>
        <p:spPr>
          <a:xfrm>
            <a:off x="6286500" y="3390900"/>
            <a:ext cx="2108200" cy="0"/>
          </a:xfrm>
          <a:prstGeom prst="line">
            <a:avLst/>
          </a:prstGeom>
          <a:ln w="15240">
            <a:solidFill>
              <a:srgbClr val="CAE2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F415AD3-E67F-D430-59AF-94F47AB7B6E8}"/>
              </a:ext>
            </a:extLst>
          </p:cNvPr>
          <p:cNvSpPr txBox="1"/>
          <p:nvPr/>
        </p:nvSpPr>
        <p:spPr>
          <a:xfrm>
            <a:off x="6286500" y="36449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100" b="1">
                <a:solidFill>
                  <a:srgbClr val="163F3C"/>
                </a:solidFill>
                <a:latin typeface="맑은 고딕" panose="020B0503020000020004" pitchFamily="50" charset="-127"/>
              </a:rPr>
              <a:t>뇌간</a:t>
            </a:r>
            <a:r>
              <a:rPr lang="en-US" altLang="ko-KR" sz="2100" b="1">
                <a:solidFill>
                  <a:srgbClr val="163F3C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2100" b="1">
                <a:solidFill>
                  <a:srgbClr val="163F3C"/>
                </a:solidFill>
                <a:latin typeface="맑은 고딕" panose="020B0503020000020004" pitchFamily="50" charset="-127"/>
              </a:rPr>
              <a:t>전체 뇌 용적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D12384-8993-D176-DABF-0CBEA69E9013}"/>
              </a:ext>
            </a:extLst>
          </p:cNvPr>
          <p:cNvSpPr txBox="1"/>
          <p:nvPr/>
        </p:nvSpPr>
        <p:spPr>
          <a:xfrm>
            <a:off x="6286500" y="45212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50">
                <a:solidFill>
                  <a:srgbClr val="52706C"/>
                </a:solidFill>
                <a:latin typeface="맑은 고딕" panose="020B0503020000020004" pitchFamily="50" charset="-127"/>
              </a:rPr>
              <a:t>+0.439 / -0.433 | </a:t>
            </a:r>
            <a:r>
              <a:rPr lang="ko-KR" altLang="en-US" sz="1450">
                <a:solidFill>
                  <a:srgbClr val="52706C"/>
                </a:solidFill>
                <a:latin typeface="맑은 고딕" panose="020B0503020000020004" pitchFamily="50" charset="-127"/>
              </a:rPr>
              <a:t>구조적 노화 정보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F39E2B-315E-AD89-E024-46B8BD56F177}"/>
              </a:ext>
            </a:extLst>
          </p:cNvPr>
          <p:cNvSpPr txBox="1"/>
          <p:nvPr/>
        </p:nvSpPr>
        <p:spPr>
          <a:xfrm>
            <a:off x="8470900" y="3632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2000" b="1">
                <a:solidFill>
                  <a:srgbClr val="1AA79A"/>
                </a:solidFill>
                <a:latin typeface="맑은 고딕" panose="020B0503020000020004" pitchFamily="50" charset="-127"/>
              </a:rPr>
              <a:t>→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022890-5DF4-C6A3-B996-B55B99549F98}"/>
              </a:ext>
            </a:extLst>
          </p:cNvPr>
          <p:cNvSpPr txBox="1"/>
          <p:nvPr/>
        </p:nvSpPr>
        <p:spPr>
          <a:xfrm>
            <a:off x="9017000" y="29718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b="1">
                <a:solidFill>
                  <a:srgbClr val="087069"/>
                </a:solidFill>
                <a:latin typeface="맑은 고딕" panose="020B0503020000020004" pitchFamily="50" charset="-127"/>
              </a:rPr>
              <a:t>04</a:t>
            </a:r>
            <a:endParaRPr lang="ko-KR" altLang="en-US" b="1">
              <a:solidFill>
                <a:srgbClr val="087069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F16BBC8-8F0F-1DEA-753F-0649C97B8977}"/>
              </a:ext>
            </a:extLst>
          </p:cNvPr>
          <p:cNvCxnSpPr/>
          <p:nvPr/>
        </p:nvCxnSpPr>
        <p:spPr>
          <a:xfrm>
            <a:off x="9017000" y="3390900"/>
            <a:ext cx="2108200" cy="0"/>
          </a:xfrm>
          <a:prstGeom prst="line">
            <a:avLst/>
          </a:prstGeom>
          <a:ln w="15240">
            <a:solidFill>
              <a:srgbClr val="CAE2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257E885-2D68-AB52-D4CF-D9FDFF002A1F}"/>
              </a:ext>
            </a:extLst>
          </p:cNvPr>
          <p:cNvSpPr txBox="1"/>
          <p:nvPr/>
        </p:nvSpPr>
        <p:spPr>
          <a:xfrm>
            <a:off x="9017000" y="36449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100" b="1">
                <a:solidFill>
                  <a:srgbClr val="163F3C"/>
                </a:solidFill>
                <a:latin typeface="맑은 고딕" panose="020B0503020000020004" pitchFamily="50" charset="-127"/>
              </a:rPr>
              <a:t>해마</a:t>
            </a:r>
            <a:r>
              <a:rPr lang="en-US" altLang="ko-KR" sz="2100" b="1">
                <a:solidFill>
                  <a:srgbClr val="163F3C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2100" b="1">
                <a:solidFill>
                  <a:srgbClr val="163F3C"/>
                </a:solidFill>
                <a:latin typeface="맑은 고딕" panose="020B0503020000020004" pitchFamily="50" charset="-127"/>
              </a:rPr>
              <a:t>피질 지표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91CFEB-1288-E8EA-2FE4-D10B9A1CA3BB}"/>
              </a:ext>
            </a:extLst>
          </p:cNvPr>
          <p:cNvSpPr txBox="1"/>
          <p:nvPr/>
        </p:nvSpPr>
        <p:spPr>
          <a:xfrm>
            <a:off x="9017000" y="45212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450">
                <a:solidFill>
                  <a:srgbClr val="52706C"/>
                </a:solidFill>
                <a:latin typeface="맑은 고딕" panose="020B0503020000020004" pitchFamily="50" charset="-127"/>
              </a:rPr>
              <a:t>두께</a:t>
            </a:r>
            <a:r>
              <a:rPr lang="en-US" altLang="ko-KR" sz="1450">
                <a:solidFill>
                  <a:srgbClr val="52706C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450">
                <a:solidFill>
                  <a:srgbClr val="52706C"/>
                </a:solidFill>
                <a:latin typeface="맑은 고딕" panose="020B0503020000020004" pitchFamily="50" charset="-127"/>
              </a:rPr>
              <a:t>용적을 함께 반영합니다</a:t>
            </a:r>
            <a:r>
              <a:rPr lang="en-US" altLang="ko-KR" sz="1450">
                <a:solidFill>
                  <a:srgbClr val="52706C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450">
                <a:solidFill>
                  <a:srgbClr val="52706C"/>
                </a:solidFill>
                <a:latin typeface="맑은 고딕" panose="020B0503020000020004" pitchFamily="50" charset="-127"/>
              </a:rPr>
              <a:t>단일 지표는 원인이나 진단값이 아닙니다</a:t>
            </a:r>
            <a:r>
              <a:rPr lang="en-US" altLang="ko-KR" sz="1450">
                <a:solidFill>
                  <a:srgbClr val="52706C"/>
                </a:solidFill>
                <a:latin typeface="맑은 고딕" panose="020B0503020000020004" pitchFamily="50" charset="-127"/>
              </a:rPr>
              <a:t>.</a:t>
            </a:r>
            <a:endParaRPr lang="ko-KR" altLang="en-US" sz="1450">
              <a:solidFill>
                <a:srgbClr val="52706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35B2F4-D32B-9E7F-FCED-41EFD87D755C}"/>
              </a:ext>
            </a:extLst>
          </p:cNvPr>
          <p:cNvSpPr txBox="1"/>
          <p:nvPr/>
        </p:nvSpPr>
        <p:spPr>
          <a:xfrm>
            <a:off x="609600" y="57404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endParaRPr lang="ko-KR" altLang="en-US" sz="1500" dirty="0">
              <a:solidFill>
                <a:srgbClr val="52706C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65836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8ED6406E-572B-418D-6F63-10DD79B49F92}"/>
              </a:ext>
            </a:extLst>
          </p:cNvPr>
          <p:cNvSpPr/>
          <p:nvPr/>
        </p:nvSpPr>
        <p:spPr>
          <a:xfrm>
            <a:off x="3886200" y="1143000"/>
            <a:ext cx="4434840" cy="4434840"/>
          </a:xfrm>
          <a:prstGeom prst="rect">
            <a:avLst/>
          </a:prstGeom>
          <a:blipFill dpi="0" rotWithShape="1">
            <a:blip r:embed="rId2">
              <a:alphaModFix amt="7000"/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225083-C82C-528A-06EF-8A6DB13F0497}"/>
              </a:ext>
            </a:extLst>
          </p:cNvPr>
          <p:cNvSpPr txBox="1"/>
          <p:nvPr/>
        </p:nvSpPr>
        <p:spPr>
          <a:xfrm>
            <a:off x="609600" y="5334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5BCFBE"/>
                </a:solidFill>
                <a:latin typeface="맑은 고딕" panose="020B0503020000020004" pitchFamily="50" charset="-127"/>
              </a:rPr>
              <a:t>성능과 과적합 점검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A1817E-362C-5D0B-FB16-5A93AC83CB8A}"/>
              </a:ext>
            </a:extLst>
          </p:cNvPr>
          <p:cNvSpPr txBox="1"/>
          <p:nvPr/>
        </p:nvSpPr>
        <p:spPr>
          <a:xfrm>
            <a:off x="609600" y="8382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3000" b="1">
                <a:solidFill>
                  <a:srgbClr val="FFFFFF"/>
                </a:solidFill>
                <a:latin typeface="맑은 고딕" panose="020B0503020000020004" pitchFamily="50" charset="-127"/>
              </a:rPr>
              <a:t>이 예측은 믿을 수 있을까</a:t>
            </a:r>
            <a:r>
              <a:rPr lang="en-US" altLang="ko-KR" sz="3000" b="1">
                <a:solidFill>
                  <a:srgbClr val="FFFFFF"/>
                </a:solidFill>
                <a:latin typeface="맑은 고딕" panose="020B0503020000020004" pitchFamily="50" charset="-127"/>
              </a:rPr>
              <a:t>?</a:t>
            </a:r>
            <a:endParaRPr lang="ko-KR" altLang="en-US" sz="30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7971ACA-D790-9825-48F5-368F6E2F2A89}"/>
              </a:ext>
            </a:extLst>
          </p:cNvPr>
          <p:cNvCxnSpPr/>
          <p:nvPr/>
        </p:nvCxnSpPr>
        <p:spPr>
          <a:xfrm>
            <a:off x="609600" y="1536700"/>
            <a:ext cx="1295400" cy="0"/>
          </a:xfrm>
          <a:prstGeom prst="line">
            <a:avLst/>
          </a:prstGeom>
          <a:ln w="25400">
            <a:solidFill>
              <a:srgbClr val="5BC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0D5D014-740A-5DE5-CE97-F16B5EFD35F8}"/>
              </a:ext>
            </a:extLst>
          </p:cNvPr>
          <p:cNvCxnSpPr/>
          <p:nvPr/>
        </p:nvCxnSpPr>
        <p:spPr>
          <a:xfrm>
            <a:off x="609600" y="6388100"/>
            <a:ext cx="10972800" cy="0"/>
          </a:xfrm>
          <a:prstGeom prst="line">
            <a:avLst/>
          </a:prstGeom>
          <a:ln w="10160">
            <a:solidFill>
              <a:srgbClr val="3B54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BF2B964-8AF2-ED5E-7434-52E19B325EBB}"/>
              </a:ext>
            </a:extLst>
          </p:cNvPr>
          <p:cNvSpPr txBox="1"/>
          <p:nvPr/>
        </p:nvSpPr>
        <p:spPr>
          <a:xfrm>
            <a:off x="609600" y="65278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950" dirty="0">
                <a:solidFill>
                  <a:srgbClr val="B5D7D0"/>
                </a:solidFill>
                <a:latin typeface="맑은 고딕" panose="020B0503020000020004" pitchFamily="50" charset="-127"/>
              </a:rPr>
              <a:t>ADNI </a:t>
            </a:r>
            <a:r>
              <a:rPr lang="ko-KR" altLang="en-US" sz="950" dirty="0">
                <a:solidFill>
                  <a:srgbClr val="B5D7D0"/>
                </a:solidFill>
                <a:latin typeface="맑은 고딕" panose="020B0503020000020004" pitchFamily="50" charset="-127"/>
              </a:rPr>
              <a:t>기반 뇌 연령 </a:t>
            </a:r>
            <a:r>
              <a:rPr lang="en-US" altLang="ko-KR" sz="950" dirty="0">
                <a:solidFill>
                  <a:srgbClr val="B5D7D0"/>
                </a:solidFill>
                <a:latin typeface="맑은 고딕" panose="020B0503020000020004" pitchFamily="50" charset="-127"/>
              </a:rPr>
              <a:t>BAG </a:t>
            </a:r>
            <a:r>
              <a:rPr lang="ko-KR" altLang="en-US" sz="950" dirty="0">
                <a:solidFill>
                  <a:srgbClr val="B5D7D0"/>
                </a:solidFill>
                <a:latin typeface="맑은 고딕" panose="020B0503020000020004" pitchFamily="50" charset="-127"/>
              </a:rPr>
              <a:t>분석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E6BF02-F78B-BD7F-8AE7-330C9808AC5F}"/>
              </a:ext>
            </a:extLst>
          </p:cNvPr>
          <p:cNvSpPr txBox="1"/>
          <p:nvPr/>
        </p:nvSpPr>
        <p:spPr>
          <a:xfrm>
            <a:off x="10604500" y="6527800"/>
            <a:ext cx="977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B5D7D0"/>
                </a:solidFill>
                <a:latin typeface="Malgun Gothic" panose="020B0503020000020004" pitchFamily="50" charset="-127"/>
              </a:rPr>
              <a:t>9 / 17</a:t>
            </a:r>
            <a:endParaRPr lang="ko-KR" altLang="en-US" sz="950">
              <a:solidFill>
                <a:srgbClr val="B5D7D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70E995-0DA6-5E6A-F3AA-B7E10A557594}"/>
              </a:ext>
            </a:extLst>
          </p:cNvPr>
          <p:cNvSpPr txBox="1"/>
          <p:nvPr/>
        </p:nvSpPr>
        <p:spPr>
          <a:xfrm>
            <a:off x="825500" y="2171700"/>
            <a:ext cx="222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 b="1">
                <a:solidFill>
                  <a:srgbClr val="8ADFD5"/>
                </a:solidFill>
                <a:latin typeface="맑은 고딕" panose="020B0503020000020004" pitchFamily="50" charset="-127"/>
              </a:rPr>
              <a:t>독립 </a:t>
            </a:r>
            <a:r>
              <a:rPr lang="en-US" altLang="ko-KR" sz="1700" b="1">
                <a:solidFill>
                  <a:srgbClr val="8ADFD5"/>
                </a:solidFill>
                <a:latin typeface="맑은 고딕" panose="020B0503020000020004" pitchFamily="50" charset="-127"/>
              </a:rPr>
              <a:t>CN </a:t>
            </a:r>
            <a:r>
              <a:rPr lang="ko-KR" altLang="en-US" sz="1700" b="1">
                <a:solidFill>
                  <a:srgbClr val="8ADFD5"/>
                </a:solidFill>
                <a:latin typeface="맑은 고딕" panose="020B0503020000020004" pitchFamily="50" charset="-127"/>
              </a:rPr>
              <a:t>테스트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C954A2-3939-053B-CF61-A6CDD32963F9}"/>
              </a:ext>
            </a:extLst>
          </p:cNvPr>
          <p:cNvSpPr txBox="1"/>
          <p:nvPr/>
        </p:nvSpPr>
        <p:spPr>
          <a:xfrm>
            <a:off x="825500" y="25781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3500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R2 0.542</a:t>
            </a:r>
            <a:endParaRPr lang="ko-KR" altLang="en-US" sz="3500" b="1" dirty="0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5D1F35-22BD-4EBC-2D0F-27D82CEFDB50}"/>
              </a:ext>
            </a:extLst>
          </p:cNvPr>
          <p:cNvSpPr txBox="1"/>
          <p:nvPr/>
        </p:nvSpPr>
        <p:spPr>
          <a:xfrm>
            <a:off x="825500" y="33274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>
                <a:solidFill>
                  <a:srgbClr val="CAE2DD"/>
                </a:solidFill>
                <a:latin typeface="맑은 고딕" panose="020B0503020000020004" pitchFamily="50" charset="-127"/>
              </a:rPr>
              <a:t>MAE 3.680</a:t>
            </a:r>
            <a:r>
              <a:rPr lang="ko-KR" altLang="en-US" sz="1600">
                <a:solidFill>
                  <a:srgbClr val="CAE2DD"/>
                </a:solidFill>
                <a:latin typeface="맑은 고딕" panose="020B0503020000020004" pitchFamily="50" charset="-127"/>
              </a:rPr>
              <a:t>년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DC80EF11-0E49-CA8A-69B8-A2F66F056430}"/>
              </a:ext>
            </a:extLst>
          </p:cNvPr>
          <p:cNvCxnSpPr/>
          <p:nvPr/>
        </p:nvCxnSpPr>
        <p:spPr>
          <a:xfrm>
            <a:off x="4000500" y="2108200"/>
            <a:ext cx="0" cy="2108200"/>
          </a:xfrm>
          <a:prstGeom prst="line">
            <a:avLst/>
          </a:prstGeom>
          <a:ln w="12700">
            <a:solidFill>
              <a:srgbClr val="3C54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25321D6-1117-2F45-21FE-532A5B167EA9}"/>
              </a:ext>
            </a:extLst>
          </p:cNvPr>
          <p:cNvSpPr txBox="1"/>
          <p:nvPr/>
        </p:nvSpPr>
        <p:spPr>
          <a:xfrm>
            <a:off x="4635500" y="21717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 b="1">
                <a:solidFill>
                  <a:srgbClr val="B4E8DE"/>
                </a:solidFill>
                <a:latin typeface="맑은 고딕" panose="020B0503020000020004" pitchFamily="50" charset="-127"/>
              </a:rPr>
              <a:t>순열검정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65E59B-F3AF-6CD7-B1BD-F440DEC5D3B5}"/>
              </a:ext>
            </a:extLst>
          </p:cNvPr>
          <p:cNvSpPr txBox="1"/>
          <p:nvPr/>
        </p:nvSpPr>
        <p:spPr>
          <a:xfrm>
            <a:off x="4635500" y="26289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3100" b="1">
                <a:solidFill>
                  <a:srgbClr val="FFFFFF"/>
                </a:solidFill>
                <a:latin typeface="맑은 고딕" panose="020B0503020000020004" pitchFamily="50" charset="-127"/>
              </a:rPr>
              <a:t>p = 0.001996</a:t>
            </a:r>
            <a:endParaRPr lang="ko-KR" altLang="en-US" sz="31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4206C6-090D-5DE0-EA7D-8B12D980DB5F}"/>
              </a:ext>
            </a:extLst>
          </p:cNvPr>
          <p:cNvSpPr txBox="1"/>
          <p:nvPr/>
        </p:nvSpPr>
        <p:spPr>
          <a:xfrm>
            <a:off x="4635500" y="33401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00">
                <a:solidFill>
                  <a:srgbClr val="CAE2DD"/>
                </a:solidFill>
                <a:latin typeface="맑은 고딕" panose="020B0503020000020004" pitchFamily="50" charset="-127"/>
              </a:rPr>
              <a:t>우연한 예측보다 높은 성능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84CEFD6A-438A-DDDE-0C55-39582490DA01}"/>
              </a:ext>
            </a:extLst>
          </p:cNvPr>
          <p:cNvCxnSpPr/>
          <p:nvPr/>
        </p:nvCxnSpPr>
        <p:spPr>
          <a:xfrm>
            <a:off x="8255000" y="2108200"/>
            <a:ext cx="0" cy="2108200"/>
          </a:xfrm>
          <a:prstGeom prst="line">
            <a:avLst/>
          </a:prstGeom>
          <a:ln w="12700">
            <a:solidFill>
              <a:srgbClr val="3C54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C78A472-A922-6394-BFFC-2F7A7B3E19C5}"/>
              </a:ext>
            </a:extLst>
          </p:cNvPr>
          <p:cNvSpPr txBox="1"/>
          <p:nvPr/>
        </p:nvSpPr>
        <p:spPr>
          <a:xfrm>
            <a:off x="8890000" y="21717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 b="1">
                <a:solidFill>
                  <a:srgbClr val="75D7C8"/>
                </a:solidFill>
                <a:latin typeface="맑은 고딕" panose="020B0503020000020004" pitchFamily="50" charset="-127"/>
              </a:rPr>
              <a:t>과적합 점검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29B150-3FF2-A139-00A7-CB7FBF1AB48E}"/>
              </a:ext>
            </a:extLst>
          </p:cNvPr>
          <p:cNvSpPr txBox="1"/>
          <p:nvPr/>
        </p:nvSpPr>
        <p:spPr>
          <a:xfrm>
            <a:off x="8890000" y="26162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b="1">
                <a:solidFill>
                  <a:srgbClr val="FFFFFF"/>
                </a:solidFill>
                <a:latin typeface="맑은 고딕" panose="020B0503020000020004" pitchFamily="50" charset="-127"/>
              </a:rPr>
              <a:t>MAE </a:t>
            </a:r>
            <a:r>
              <a:rPr lang="ko-KR" altLang="en-US" b="1">
                <a:solidFill>
                  <a:srgbClr val="FFFFFF"/>
                </a:solidFill>
                <a:latin typeface="맑은 고딕" panose="020B0503020000020004" pitchFamily="50" charset="-127"/>
              </a:rPr>
              <a:t>차이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37D8EE-74EC-DA82-4759-F1F72BDCB9BE}"/>
              </a:ext>
            </a:extLst>
          </p:cNvPr>
          <p:cNvSpPr txBox="1"/>
          <p:nvPr/>
        </p:nvSpPr>
        <p:spPr>
          <a:xfrm>
            <a:off x="8890000" y="29464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3000" b="1">
                <a:solidFill>
                  <a:srgbClr val="FFFFFF"/>
                </a:solidFill>
                <a:latin typeface="맑은 고딕" panose="020B0503020000020004" pitchFamily="50" charset="-127"/>
              </a:rPr>
              <a:t>0.132</a:t>
            </a:r>
            <a:r>
              <a:rPr lang="ko-KR" altLang="en-US" sz="3000" b="1">
                <a:solidFill>
                  <a:srgbClr val="FFFFFF"/>
                </a:solidFill>
                <a:latin typeface="맑은 고딕" panose="020B0503020000020004" pitchFamily="50" charset="-127"/>
              </a:rPr>
              <a:t>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4BD98E-12D2-04AA-86D5-F23AF4511196}"/>
              </a:ext>
            </a:extLst>
          </p:cNvPr>
          <p:cNvSpPr txBox="1"/>
          <p:nvPr/>
        </p:nvSpPr>
        <p:spPr>
          <a:xfrm>
            <a:off x="8890000" y="35052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>
                <a:solidFill>
                  <a:srgbClr val="CAE2DD"/>
                </a:solidFill>
                <a:latin typeface="맑은 고딕" panose="020B0503020000020004" pitchFamily="50" charset="-127"/>
              </a:rPr>
              <a:t>중첩 교차검증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277679-EE52-B7A0-D0F9-801F49DFD9FE}"/>
              </a:ext>
            </a:extLst>
          </p:cNvPr>
          <p:cNvSpPr txBox="1"/>
          <p:nvPr/>
        </p:nvSpPr>
        <p:spPr>
          <a:xfrm>
            <a:off x="8890000" y="37338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700">
                <a:solidFill>
                  <a:srgbClr val="CAE2DD"/>
                </a:solidFill>
                <a:latin typeface="맑은 고딕" panose="020B0503020000020004" pitchFamily="50" charset="-127"/>
              </a:rPr>
              <a:t>OOF R2 0.471</a:t>
            </a:r>
            <a:endParaRPr lang="ko-KR" altLang="en-US" sz="1700">
              <a:solidFill>
                <a:srgbClr val="CAE2DD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8C20EFE-409E-119F-AFA7-6EEE124D8356}"/>
              </a:ext>
            </a:extLst>
          </p:cNvPr>
          <p:cNvSpPr/>
          <p:nvPr/>
        </p:nvSpPr>
        <p:spPr>
          <a:xfrm>
            <a:off x="609600" y="4927600"/>
            <a:ext cx="10972800" cy="787400"/>
          </a:xfrm>
          <a:prstGeom prst="rect">
            <a:avLst/>
          </a:prstGeom>
          <a:solidFill>
            <a:srgbClr val="0F4C4B"/>
          </a:solidFill>
          <a:ln w="10160">
            <a:solidFill>
              <a:srgbClr val="396C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062872-862F-267C-B43D-2BA226899DE1}"/>
              </a:ext>
            </a:extLst>
          </p:cNvPr>
          <p:cNvSpPr txBox="1"/>
          <p:nvPr/>
        </p:nvSpPr>
        <p:spPr>
          <a:xfrm>
            <a:off x="914400" y="5207000"/>
            <a:ext cx="1035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독립 테스트와 중첩 교차검증이 큰 차이를 보이지 않아 강한 과적합 신호는 크지 않습니다</a:t>
            </a:r>
            <a:r>
              <a:rPr lang="en-US" altLang="ko-KR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.</a:t>
            </a:r>
            <a:endParaRPr lang="ko-KR" altLang="en-US" sz="16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414A01-7193-68A7-C153-2CFF6FBADE56}"/>
              </a:ext>
            </a:extLst>
          </p:cNvPr>
          <p:cNvSpPr txBox="1"/>
          <p:nvPr/>
        </p:nvSpPr>
        <p:spPr>
          <a:xfrm>
            <a:off x="914400" y="5816600"/>
            <a:ext cx="1035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endParaRPr lang="ko-KR" altLang="en-US" sz="1300" dirty="0">
              <a:solidFill>
                <a:srgbClr val="B5D7D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3076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D3041D2-E906-0076-5404-9AB996F05667}"/>
              </a:ext>
            </a:extLst>
          </p:cNvPr>
          <p:cNvSpPr/>
          <p:nvPr/>
        </p:nvSpPr>
        <p:spPr>
          <a:xfrm>
            <a:off x="3886200" y="1143000"/>
            <a:ext cx="4434840" cy="4434840"/>
          </a:xfrm>
          <a:prstGeom prst="rect">
            <a:avLst/>
          </a:prstGeom>
          <a:blipFill dpi="0" rotWithShape="1">
            <a:blip r:embed="rId2">
              <a:alphaModFix amt="5000"/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468021-CFFB-4BF8-A3B3-DD520C5D7963}"/>
              </a:ext>
            </a:extLst>
          </p:cNvPr>
          <p:cNvSpPr txBox="1"/>
          <p:nvPr/>
        </p:nvSpPr>
        <p:spPr>
          <a:xfrm>
            <a:off x="609600" y="5334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087069"/>
                </a:solidFill>
                <a:latin typeface="맑은 고딕" panose="020B0503020000020004" pitchFamily="50" charset="-127"/>
              </a:rPr>
              <a:t>집단 비교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807B4C-7E14-7AB0-E675-2DD7E42C5EAD}"/>
              </a:ext>
            </a:extLst>
          </p:cNvPr>
          <p:cNvSpPr txBox="1"/>
          <p:nvPr/>
        </p:nvSpPr>
        <p:spPr>
          <a:xfrm>
            <a:off x="609600" y="8382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3000" b="1" dirty="0">
                <a:solidFill>
                  <a:srgbClr val="163F3C"/>
                </a:solidFill>
                <a:latin typeface="맑은 고딕" panose="020B0503020000020004" pitchFamily="50" charset="-127"/>
              </a:rPr>
              <a:t>CN → MCI → AD: BAG</a:t>
            </a:r>
            <a:r>
              <a:rPr lang="ko-KR" altLang="en-US" sz="3000" b="1" dirty="0">
                <a:solidFill>
                  <a:srgbClr val="163F3C"/>
                </a:solidFill>
                <a:latin typeface="맑은 고딕" panose="020B0503020000020004" pitchFamily="50" charset="-127"/>
              </a:rPr>
              <a:t>는 단계적으로 커졌습니다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9AF2A76-3CEB-6339-2BAC-089E805CE4A1}"/>
              </a:ext>
            </a:extLst>
          </p:cNvPr>
          <p:cNvCxnSpPr/>
          <p:nvPr/>
        </p:nvCxnSpPr>
        <p:spPr>
          <a:xfrm>
            <a:off x="609600" y="1536700"/>
            <a:ext cx="1295400" cy="0"/>
          </a:xfrm>
          <a:prstGeom prst="line">
            <a:avLst/>
          </a:prstGeom>
          <a:ln w="25400">
            <a:solidFill>
              <a:srgbClr val="0870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9F4EB51-8EA0-4BA0-7FA0-437B38E99897}"/>
              </a:ext>
            </a:extLst>
          </p:cNvPr>
          <p:cNvCxnSpPr/>
          <p:nvPr/>
        </p:nvCxnSpPr>
        <p:spPr>
          <a:xfrm>
            <a:off x="609600" y="6388100"/>
            <a:ext cx="10972800" cy="0"/>
          </a:xfrm>
          <a:prstGeom prst="line">
            <a:avLst/>
          </a:prstGeom>
          <a:ln w="10160">
            <a:solidFill>
              <a:srgbClr val="CAE2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A66FD04-FBDE-6CD0-A387-4370C99F521E}"/>
              </a:ext>
            </a:extLst>
          </p:cNvPr>
          <p:cNvSpPr txBox="1"/>
          <p:nvPr/>
        </p:nvSpPr>
        <p:spPr>
          <a:xfrm>
            <a:off x="609600" y="65278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950" dirty="0">
                <a:solidFill>
                  <a:srgbClr val="52706C"/>
                </a:solidFill>
                <a:latin typeface="맑은 고딕" panose="020B0503020000020004" pitchFamily="50" charset="-127"/>
              </a:rPr>
              <a:t>ADNI </a:t>
            </a:r>
            <a:r>
              <a:rPr lang="ko-KR" altLang="en-US" sz="950" dirty="0">
                <a:solidFill>
                  <a:srgbClr val="52706C"/>
                </a:solidFill>
                <a:latin typeface="맑은 고딕" panose="020B0503020000020004" pitchFamily="50" charset="-127"/>
              </a:rPr>
              <a:t>기반 뇌 연령 </a:t>
            </a:r>
            <a:r>
              <a:rPr lang="en-US" altLang="ko-KR" sz="950" dirty="0">
                <a:solidFill>
                  <a:srgbClr val="52706C"/>
                </a:solidFill>
                <a:latin typeface="맑은 고딕" panose="020B0503020000020004" pitchFamily="50" charset="-127"/>
              </a:rPr>
              <a:t>BAG </a:t>
            </a:r>
            <a:r>
              <a:rPr lang="ko-KR" altLang="en-US" sz="950" dirty="0">
                <a:solidFill>
                  <a:srgbClr val="52706C"/>
                </a:solidFill>
                <a:latin typeface="맑은 고딕" panose="020B0503020000020004" pitchFamily="50" charset="-127"/>
              </a:rPr>
              <a:t>분석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B1C674-53B5-1270-72FE-97EAF8820CC1}"/>
              </a:ext>
            </a:extLst>
          </p:cNvPr>
          <p:cNvSpPr txBox="1"/>
          <p:nvPr/>
        </p:nvSpPr>
        <p:spPr>
          <a:xfrm>
            <a:off x="10604500" y="6527800"/>
            <a:ext cx="977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52706C"/>
                </a:solidFill>
                <a:latin typeface="Malgun Gothic" panose="020B0503020000020004" pitchFamily="50" charset="-127"/>
              </a:rPr>
              <a:t>10 / 17</a:t>
            </a:r>
            <a:endParaRPr lang="ko-KR" altLang="en-US" sz="950">
              <a:solidFill>
                <a:srgbClr val="52706C"/>
              </a:solidFill>
              <a:latin typeface="Malgun Gothic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C379FE5-C98F-445D-7655-8A1F4E12C9A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981200"/>
            <a:ext cx="5715000" cy="3429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6042242-F11A-6B14-467A-2BD4CEF789FF}"/>
              </a:ext>
            </a:extLst>
          </p:cNvPr>
          <p:cNvSpPr txBox="1"/>
          <p:nvPr/>
        </p:nvSpPr>
        <p:spPr>
          <a:xfrm>
            <a:off x="7175500" y="22860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b="1">
                <a:solidFill>
                  <a:srgbClr val="087069"/>
                </a:solidFill>
                <a:latin typeface="맑은 고딕" panose="020B0503020000020004" pitchFamily="50" charset="-127"/>
              </a:rPr>
              <a:t>CN</a:t>
            </a:r>
            <a:endParaRPr lang="ko-KR" altLang="en-US" b="1">
              <a:solidFill>
                <a:srgbClr val="08706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E3B6AB-9321-992D-27F3-E7BB055EE530}"/>
              </a:ext>
            </a:extLst>
          </p:cNvPr>
          <p:cNvSpPr txBox="1"/>
          <p:nvPr/>
        </p:nvSpPr>
        <p:spPr>
          <a:xfrm>
            <a:off x="7175500" y="26670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00">
                <a:solidFill>
                  <a:srgbClr val="52706C"/>
                </a:solidFill>
                <a:latin typeface="맑은 고딕" panose="020B0503020000020004" pitchFamily="50" charset="-127"/>
              </a:rPr>
              <a:t>기준 집단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8FCCDB8C-4295-6ABD-FF14-91330E7CD1F5}"/>
              </a:ext>
            </a:extLst>
          </p:cNvPr>
          <p:cNvCxnSpPr/>
          <p:nvPr/>
        </p:nvCxnSpPr>
        <p:spPr>
          <a:xfrm>
            <a:off x="7175500" y="3276600"/>
            <a:ext cx="3924300" cy="0"/>
          </a:xfrm>
          <a:prstGeom prst="line">
            <a:avLst/>
          </a:prstGeom>
          <a:ln w="12700">
            <a:solidFill>
              <a:srgbClr val="CAE2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74F7964-36CE-8A09-54C7-DA750353B5F8}"/>
              </a:ext>
            </a:extLst>
          </p:cNvPr>
          <p:cNvSpPr txBox="1"/>
          <p:nvPr/>
        </p:nvSpPr>
        <p:spPr>
          <a:xfrm>
            <a:off x="7175500" y="36576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b="1">
                <a:solidFill>
                  <a:srgbClr val="1AA79A"/>
                </a:solidFill>
                <a:latin typeface="맑은 고딕" panose="020B0503020000020004" pitchFamily="50" charset="-127"/>
              </a:rPr>
              <a:t>MCI</a:t>
            </a:r>
            <a:endParaRPr lang="ko-KR" altLang="en-US" b="1">
              <a:solidFill>
                <a:srgbClr val="1AA79A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13DFFA-C769-A1F3-7725-41B0A775A5AD}"/>
              </a:ext>
            </a:extLst>
          </p:cNvPr>
          <p:cNvSpPr txBox="1"/>
          <p:nvPr/>
        </p:nvSpPr>
        <p:spPr>
          <a:xfrm>
            <a:off x="8699500" y="35306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3000" b="1">
                <a:solidFill>
                  <a:srgbClr val="163F3C"/>
                </a:solidFill>
                <a:latin typeface="맑은 고딕" panose="020B0503020000020004" pitchFamily="50" charset="-127"/>
              </a:rPr>
              <a:t>+6.368</a:t>
            </a:r>
            <a:r>
              <a:rPr lang="ko-KR" altLang="en-US" sz="3000" b="1">
                <a:solidFill>
                  <a:srgbClr val="163F3C"/>
                </a:solidFill>
                <a:latin typeface="맑은 고딕" panose="020B0503020000020004" pitchFamily="50" charset="-127"/>
              </a:rPr>
              <a:t>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2C9E19-7CFD-10F9-6AEA-22264657B24D}"/>
              </a:ext>
            </a:extLst>
          </p:cNvPr>
          <p:cNvSpPr txBox="1"/>
          <p:nvPr/>
        </p:nvSpPr>
        <p:spPr>
          <a:xfrm>
            <a:off x="8699500" y="40386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1400">
                <a:solidFill>
                  <a:srgbClr val="52706C"/>
                </a:solidFill>
                <a:latin typeface="맑은 고딕" panose="020B0503020000020004" pitchFamily="50" charset="-127"/>
              </a:rPr>
              <a:t>CN </a:t>
            </a:r>
            <a:r>
              <a:rPr lang="ko-KR" altLang="en-US" sz="1400">
                <a:solidFill>
                  <a:srgbClr val="52706C"/>
                </a:solidFill>
                <a:latin typeface="맑은 고딕" panose="020B0503020000020004" pitchFamily="50" charset="-127"/>
              </a:rPr>
              <a:t>대비 보정 </a:t>
            </a:r>
            <a:r>
              <a:rPr lang="en-US" altLang="ko-KR" sz="1400">
                <a:solidFill>
                  <a:srgbClr val="52706C"/>
                </a:solidFill>
                <a:latin typeface="맑은 고딕" panose="020B0503020000020004" pitchFamily="50" charset="-127"/>
              </a:rPr>
              <a:t>BAG</a:t>
            </a:r>
            <a:endParaRPr lang="ko-KR" altLang="en-US" sz="1400">
              <a:solidFill>
                <a:srgbClr val="52706C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29694C5-42E5-987A-9B0B-7F11A32A6310}"/>
              </a:ext>
            </a:extLst>
          </p:cNvPr>
          <p:cNvCxnSpPr/>
          <p:nvPr/>
        </p:nvCxnSpPr>
        <p:spPr>
          <a:xfrm>
            <a:off x="7175500" y="4546600"/>
            <a:ext cx="3924300" cy="0"/>
          </a:xfrm>
          <a:prstGeom prst="line">
            <a:avLst/>
          </a:prstGeom>
          <a:ln w="12700">
            <a:solidFill>
              <a:srgbClr val="CAE2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29DFFA1-E484-6CFC-A435-2820F8BF336D}"/>
              </a:ext>
            </a:extLst>
          </p:cNvPr>
          <p:cNvSpPr txBox="1"/>
          <p:nvPr/>
        </p:nvSpPr>
        <p:spPr>
          <a:xfrm>
            <a:off x="7175500" y="49276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b="1">
                <a:solidFill>
                  <a:srgbClr val="075F5A"/>
                </a:solidFill>
                <a:latin typeface="맑은 고딕" panose="020B0503020000020004" pitchFamily="50" charset="-127"/>
              </a:rPr>
              <a:t>AD</a:t>
            </a:r>
            <a:endParaRPr lang="ko-KR" altLang="en-US" b="1">
              <a:solidFill>
                <a:srgbClr val="075F5A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E2E86E-E6F2-3D99-844A-9864C3569225}"/>
              </a:ext>
            </a:extLst>
          </p:cNvPr>
          <p:cNvSpPr txBox="1"/>
          <p:nvPr/>
        </p:nvSpPr>
        <p:spPr>
          <a:xfrm>
            <a:off x="8280400" y="4800600"/>
            <a:ext cx="2832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3000" b="1">
                <a:solidFill>
                  <a:srgbClr val="163F3C"/>
                </a:solidFill>
                <a:latin typeface="맑은 고딕" panose="020B0503020000020004" pitchFamily="50" charset="-127"/>
              </a:rPr>
              <a:t>+16.721</a:t>
            </a:r>
            <a:r>
              <a:rPr lang="ko-KR" altLang="en-US" sz="3000" b="1">
                <a:solidFill>
                  <a:srgbClr val="163F3C"/>
                </a:solidFill>
                <a:latin typeface="맑은 고딕" panose="020B0503020000020004" pitchFamily="50" charset="-127"/>
              </a:rPr>
              <a:t>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8FC59C-1E6B-D484-58CA-41CF87F28007}"/>
              </a:ext>
            </a:extLst>
          </p:cNvPr>
          <p:cNvSpPr txBox="1"/>
          <p:nvPr/>
        </p:nvSpPr>
        <p:spPr>
          <a:xfrm>
            <a:off x="8699500" y="53086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1400">
                <a:solidFill>
                  <a:srgbClr val="52706C"/>
                </a:solidFill>
                <a:latin typeface="맑은 고딕" panose="020B0503020000020004" pitchFamily="50" charset="-127"/>
              </a:rPr>
              <a:t>CN </a:t>
            </a:r>
            <a:r>
              <a:rPr lang="ko-KR" altLang="en-US" sz="1400">
                <a:solidFill>
                  <a:srgbClr val="52706C"/>
                </a:solidFill>
                <a:latin typeface="맑은 고딕" panose="020B0503020000020004" pitchFamily="50" charset="-127"/>
              </a:rPr>
              <a:t>대비 보정 </a:t>
            </a:r>
            <a:r>
              <a:rPr lang="en-US" altLang="ko-KR" sz="1400">
                <a:solidFill>
                  <a:srgbClr val="52706C"/>
                </a:solidFill>
                <a:latin typeface="맑은 고딕" panose="020B0503020000020004" pitchFamily="50" charset="-127"/>
              </a:rPr>
              <a:t>BAG</a:t>
            </a:r>
            <a:endParaRPr lang="ko-KR" altLang="en-US" sz="1400">
              <a:solidFill>
                <a:srgbClr val="52706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CE7CF9-9853-8F90-051F-A70A46B6E1CE}"/>
              </a:ext>
            </a:extLst>
          </p:cNvPr>
          <p:cNvSpPr txBox="1"/>
          <p:nvPr/>
        </p:nvSpPr>
        <p:spPr>
          <a:xfrm>
            <a:off x="609600" y="57785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altLang="ko-KR" sz="1300">
                <a:solidFill>
                  <a:srgbClr val="52706C"/>
                </a:solidFill>
                <a:latin typeface="맑은 고딕" panose="020B0503020000020004" pitchFamily="50" charset="-127"/>
              </a:rPr>
              <a:t>MCI-CN: Holm p = 5.289e-47 | AD-CN: Holm p = 2.817e-128</a:t>
            </a:r>
            <a:endParaRPr lang="ko-KR" altLang="en-US" sz="1300">
              <a:solidFill>
                <a:srgbClr val="52706C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7250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C7A840-4DEF-E49E-53A2-58A404EB0545}"/>
              </a:ext>
            </a:extLst>
          </p:cNvPr>
          <p:cNvSpPr/>
          <p:nvPr/>
        </p:nvSpPr>
        <p:spPr>
          <a:xfrm>
            <a:off x="3886200" y="1143000"/>
            <a:ext cx="4434840" cy="4434840"/>
          </a:xfrm>
          <a:prstGeom prst="rect">
            <a:avLst/>
          </a:prstGeom>
          <a:blipFill dpi="0" rotWithShape="1">
            <a:blip r:embed="rId2">
              <a:alphaModFix amt="7000"/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BE4183-E867-5291-7E63-1FCA254CBBCD}"/>
              </a:ext>
            </a:extLst>
          </p:cNvPr>
          <p:cNvSpPr txBox="1"/>
          <p:nvPr/>
        </p:nvSpPr>
        <p:spPr>
          <a:xfrm>
            <a:off x="786384" y="1024127"/>
            <a:ext cx="7406640" cy="3840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400">
                <a:solidFill>
                  <a:srgbClr val="BAE9E0"/>
                </a:solidFill>
                <a:latin typeface="Malgun Gothic" panose="020B0503020000020004" pitchFamily="50" charset="-127"/>
              </a:rPr>
              <a:t>숫자가 커졌다는 것은 알았습니다</a:t>
            </a:r>
            <a:r>
              <a:rPr lang="en-US" altLang="ko-KR" sz="2400">
                <a:solidFill>
                  <a:srgbClr val="BAE9E0"/>
                </a:solidFill>
                <a:latin typeface="Malgun Gothic" panose="020B0503020000020004" pitchFamily="50" charset="-127"/>
              </a:rPr>
              <a:t>.</a:t>
            </a:r>
            <a:endParaRPr lang="ko-KR" altLang="en-US" sz="2400">
              <a:solidFill>
                <a:srgbClr val="BAE9E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C4E1B7-1C88-3D82-BC5A-C304DC01E41C}"/>
              </a:ext>
            </a:extLst>
          </p:cNvPr>
          <p:cNvSpPr txBox="1"/>
          <p:nvPr/>
        </p:nvSpPr>
        <p:spPr>
          <a:xfrm>
            <a:off x="786384" y="1737359"/>
            <a:ext cx="7543800" cy="64008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4300" b="1">
                <a:solidFill>
                  <a:srgbClr val="FFFFFF"/>
                </a:solidFill>
                <a:latin typeface="Malgun Gothic" panose="020B0503020000020004" pitchFamily="50" charset="-127"/>
              </a:rPr>
              <a:t>그렇다면</a:t>
            </a:r>
            <a:r>
              <a:rPr lang="en-US" altLang="ko-KR" sz="4300" b="1">
                <a:solidFill>
                  <a:srgbClr val="FFFFFF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4300" b="1">
                <a:solidFill>
                  <a:srgbClr val="FFFFFF"/>
                </a:solidFill>
                <a:latin typeface="Malgun Gothic" panose="020B0503020000020004" pitchFamily="50" charset="-127"/>
              </a:rPr>
              <a:t>어느 부위일까요</a:t>
            </a:r>
            <a:r>
              <a:rPr lang="en-US" altLang="ko-KR" sz="4300" b="1">
                <a:solidFill>
                  <a:srgbClr val="FFFFFF"/>
                </a:solidFill>
                <a:latin typeface="Malgun Gothic" panose="020B0503020000020004" pitchFamily="50" charset="-127"/>
              </a:rPr>
              <a:t>?</a:t>
            </a:r>
            <a:endParaRPr lang="ko-KR" altLang="en-US" sz="43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AFC8F70-24B3-AB5F-814F-C8D86F09B208}"/>
              </a:ext>
            </a:extLst>
          </p:cNvPr>
          <p:cNvCxnSpPr/>
          <p:nvPr/>
        </p:nvCxnSpPr>
        <p:spPr>
          <a:xfrm>
            <a:off x="787400" y="3073400"/>
            <a:ext cx="1816100" cy="0"/>
          </a:xfrm>
          <a:prstGeom prst="line">
            <a:avLst/>
          </a:prstGeom>
          <a:ln w="31750">
            <a:solidFill>
              <a:srgbClr val="5BC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FCE133D-7714-BC98-F46B-98129A6B9430}"/>
              </a:ext>
            </a:extLst>
          </p:cNvPr>
          <p:cNvSpPr txBox="1"/>
          <p:nvPr/>
        </p:nvSpPr>
        <p:spPr>
          <a:xfrm>
            <a:off x="787400" y="3810000"/>
            <a:ext cx="149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3100" b="1">
                <a:solidFill>
                  <a:srgbClr val="5BCFBE"/>
                </a:solidFill>
                <a:latin typeface="맑은 고딕" panose="020B0503020000020004" pitchFamily="50" charset="-127"/>
              </a:rPr>
              <a:t>BAG</a:t>
            </a:r>
            <a:endParaRPr lang="ko-KR" altLang="en-US" sz="3100" b="1">
              <a:solidFill>
                <a:srgbClr val="5BCFB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6D6A69-40A8-A30F-2260-652C25BE3D11}"/>
              </a:ext>
            </a:extLst>
          </p:cNvPr>
          <p:cNvSpPr txBox="1"/>
          <p:nvPr/>
        </p:nvSpPr>
        <p:spPr>
          <a:xfrm>
            <a:off x="2438400" y="3810000"/>
            <a:ext cx="69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2800" b="1">
                <a:solidFill>
                  <a:srgbClr val="BAE9E0"/>
                </a:solidFill>
                <a:latin typeface="맑은 고딕" panose="020B0503020000020004" pitchFamily="50" charset="-127"/>
              </a:rPr>
              <a:t>→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DF5B10-B13E-A08F-E903-DA37D27A452D}"/>
              </a:ext>
            </a:extLst>
          </p:cNvPr>
          <p:cNvSpPr txBox="1"/>
          <p:nvPr/>
        </p:nvSpPr>
        <p:spPr>
          <a:xfrm>
            <a:off x="3302000" y="3810000"/>
            <a:ext cx="1841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3100" b="1">
                <a:solidFill>
                  <a:srgbClr val="7CDED1"/>
                </a:solidFill>
                <a:latin typeface="맑은 고딕" panose="020B0503020000020004" pitchFamily="50" charset="-127"/>
              </a:rPr>
              <a:t>ROI </a:t>
            </a:r>
            <a:r>
              <a:rPr lang="ko-KR" altLang="en-US" sz="3100" b="1">
                <a:solidFill>
                  <a:srgbClr val="7CDED1"/>
                </a:solidFill>
                <a:latin typeface="맑은 고딕" panose="020B0503020000020004" pitchFamily="50" charset="-127"/>
              </a:rPr>
              <a:t>근거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3DF0A9-F28E-A541-8108-B072912EBE2F}"/>
              </a:ext>
            </a:extLst>
          </p:cNvPr>
          <p:cNvSpPr txBox="1"/>
          <p:nvPr/>
        </p:nvSpPr>
        <p:spPr>
          <a:xfrm>
            <a:off x="5397500" y="3810000"/>
            <a:ext cx="69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2800" b="1">
                <a:solidFill>
                  <a:srgbClr val="BAE9E0"/>
                </a:solidFill>
                <a:latin typeface="맑은 고딕" panose="020B0503020000020004" pitchFamily="50" charset="-127"/>
              </a:rPr>
              <a:t>→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650196-B293-5711-6507-A423D21BEA66}"/>
              </a:ext>
            </a:extLst>
          </p:cNvPr>
          <p:cNvSpPr txBox="1"/>
          <p:nvPr/>
        </p:nvSpPr>
        <p:spPr>
          <a:xfrm>
            <a:off x="6261100" y="3810000"/>
            <a:ext cx="1841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3100" b="1">
                <a:solidFill>
                  <a:srgbClr val="5BCFBE"/>
                </a:solidFill>
                <a:latin typeface="맑은 고딕" panose="020B0503020000020004" pitchFamily="50" charset="-127"/>
              </a:rPr>
              <a:t>3D </a:t>
            </a:r>
            <a:r>
              <a:rPr lang="ko-KR" altLang="en-US" sz="3100" b="1">
                <a:solidFill>
                  <a:srgbClr val="5BCFBE"/>
                </a:solidFill>
                <a:latin typeface="맑은 고딕" panose="020B0503020000020004" pitchFamily="50" charset="-127"/>
              </a:rPr>
              <a:t>위치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81B706-67ED-1B57-3367-6D3C02E3B77A}"/>
              </a:ext>
            </a:extLst>
          </p:cNvPr>
          <p:cNvSpPr txBox="1"/>
          <p:nvPr/>
        </p:nvSpPr>
        <p:spPr>
          <a:xfrm>
            <a:off x="787400" y="49530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>
                <a:solidFill>
                  <a:srgbClr val="CAE2DD"/>
                </a:solidFill>
                <a:latin typeface="맑은 고딕" panose="020B0503020000020004" pitchFamily="50" charset="-127"/>
              </a:rPr>
              <a:t>숫자의 차이를 위치 정보로 해석합니다</a:t>
            </a:r>
            <a:r>
              <a:rPr lang="en-US" altLang="ko-KR">
                <a:solidFill>
                  <a:srgbClr val="CAE2DD"/>
                </a:solidFill>
                <a:latin typeface="맑은 고딕" panose="020B0503020000020004" pitchFamily="50" charset="-127"/>
              </a:rPr>
              <a:t>.</a:t>
            </a:r>
            <a:endParaRPr lang="ko-KR" altLang="en-US">
              <a:solidFill>
                <a:srgbClr val="CAE2DD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6290E2AF-6BFA-76A4-434D-1507AD2B9FF2}"/>
              </a:ext>
            </a:extLst>
          </p:cNvPr>
          <p:cNvCxnSpPr/>
          <p:nvPr/>
        </p:nvCxnSpPr>
        <p:spPr>
          <a:xfrm>
            <a:off x="609600" y="6388100"/>
            <a:ext cx="10972800" cy="0"/>
          </a:xfrm>
          <a:prstGeom prst="line">
            <a:avLst/>
          </a:prstGeom>
          <a:ln w="10160">
            <a:solidFill>
              <a:srgbClr val="3B54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754746B-217D-93AE-B182-B01C17C263F9}"/>
              </a:ext>
            </a:extLst>
          </p:cNvPr>
          <p:cNvSpPr txBox="1"/>
          <p:nvPr/>
        </p:nvSpPr>
        <p:spPr>
          <a:xfrm>
            <a:off x="609600" y="65278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950" dirty="0">
                <a:solidFill>
                  <a:srgbClr val="B5D7D0"/>
                </a:solidFill>
                <a:latin typeface="맑은 고딕" panose="020B0503020000020004" pitchFamily="50" charset="-127"/>
              </a:rPr>
              <a:t>ADNI </a:t>
            </a:r>
            <a:r>
              <a:rPr lang="ko-KR" altLang="en-US" sz="950" dirty="0">
                <a:solidFill>
                  <a:srgbClr val="B5D7D0"/>
                </a:solidFill>
                <a:latin typeface="맑은 고딕" panose="020B0503020000020004" pitchFamily="50" charset="-127"/>
              </a:rPr>
              <a:t>기반 뇌 연령 </a:t>
            </a:r>
            <a:r>
              <a:rPr lang="en-US" altLang="ko-KR" sz="950" dirty="0">
                <a:solidFill>
                  <a:srgbClr val="B5D7D0"/>
                </a:solidFill>
                <a:latin typeface="맑은 고딕" panose="020B0503020000020004" pitchFamily="50" charset="-127"/>
              </a:rPr>
              <a:t>BAG </a:t>
            </a:r>
            <a:r>
              <a:rPr lang="ko-KR" altLang="en-US" sz="950" dirty="0">
                <a:solidFill>
                  <a:srgbClr val="B5D7D0"/>
                </a:solidFill>
                <a:latin typeface="맑은 고딕" panose="020B0503020000020004" pitchFamily="50" charset="-127"/>
              </a:rPr>
              <a:t>분석</a:t>
            </a:r>
            <a:endParaRPr lang="en-US" altLang="ko-KR" sz="950" dirty="0">
              <a:solidFill>
                <a:srgbClr val="B5D7D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2DA361-6E86-F43E-0D06-70DF7925DF9B}"/>
              </a:ext>
            </a:extLst>
          </p:cNvPr>
          <p:cNvSpPr txBox="1"/>
          <p:nvPr/>
        </p:nvSpPr>
        <p:spPr>
          <a:xfrm>
            <a:off x="10604500" y="6527800"/>
            <a:ext cx="977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B5D7D0"/>
                </a:solidFill>
                <a:latin typeface="Malgun Gothic" panose="020B0503020000020004" pitchFamily="50" charset="-127"/>
              </a:rPr>
              <a:t>11 / 17</a:t>
            </a:r>
            <a:endParaRPr lang="ko-KR" altLang="en-US" sz="950">
              <a:solidFill>
                <a:srgbClr val="B5D7D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639078-9B1D-7F40-E4FA-8A242D1E0856}"/>
              </a:ext>
            </a:extLst>
          </p:cNvPr>
          <p:cNvSpPr txBox="1"/>
          <p:nvPr/>
        </p:nvSpPr>
        <p:spPr>
          <a:xfrm>
            <a:off x="8430768" y="2240280"/>
            <a:ext cx="260604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FFFFFF"/>
                </a:solidFill>
                <a:latin typeface="Malgun Gothic" panose="020B0503020000020004" pitchFamily="50" charset="-127"/>
              </a:rPr>
              <a:t>수치에서
위치로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4007F0-72B9-3D13-BD69-8BA026EC0E68}"/>
              </a:ext>
            </a:extLst>
          </p:cNvPr>
          <p:cNvSpPr txBox="1"/>
          <p:nvPr/>
        </p:nvSpPr>
        <p:spPr>
          <a:xfrm>
            <a:off x="8430768" y="3474720"/>
            <a:ext cx="27432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600">
                <a:solidFill>
                  <a:srgbClr val="BAE9E0"/>
                </a:solidFill>
                <a:latin typeface="Malgun Gothic" panose="020B0503020000020004" pitchFamily="50" charset="-127"/>
              </a:rPr>
              <a:t>높은 </a:t>
            </a:r>
            <a:r>
              <a:rPr lang="en-US" altLang="ko-KR" sz="1600">
                <a:solidFill>
                  <a:srgbClr val="BAE9E0"/>
                </a:solidFill>
                <a:latin typeface="Malgun Gothic" panose="020B0503020000020004" pitchFamily="50" charset="-127"/>
              </a:rPr>
              <a:t>BAG</a:t>
            </a:r>
            <a:r>
              <a:rPr lang="ko-KR" altLang="en-US" sz="1600">
                <a:solidFill>
                  <a:srgbClr val="BAE9E0"/>
                </a:solidFill>
                <a:latin typeface="Malgun Gothic" panose="020B0503020000020004" pitchFamily="50" charset="-127"/>
              </a:rPr>
              <a:t>가 어떤 </a:t>
            </a:r>
            <a:r>
              <a:rPr lang="en-US" altLang="ko-KR" sz="1600">
                <a:solidFill>
                  <a:srgbClr val="BAE9E0"/>
                </a:solidFill>
                <a:latin typeface="Malgun Gothic" panose="020B0503020000020004" pitchFamily="50" charset="-127"/>
              </a:rPr>
              <a:t>ROI</a:t>
            </a:r>
            <a:r>
              <a:rPr lang="ko-KR" altLang="en-US" sz="1600">
                <a:solidFill>
                  <a:srgbClr val="BAE9E0"/>
                </a:solidFill>
                <a:latin typeface="Malgun Gothic" panose="020B0503020000020004" pitchFamily="50" charset="-127"/>
              </a:rPr>
              <a:t>의
위축과 연결되는지
</a:t>
            </a:r>
            <a:r>
              <a:rPr lang="en-US" altLang="ko-KR" sz="1600">
                <a:solidFill>
                  <a:srgbClr val="BAE9E0"/>
                </a:solidFill>
                <a:latin typeface="Malgun Gothic" panose="020B0503020000020004" pitchFamily="50" charset="-127"/>
              </a:rPr>
              <a:t>3D </a:t>
            </a:r>
            <a:r>
              <a:rPr lang="ko-KR" altLang="en-US" sz="1600">
                <a:solidFill>
                  <a:srgbClr val="BAE9E0"/>
                </a:solidFill>
                <a:latin typeface="Malgun Gothic" panose="020B0503020000020004" pitchFamily="50" charset="-127"/>
              </a:rPr>
              <a:t>지도로 확인합니다</a:t>
            </a:r>
            <a:r>
              <a:rPr lang="en-US" altLang="ko-KR" sz="1600">
                <a:solidFill>
                  <a:srgbClr val="BAE9E0"/>
                </a:solidFill>
                <a:latin typeface="Malgun Gothic" panose="020B0503020000020004" pitchFamily="50" charset="-127"/>
              </a:rPr>
              <a:t>.</a:t>
            </a:r>
            <a:endParaRPr lang="ko-KR" altLang="en-US" sz="1600">
              <a:solidFill>
                <a:srgbClr val="BAE9E0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6438B1F-BD5A-C934-3B58-247977498788}"/>
              </a:ext>
            </a:extLst>
          </p:cNvPr>
          <p:cNvCxnSpPr/>
          <p:nvPr/>
        </p:nvCxnSpPr>
        <p:spPr>
          <a:xfrm>
            <a:off x="8065008" y="1828800"/>
            <a:ext cx="0" cy="2788920"/>
          </a:xfrm>
          <a:prstGeom prst="line">
            <a:avLst/>
          </a:prstGeom>
          <a:ln w="15240" cap="flat" cmpd="sng" algn="ctr">
            <a:solidFill>
              <a:srgbClr val="087069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0842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F89C12E8-849F-B544-D417-DD9C36E66AD7}"/>
              </a:ext>
            </a:extLst>
          </p:cNvPr>
          <p:cNvSpPr/>
          <p:nvPr/>
        </p:nvSpPr>
        <p:spPr>
          <a:xfrm>
            <a:off x="3886200" y="1143000"/>
            <a:ext cx="4434840" cy="4434840"/>
          </a:xfrm>
          <a:prstGeom prst="rect">
            <a:avLst/>
          </a:prstGeom>
          <a:blipFill dpi="0" rotWithShape="1">
            <a:blip r:embed="rId2">
              <a:alphaModFix amt="5000"/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558181-411E-B711-A1ED-21C7FBAD168D}"/>
              </a:ext>
            </a:extLst>
          </p:cNvPr>
          <p:cNvSpPr txBox="1"/>
          <p:nvPr/>
        </p:nvSpPr>
        <p:spPr>
          <a:xfrm>
            <a:off x="609600" y="5334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200" b="1">
                <a:solidFill>
                  <a:srgbClr val="087069"/>
                </a:solidFill>
                <a:latin typeface="맑은 고딕" panose="020B0503020000020004" pitchFamily="50" charset="-127"/>
              </a:rPr>
              <a:t>ROI </a:t>
            </a:r>
            <a:r>
              <a:rPr lang="ko-KR" altLang="en-US" sz="1200" b="1">
                <a:solidFill>
                  <a:srgbClr val="087069"/>
                </a:solidFill>
                <a:latin typeface="맑은 고딕" panose="020B0503020000020004" pitchFamily="50" charset="-127"/>
              </a:rPr>
              <a:t>수준 증거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A08E02-855D-3182-9F9D-AB3FF1CB8E7E}"/>
              </a:ext>
            </a:extLst>
          </p:cNvPr>
          <p:cNvSpPr txBox="1"/>
          <p:nvPr/>
        </p:nvSpPr>
        <p:spPr>
          <a:xfrm>
            <a:off x="609600" y="8382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3000" b="1">
                <a:solidFill>
                  <a:srgbClr val="163F3C"/>
                </a:solidFill>
                <a:latin typeface="맑은 고딕" panose="020B0503020000020004" pitchFamily="50" charset="-127"/>
              </a:rPr>
              <a:t>부위별 분석은 </a:t>
            </a:r>
            <a:r>
              <a:rPr lang="en-US" altLang="ko-KR" sz="3000" b="1">
                <a:solidFill>
                  <a:srgbClr val="163F3C"/>
                </a:solidFill>
                <a:latin typeface="맑은 고딕" panose="020B0503020000020004" pitchFamily="50" charset="-127"/>
              </a:rPr>
              <a:t>3D </a:t>
            </a:r>
            <a:r>
              <a:rPr lang="ko-KR" altLang="en-US" sz="3000" b="1">
                <a:solidFill>
                  <a:srgbClr val="163F3C"/>
                </a:solidFill>
                <a:latin typeface="맑은 고딕" panose="020B0503020000020004" pitchFamily="50" charset="-127"/>
              </a:rPr>
              <a:t>지도의 해석 근거를 제공합니다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0B6DFE1-AE11-380B-6B85-EE06E6B7D382}"/>
              </a:ext>
            </a:extLst>
          </p:cNvPr>
          <p:cNvCxnSpPr/>
          <p:nvPr/>
        </p:nvCxnSpPr>
        <p:spPr>
          <a:xfrm>
            <a:off x="609600" y="1536700"/>
            <a:ext cx="1295400" cy="0"/>
          </a:xfrm>
          <a:prstGeom prst="line">
            <a:avLst/>
          </a:prstGeom>
          <a:ln w="25400">
            <a:solidFill>
              <a:srgbClr val="0870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6306092-98B0-69D8-F1C7-570728173B22}"/>
              </a:ext>
            </a:extLst>
          </p:cNvPr>
          <p:cNvCxnSpPr/>
          <p:nvPr/>
        </p:nvCxnSpPr>
        <p:spPr>
          <a:xfrm>
            <a:off x="609600" y="6388100"/>
            <a:ext cx="10972800" cy="0"/>
          </a:xfrm>
          <a:prstGeom prst="line">
            <a:avLst/>
          </a:prstGeom>
          <a:ln w="10160">
            <a:solidFill>
              <a:srgbClr val="CAE2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CE3FA05-3733-7831-5960-AE2CAE790537}"/>
              </a:ext>
            </a:extLst>
          </p:cNvPr>
          <p:cNvSpPr txBox="1"/>
          <p:nvPr/>
        </p:nvSpPr>
        <p:spPr>
          <a:xfrm>
            <a:off x="609600" y="65278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950" dirty="0">
                <a:solidFill>
                  <a:srgbClr val="52706C"/>
                </a:solidFill>
                <a:latin typeface="맑은 고딕" panose="020B0503020000020004" pitchFamily="50" charset="-127"/>
              </a:rPr>
              <a:t>ADNI </a:t>
            </a:r>
            <a:r>
              <a:rPr lang="ko-KR" altLang="en-US" sz="950" dirty="0">
                <a:solidFill>
                  <a:srgbClr val="52706C"/>
                </a:solidFill>
                <a:latin typeface="맑은 고딕" panose="020B0503020000020004" pitchFamily="50" charset="-127"/>
              </a:rPr>
              <a:t>기반 뇌 연령 </a:t>
            </a:r>
            <a:r>
              <a:rPr lang="en-US" altLang="ko-KR" sz="950" dirty="0">
                <a:solidFill>
                  <a:srgbClr val="52706C"/>
                </a:solidFill>
                <a:latin typeface="맑은 고딕" panose="020B0503020000020004" pitchFamily="50" charset="-127"/>
              </a:rPr>
              <a:t>BAG </a:t>
            </a:r>
            <a:r>
              <a:rPr lang="ko-KR" altLang="en-US" sz="950" dirty="0">
                <a:solidFill>
                  <a:srgbClr val="52706C"/>
                </a:solidFill>
                <a:latin typeface="맑은 고딕" panose="020B0503020000020004" pitchFamily="50" charset="-127"/>
              </a:rPr>
              <a:t>분석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0BE5B1-6A29-8DCB-76E6-077DE90665F2}"/>
              </a:ext>
            </a:extLst>
          </p:cNvPr>
          <p:cNvSpPr txBox="1"/>
          <p:nvPr/>
        </p:nvSpPr>
        <p:spPr>
          <a:xfrm>
            <a:off x="10604500" y="6527800"/>
            <a:ext cx="977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52706C"/>
                </a:solidFill>
                <a:latin typeface="Malgun Gothic" panose="020B0503020000020004" pitchFamily="50" charset="-127"/>
              </a:rPr>
              <a:t>12 / 17</a:t>
            </a:r>
            <a:endParaRPr lang="ko-KR" altLang="en-US" sz="950">
              <a:solidFill>
                <a:srgbClr val="52706C"/>
              </a:solidFill>
              <a:latin typeface="Malgun Gothic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87C27B0-0572-8316-C2D4-122EEF98D3B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905000"/>
            <a:ext cx="6286500" cy="34544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663D550-CCAA-2E7B-E478-5F5B7EAB9B7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3000" y="2159000"/>
            <a:ext cx="4089400" cy="2794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1757A20-B50D-3472-A23F-A0716330BF1B}"/>
              </a:ext>
            </a:extLst>
          </p:cNvPr>
          <p:cNvSpPr txBox="1"/>
          <p:nvPr/>
        </p:nvSpPr>
        <p:spPr>
          <a:xfrm>
            <a:off x="609600" y="55118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087069"/>
                </a:solidFill>
                <a:latin typeface="맑은 고딕" panose="020B0503020000020004" pitchFamily="50" charset="-127"/>
              </a:rPr>
              <a:t>ROI </a:t>
            </a:r>
            <a:r>
              <a:rPr lang="ko-KR" altLang="en-US" sz="1600" b="1">
                <a:solidFill>
                  <a:srgbClr val="087069"/>
                </a:solidFill>
                <a:latin typeface="맑은 고딕" panose="020B0503020000020004" pitchFamily="50" charset="-127"/>
              </a:rPr>
              <a:t>상관관계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B925B4-7B74-9A91-F185-335942A7E818}"/>
              </a:ext>
            </a:extLst>
          </p:cNvPr>
          <p:cNvSpPr txBox="1"/>
          <p:nvPr/>
        </p:nvSpPr>
        <p:spPr>
          <a:xfrm>
            <a:off x="609600" y="57912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50">
                <a:solidFill>
                  <a:srgbClr val="52706C"/>
                </a:solidFill>
                <a:latin typeface="맑은 고딕" panose="020B0503020000020004" pitchFamily="50" charset="-127"/>
              </a:rPr>
              <a:t>나이와 상관이 큰 상위 </a:t>
            </a:r>
            <a:r>
              <a:rPr lang="en-US" altLang="ko-KR" sz="1250">
                <a:solidFill>
                  <a:srgbClr val="52706C"/>
                </a:solidFill>
                <a:latin typeface="맑은 고딕" panose="020B0503020000020004" pitchFamily="50" charset="-127"/>
              </a:rPr>
              <a:t>15</a:t>
            </a:r>
            <a:r>
              <a:rPr lang="ko-KR" altLang="en-US" sz="1250">
                <a:solidFill>
                  <a:srgbClr val="52706C"/>
                </a:solidFill>
                <a:latin typeface="맑은 고딕" panose="020B0503020000020004" pitchFamily="50" charset="-127"/>
              </a:rPr>
              <a:t>개 </a:t>
            </a:r>
            <a:r>
              <a:rPr lang="en-US" altLang="ko-KR" sz="1250">
                <a:solidFill>
                  <a:srgbClr val="52706C"/>
                </a:solidFill>
                <a:latin typeface="맑은 고딕" panose="020B0503020000020004" pitchFamily="50" charset="-127"/>
              </a:rPr>
              <a:t>ROI</a:t>
            </a:r>
            <a:r>
              <a:rPr lang="ko-KR" altLang="en-US" sz="1250">
                <a:solidFill>
                  <a:srgbClr val="52706C"/>
                </a:solidFill>
                <a:latin typeface="맑은 고딕" panose="020B0503020000020004" pitchFamily="50" charset="-127"/>
              </a:rPr>
              <a:t>의 탐색적 관계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C1F013-70D5-06E6-3937-F71C374DF2CB}"/>
              </a:ext>
            </a:extLst>
          </p:cNvPr>
          <p:cNvSpPr txBox="1"/>
          <p:nvPr/>
        </p:nvSpPr>
        <p:spPr>
          <a:xfrm>
            <a:off x="7493000" y="51308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00" b="1">
                <a:solidFill>
                  <a:srgbClr val="075F5A"/>
                </a:solidFill>
                <a:latin typeface="맑은 고딕" panose="020B0503020000020004" pitchFamily="50" charset="-127"/>
              </a:rPr>
              <a:t>상위 피질 취약 부위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4F6154-9927-FE79-AD64-70BD284EB078}"/>
              </a:ext>
            </a:extLst>
          </p:cNvPr>
          <p:cNvSpPr txBox="1"/>
          <p:nvPr/>
        </p:nvSpPr>
        <p:spPr>
          <a:xfrm>
            <a:off x="7493000" y="5422900"/>
            <a:ext cx="4089400" cy="438912"/>
          </a:xfrm>
          <a:prstGeom prst="rect">
            <a:avLst/>
          </a:prstGeom>
          <a:noFill/>
        </p:spPr>
        <p:txBody>
          <a:bodyPr vert="horz" wrap="square" lIns="27432" tIns="18288" rIns="27432" bIns="18288" rtlCol="0" anchor="t">
            <a:noAutofit/>
          </a:bodyPr>
          <a:lstStyle/>
          <a:p>
            <a:pPr algn="l"/>
            <a:r>
              <a:rPr sz="1350" b="0">
                <a:solidFill>
                  <a:srgbClr val="4F6B67"/>
                </a:solidFill>
                <a:latin typeface="Malgun Gothic"/>
              </a:rPr>
              <a:t>내후각피질(entorhinal)·중측두이랑 등에서</a:t>
            </a:r>
          </a:p>
          <a:p>
            <a:pPr algn="l"/>
            <a:r>
              <a:rPr sz="1350" b="0">
                <a:solidFill>
                  <a:srgbClr val="4F6B67"/>
                </a:solidFill>
                <a:latin typeface="Malgun Gothic"/>
              </a:rPr>
              <a:t>CN 기준 기대 두께보다 얇은 방향이 관찰됨</a:t>
            </a:r>
          </a:p>
        </p:txBody>
      </p:sp>
    </p:spTree>
    <p:extLst>
      <p:ext uri="{BB962C8B-B14F-4D97-AF65-F5344CB8AC3E}">
        <p14:creationId xmlns:p14="http://schemas.microsoft.com/office/powerpoint/2010/main" val="635209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22FE7211-3674-12BB-9AA1-6C0BFDDA12FF}"/>
              </a:ext>
            </a:extLst>
          </p:cNvPr>
          <p:cNvSpPr/>
          <p:nvPr/>
        </p:nvSpPr>
        <p:spPr>
          <a:xfrm>
            <a:off x="3886200" y="1143000"/>
            <a:ext cx="4434840" cy="4434840"/>
          </a:xfrm>
          <a:prstGeom prst="rect">
            <a:avLst/>
          </a:prstGeom>
          <a:blipFill dpi="0" rotWithShape="1">
            <a:blip r:embed="rId2">
              <a:alphaModFix amt="5000"/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10E586-7CBB-1E08-1BB3-70FADA049044}"/>
              </a:ext>
            </a:extLst>
          </p:cNvPr>
          <p:cNvSpPr txBox="1"/>
          <p:nvPr/>
        </p:nvSpPr>
        <p:spPr>
          <a:xfrm>
            <a:off x="609600" y="5334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200" b="1">
                <a:solidFill>
                  <a:srgbClr val="087069"/>
                </a:solidFill>
                <a:latin typeface="맑은 고딕" panose="020B0503020000020004" pitchFamily="50" charset="-127"/>
              </a:rPr>
              <a:t>RID</a:t>
            </a:r>
            <a:r>
              <a:rPr lang="ko-KR" altLang="en-US" sz="1200" b="1">
                <a:solidFill>
                  <a:srgbClr val="087069"/>
                </a:solidFill>
                <a:latin typeface="맑은 고딕" panose="020B0503020000020004" pitchFamily="50" charset="-127"/>
              </a:rPr>
              <a:t>별 개인 분석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5CFFC4-9D67-A648-114E-13BB37DE117B}"/>
              </a:ext>
            </a:extLst>
          </p:cNvPr>
          <p:cNvSpPr txBox="1"/>
          <p:nvPr/>
        </p:nvSpPr>
        <p:spPr>
          <a:xfrm>
            <a:off x="609600" y="8382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Malgun Gothic"/>
              </a:defRPr>
            </a:pPr>
            <a:r>
              <a:t>RID별 BAG와 부위명을 함께 해석합니다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2EC391F-14F3-EAFD-5FA7-C7B311751816}"/>
              </a:ext>
            </a:extLst>
          </p:cNvPr>
          <p:cNvCxnSpPr/>
          <p:nvPr/>
        </p:nvCxnSpPr>
        <p:spPr>
          <a:xfrm>
            <a:off x="609600" y="1536700"/>
            <a:ext cx="1295400" cy="0"/>
          </a:xfrm>
          <a:prstGeom prst="line">
            <a:avLst/>
          </a:prstGeom>
          <a:ln w="25400">
            <a:solidFill>
              <a:srgbClr val="0870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AC14ACA-3C55-6053-DC58-0793911A6374}"/>
              </a:ext>
            </a:extLst>
          </p:cNvPr>
          <p:cNvCxnSpPr/>
          <p:nvPr/>
        </p:nvCxnSpPr>
        <p:spPr>
          <a:xfrm>
            <a:off x="609600" y="6388100"/>
            <a:ext cx="10972800" cy="0"/>
          </a:xfrm>
          <a:prstGeom prst="line">
            <a:avLst/>
          </a:prstGeom>
          <a:ln w="10160">
            <a:solidFill>
              <a:srgbClr val="CAE2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ACFF09A-0539-2AB9-8EB8-C4F9DC4A5D2C}"/>
              </a:ext>
            </a:extLst>
          </p:cNvPr>
          <p:cNvSpPr txBox="1"/>
          <p:nvPr/>
        </p:nvSpPr>
        <p:spPr>
          <a:xfrm>
            <a:off x="609600" y="65278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950" dirty="0">
                <a:solidFill>
                  <a:srgbClr val="52706C"/>
                </a:solidFill>
                <a:latin typeface="맑은 고딕" panose="020B0503020000020004" pitchFamily="50" charset="-127"/>
              </a:rPr>
              <a:t>ADNI </a:t>
            </a:r>
            <a:r>
              <a:rPr lang="ko-KR" altLang="en-US" sz="950" dirty="0">
                <a:solidFill>
                  <a:srgbClr val="52706C"/>
                </a:solidFill>
                <a:latin typeface="맑은 고딕" panose="020B0503020000020004" pitchFamily="50" charset="-127"/>
              </a:rPr>
              <a:t>기반 뇌 연령 </a:t>
            </a:r>
            <a:r>
              <a:rPr lang="en-US" altLang="ko-KR" sz="950" dirty="0">
                <a:solidFill>
                  <a:srgbClr val="52706C"/>
                </a:solidFill>
                <a:latin typeface="맑은 고딕" panose="020B0503020000020004" pitchFamily="50" charset="-127"/>
              </a:rPr>
              <a:t>BAG </a:t>
            </a:r>
            <a:r>
              <a:rPr lang="ko-KR" altLang="en-US" sz="950" dirty="0">
                <a:solidFill>
                  <a:srgbClr val="52706C"/>
                </a:solidFill>
                <a:latin typeface="맑은 고딕" panose="020B0503020000020004" pitchFamily="50" charset="-127"/>
              </a:rPr>
              <a:t>분석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5F9120-2E10-3571-F309-D7116FCE5986}"/>
              </a:ext>
            </a:extLst>
          </p:cNvPr>
          <p:cNvSpPr txBox="1"/>
          <p:nvPr/>
        </p:nvSpPr>
        <p:spPr>
          <a:xfrm>
            <a:off x="10604500" y="6527800"/>
            <a:ext cx="977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52706C"/>
                </a:solidFill>
                <a:latin typeface="Malgun Gothic" panose="020B0503020000020004" pitchFamily="50" charset="-127"/>
              </a:rPr>
              <a:t>13 / 17</a:t>
            </a:r>
            <a:endParaRPr lang="ko-KR" altLang="en-US" sz="950">
              <a:solidFill>
                <a:srgbClr val="52706C"/>
              </a:solidFill>
              <a:latin typeface="Malgun Gothic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46743A5-AC56-60E2-B142-4A21507DFCB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879600"/>
            <a:ext cx="5461000" cy="3632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C75F080-2B21-B6BD-7A41-DD55191E52A2}"/>
              </a:ext>
            </a:extLst>
          </p:cNvPr>
          <p:cNvSpPr txBox="1"/>
          <p:nvPr/>
        </p:nvSpPr>
        <p:spPr>
          <a:xfrm>
            <a:off x="6858000" y="20574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700" b="1">
                <a:solidFill>
                  <a:srgbClr val="087069"/>
                </a:solidFill>
                <a:latin typeface="맑은 고딕" panose="020B0503020000020004" pitchFamily="50" charset="-127"/>
              </a:rPr>
              <a:t>RID 10 </a:t>
            </a:r>
            <a:r>
              <a:rPr lang="ko-KR" altLang="en-US" sz="1700" b="1">
                <a:solidFill>
                  <a:srgbClr val="087069"/>
                </a:solidFill>
                <a:latin typeface="맑은 고딕" panose="020B0503020000020004" pitchFamily="50" charset="-127"/>
              </a:rPr>
              <a:t>예시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7311C0-0686-B619-1979-DAC0408F58BF}"/>
              </a:ext>
            </a:extLst>
          </p:cNvPr>
          <p:cNvSpPr txBox="1"/>
          <p:nvPr/>
        </p:nvSpPr>
        <p:spPr>
          <a:xfrm>
            <a:off x="6858000" y="25146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100" b="1">
                <a:solidFill>
                  <a:srgbClr val="163F3C"/>
                </a:solidFill>
                <a:latin typeface="맑은 고딕" panose="020B0503020000020004" pitchFamily="50" charset="-127"/>
              </a:rPr>
              <a:t>AD | </a:t>
            </a:r>
            <a:r>
              <a:rPr lang="ko-KR" altLang="en-US" sz="2100" b="1">
                <a:solidFill>
                  <a:srgbClr val="163F3C"/>
                </a:solidFill>
                <a:latin typeface="맑은 고딕" panose="020B0503020000020004" pitchFamily="50" charset="-127"/>
              </a:rPr>
              <a:t>여성 </a:t>
            </a:r>
            <a:r>
              <a:rPr lang="en-US" altLang="ko-KR" sz="2100" b="1">
                <a:solidFill>
                  <a:srgbClr val="163F3C"/>
                </a:solidFill>
                <a:latin typeface="맑은 고딕" panose="020B0503020000020004" pitchFamily="50" charset="-127"/>
              </a:rPr>
              <a:t>| 74.0</a:t>
            </a:r>
            <a:r>
              <a:rPr lang="ko-KR" altLang="en-US" sz="2100" b="1">
                <a:solidFill>
                  <a:srgbClr val="163F3C"/>
                </a:solidFill>
                <a:latin typeface="맑은 고딕" panose="020B0503020000020004" pitchFamily="50" charset="-127"/>
              </a:rPr>
              <a:t>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13F67B-DA8F-F39F-B6EB-50B845213599}"/>
              </a:ext>
            </a:extLst>
          </p:cNvPr>
          <p:cNvSpPr txBox="1"/>
          <p:nvPr/>
        </p:nvSpPr>
        <p:spPr>
          <a:xfrm>
            <a:off x="6858000" y="3035300"/>
            <a:ext cx="355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800" b="1">
                <a:solidFill>
                  <a:srgbClr val="075F5A"/>
                </a:solidFill>
                <a:latin typeface="맑은 고딕" panose="020B0503020000020004" pitchFamily="50" charset="-127"/>
              </a:rPr>
              <a:t>보정 </a:t>
            </a:r>
            <a:r>
              <a:rPr lang="en-US" altLang="ko-KR" sz="2800" b="1">
                <a:solidFill>
                  <a:srgbClr val="075F5A"/>
                </a:solidFill>
                <a:latin typeface="맑은 고딕" panose="020B0503020000020004" pitchFamily="50" charset="-127"/>
              </a:rPr>
              <a:t>BAG  +2.85</a:t>
            </a:r>
            <a:r>
              <a:rPr lang="ko-KR" altLang="en-US" sz="2800" b="1">
                <a:solidFill>
                  <a:srgbClr val="075F5A"/>
                </a:solidFill>
                <a:latin typeface="맑은 고딕" panose="020B0503020000020004" pitchFamily="50" charset="-127"/>
              </a:rPr>
              <a:t>세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76EFA7C-6DE6-0980-5068-295FA212D673}"/>
              </a:ext>
            </a:extLst>
          </p:cNvPr>
          <p:cNvCxnSpPr/>
          <p:nvPr/>
        </p:nvCxnSpPr>
        <p:spPr>
          <a:xfrm>
            <a:off x="6858000" y="3746500"/>
            <a:ext cx="4241800" cy="0"/>
          </a:xfrm>
          <a:prstGeom prst="line">
            <a:avLst/>
          </a:prstGeom>
          <a:ln w="12700">
            <a:solidFill>
              <a:srgbClr val="CAE2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C737CFE-1EA1-50CF-80FE-A51A8D95C7C0}"/>
              </a:ext>
            </a:extLst>
          </p:cNvPr>
          <p:cNvSpPr txBox="1"/>
          <p:nvPr/>
        </p:nvSpPr>
        <p:spPr>
          <a:xfrm>
            <a:off x="609600" y="57785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>
              <a:defRPr sz="1050" b="0">
                <a:solidFill>
                  <a:srgbClr val="334155"/>
                </a:solidFill>
                <a:latin typeface="Malgun Gothic"/>
              </a:defRPr>
            </a:pPr>
            <a:r>
              <a:rPr dirty="0"/>
              <a:t>RID 10의 </a:t>
            </a:r>
            <a:r>
              <a:rPr dirty="0" err="1"/>
              <a:t>실제</a:t>
            </a:r>
            <a:r>
              <a:rPr dirty="0"/>
              <a:t> ROI </a:t>
            </a:r>
            <a:r>
              <a:rPr dirty="0" err="1"/>
              <a:t>정량값을</a:t>
            </a:r>
            <a:r>
              <a:rPr dirty="0"/>
              <a:t> </a:t>
            </a:r>
            <a:r>
              <a:rPr dirty="0" err="1"/>
              <a:t>표준</a:t>
            </a:r>
            <a:r>
              <a:rPr dirty="0"/>
              <a:t> fsaverage5 </a:t>
            </a:r>
            <a:r>
              <a:rPr dirty="0" err="1"/>
              <a:t>피질</a:t>
            </a:r>
            <a:r>
              <a:rPr dirty="0"/>
              <a:t> </a:t>
            </a:r>
            <a:r>
              <a:rPr dirty="0" err="1"/>
              <a:t>표면에</a:t>
            </a:r>
            <a:r>
              <a:rPr dirty="0"/>
              <a:t> </a:t>
            </a:r>
            <a:r>
              <a:rPr dirty="0" err="1"/>
              <a:t>투영한</a:t>
            </a:r>
            <a:r>
              <a:rPr dirty="0"/>
              <a:t> </a:t>
            </a:r>
            <a:r>
              <a:rPr dirty="0" err="1"/>
              <a:t>개인</a:t>
            </a:r>
            <a:r>
              <a:rPr dirty="0"/>
              <a:t> </a:t>
            </a:r>
            <a:r>
              <a:rPr dirty="0" err="1"/>
              <a:t>지도입니다</a:t>
            </a:r>
            <a:r>
              <a:rPr dirty="0"/>
              <a:t>.</a:t>
            </a:r>
            <a:endParaRPr lang="ko-KR" altLang="en-US" sz="1500" dirty="0">
              <a:solidFill>
                <a:srgbClr val="52706C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1389888" y="2679192"/>
            <a:ext cx="1426464" cy="603504"/>
          </a:xfrm>
          <a:prstGeom prst="line">
            <a:avLst/>
          </a:prstGeom>
          <a:ln w="1714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775204" y="3241548"/>
            <a:ext cx="82296" cy="82296"/>
          </a:xfrm>
          <a:prstGeom prst="ellipse">
            <a:avLst/>
          </a:prstGeom>
          <a:solidFill>
            <a:srgbClr val="0F766E"/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49808" y="2240280"/>
            <a:ext cx="1280160" cy="4389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18288" rIns="45720" bIns="18288" rtlCol="0" anchor="ctr"/>
          <a:lstStyle/>
          <a:p>
            <a:pPr algn="ctr">
              <a:defRPr sz="760" b="0">
                <a:solidFill>
                  <a:srgbClr val="334155"/>
                </a:solidFill>
                <a:latin typeface="Malgun Gothic"/>
              </a:defRPr>
            </a:pPr>
            <a:r>
              <a:rPr lang="en-US" sz="1000" dirty="0"/>
              <a:t>P</a:t>
            </a:r>
            <a:r>
              <a:rPr sz="1000" dirty="0"/>
              <a:t>recentral gyrus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3291840" y="2697480"/>
            <a:ext cx="1380743" cy="914400"/>
          </a:xfrm>
          <a:prstGeom prst="line">
            <a:avLst/>
          </a:prstGeom>
          <a:ln w="1714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3250692" y="3570732"/>
            <a:ext cx="82296" cy="82296"/>
          </a:xfrm>
          <a:prstGeom prst="ellipse">
            <a:avLst/>
          </a:prstGeom>
          <a:solidFill>
            <a:srgbClr val="0F766E"/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041648" y="2258568"/>
            <a:ext cx="1261872" cy="4389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18288" rIns="45720" bIns="18288" rtlCol="0" anchor="ctr"/>
          <a:lstStyle/>
          <a:p>
            <a:pPr algn="ctr">
              <a:defRPr sz="760" b="0">
                <a:solidFill>
                  <a:srgbClr val="334155"/>
                </a:solidFill>
                <a:latin typeface="Malgun Gothic"/>
              </a:defRPr>
            </a:pPr>
            <a:r>
              <a:rPr sz="1000" dirty="0"/>
              <a:t>Isthmus cingulate</a:t>
            </a:r>
          </a:p>
        </p:txBody>
      </p:sp>
      <p:cxnSp>
        <p:nvCxnSpPr>
          <p:cNvPr id="23" name="Connector 22"/>
          <p:cNvCxnSpPr/>
          <p:nvPr/>
        </p:nvCxnSpPr>
        <p:spPr>
          <a:xfrm flipH="1" flipV="1">
            <a:off x="3328416" y="3886200"/>
            <a:ext cx="1618488" cy="1289304"/>
          </a:xfrm>
          <a:prstGeom prst="line">
            <a:avLst/>
          </a:prstGeom>
          <a:ln w="1714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3287268" y="3845052"/>
            <a:ext cx="82296" cy="82296"/>
          </a:xfrm>
          <a:prstGeom prst="ellipse">
            <a:avLst/>
          </a:prstGeom>
          <a:solidFill>
            <a:srgbClr val="0F766E"/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297680" y="4736592"/>
            <a:ext cx="1298448" cy="4389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18288" rIns="45720" bIns="18288" rtlCol="0" anchor="ctr"/>
          <a:lstStyle/>
          <a:p>
            <a:pPr algn="ctr">
              <a:defRPr sz="760" b="0">
                <a:solidFill>
                  <a:srgbClr val="334155"/>
                </a:solidFill>
                <a:latin typeface="Malgun Gothic"/>
              </a:defRPr>
            </a:pPr>
            <a:r>
              <a:rPr sz="1000" dirty="0"/>
              <a:t>Banks of STS</a:t>
            </a:r>
          </a:p>
        </p:txBody>
      </p:sp>
      <p:pic>
        <p:nvPicPr>
          <p:cNvPr id="26" name="RID10_좌반구_회전_부위표시" descr="ADNI Plotly 3D brain surface rotation GIF"/>
          <p:cNvPicPr/>
          <p:nvPr/>
        </p:nvPicPr>
        <p:blipFill>
          <a:blip r:embed="rId4"/>
          <a:stretch>
            <a:fillRect/>
          </a:stretch>
        </p:blipFill>
        <p:spPr>
          <a:xfrm>
            <a:off x="713232" y="1883664"/>
            <a:ext cx="5248656" cy="3630168"/>
          </a:xfrm>
          <a:prstGeom prst="rect">
            <a:avLst/>
          </a:prstGeom>
        </p:spPr>
      </p:pic>
      <p:pic>
        <p:nvPicPr>
          <p:cNvPr id="27" name="RID10_좌반구_회전_부위표시" descr="ADNI Plotly 3D brain surface rotation GIF"/>
          <p:cNvPicPr/>
          <p:nvPr/>
        </p:nvPicPr>
        <p:blipFill>
          <a:blip r:embed="rId5"/>
          <a:stretch>
            <a:fillRect/>
          </a:stretch>
        </p:blipFill>
        <p:spPr>
          <a:xfrm>
            <a:off x="713232" y="1883664"/>
            <a:ext cx="5248656" cy="3630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428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직사각형 50">
            <a:extLst>
              <a:ext uri="{FF2B5EF4-FFF2-40B4-BE49-F238E27FC236}">
                <a16:creationId xmlns:a16="http://schemas.microsoft.com/office/drawing/2014/main" id="{26BBA696-8711-8E40-2318-103AE3086262}"/>
              </a:ext>
            </a:extLst>
          </p:cNvPr>
          <p:cNvSpPr/>
          <p:nvPr/>
        </p:nvSpPr>
        <p:spPr>
          <a:xfrm>
            <a:off x="3886200" y="1143000"/>
            <a:ext cx="4434840" cy="4434840"/>
          </a:xfrm>
          <a:prstGeom prst="rect">
            <a:avLst/>
          </a:prstGeom>
          <a:blipFill dpi="0" rotWithShape="1">
            <a:blip r:embed="rId2">
              <a:alphaModFix amt="5000"/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D0FF65-2338-9FFE-CE48-268A1A9A9F49}"/>
              </a:ext>
            </a:extLst>
          </p:cNvPr>
          <p:cNvSpPr txBox="1"/>
          <p:nvPr/>
        </p:nvSpPr>
        <p:spPr>
          <a:xfrm>
            <a:off x="609600" y="533400"/>
            <a:ext cx="469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087069"/>
                </a:solidFill>
                <a:latin typeface="맑은 고딕" panose="020B0503020000020004" pitchFamily="50" charset="-127"/>
              </a:rPr>
              <a:t>선정된 개인 사례 </a:t>
            </a:r>
            <a:r>
              <a:rPr lang="en-US" altLang="ko-KR" sz="1200" b="1">
                <a:solidFill>
                  <a:srgbClr val="087069"/>
                </a:solidFill>
                <a:latin typeface="맑은 고딕" panose="020B0503020000020004" pitchFamily="50" charset="-127"/>
              </a:rPr>
              <a:t>| </a:t>
            </a:r>
            <a:r>
              <a:rPr lang="ko-KR" altLang="en-US" sz="1200" b="1">
                <a:solidFill>
                  <a:srgbClr val="087069"/>
                </a:solidFill>
                <a:latin typeface="맑은 고딕" panose="020B0503020000020004" pitchFamily="50" charset="-127"/>
              </a:rPr>
              <a:t>연령 </a:t>
            </a:r>
            <a:r>
              <a:rPr lang="en-US" altLang="ko-KR" sz="1200" b="1">
                <a:solidFill>
                  <a:srgbClr val="087069"/>
                </a:solidFill>
                <a:latin typeface="맑은 고딕" panose="020B0503020000020004" pitchFamily="50" charset="-127"/>
              </a:rPr>
              <a:t>72.5–75.1</a:t>
            </a:r>
            <a:r>
              <a:rPr lang="ko-KR" altLang="en-US" sz="1200" b="1">
                <a:solidFill>
                  <a:srgbClr val="087069"/>
                </a:solidFill>
                <a:latin typeface="맑은 고딕" panose="020B0503020000020004" pitchFamily="50" charset="-127"/>
              </a:rPr>
              <a:t>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1F1A0B-D74C-DE85-8956-4839D239BB2B}"/>
              </a:ext>
            </a:extLst>
          </p:cNvPr>
          <p:cNvSpPr txBox="1"/>
          <p:nvPr/>
        </p:nvSpPr>
        <p:spPr>
          <a:xfrm>
            <a:off x="609600" y="8382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3000" b="1">
                <a:solidFill>
                  <a:srgbClr val="163F3C"/>
                </a:solidFill>
                <a:latin typeface="맑은 고딕" panose="020B0503020000020004" pitchFamily="50" charset="-127"/>
              </a:rPr>
              <a:t>비슷한 연령대에서도 개인별 </a:t>
            </a:r>
            <a:r>
              <a:rPr lang="en-US" altLang="ko-KR" sz="3000" b="1">
                <a:solidFill>
                  <a:srgbClr val="163F3C"/>
                </a:solidFill>
                <a:latin typeface="맑은 고딕" panose="020B0503020000020004" pitchFamily="50" charset="-127"/>
              </a:rPr>
              <a:t>BAG</a:t>
            </a:r>
            <a:r>
              <a:rPr lang="ko-KR" altLang="en-US" sz="3000" b="1">
                <a:solidFill>
                  <a:srgbClr val="163F3C"/>
                </a:solidFill>
                <a:latin typeface="맑은 고딕" panose="020B0503020000020004" pitchFamily="50" charset="-127"/>
              </a:rPr>
              <a:t>는 다릅니다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A41B271-9EF9-5C39-2338-70E46E2AD9EF}"/>
              </a:ext>
            </a:extLst>
          </p:cNvPr>
          <p:cNvCxnSpPr/>
          <p:nvPr/>
        </p:nvCxnSpPr>
        <p:spPr>
          <a:xfrm>
            <a:off x="609600" y="1536700"/>
            <a:ext cx="1676400" cy="0"/>
          </a:xfrm>
          <a:prstGeom prst="line">
            <a:avLst/>
          </a:prstGeom>
          <a:ln w="25400">
            <a:solidFill>
              <a:srgbClr val="0870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BEB8534-B159-9555-8C70-D6E90C16D51E}"/>
              </a:ext>
            </a:extLst>
          </p:cNvPr>
          <p:cNvSpPr txBox="1"/>
          <p:nvPr/>
        </p:nvSpPr>
        <p:spPr>
          <a:xfrm>
            <a:off x="609600" y="21590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400" b="1">
                <a:solidFill>
                  <a:srgbClr val="52706C"/>
                </a:solidFill>
                <a:latin typeface="맑은 고딕" panose="020B0503020000020004" pitchFamily="50" charset="-127"/>
              </a:rPr>
              <a:t>보정 </a:t>
            </a:r>
            <a:r>
              <a:rPr lang="en-US" altLang="ko-KR" sz="1400" b="1">
                <a:solidFill>
                  <a:srgbClr val="52706C"/>
                </a:solidFill>
                <a:latin typeface="맑은 고딕" panose="020B0503020000020004" pitchFamily="50" charset="-127"/>
              </a:rPr>
              <a:t>BAG(</a:t>
            </a:r>
            <a:r>
              <a:rPr lang="ko-KR" altLang="en-US" sz="1400" b="1">
                <a:solidFill>
                  <a:srgbClr val="52706C"/>
                </a:solidFill>
                <a:latin typeface="맑은 고딕" panose="020B0503020000020004" pitchFamily="50" charset="-127"/>
              </a:rPr>
              <a:t>세</a:t>
            </a:r>
            <a:r>
              <a:rPr lang="en-US" altLang="ko-KR" sz="1400" b="1">
                <a:solidFill>
                  <a:srgbClr val="52706C"/>
                </a:solidFill>
                <a:latin typeface="맑은 고딕" panose="020B0503020000020004" pitchFamily="50" charset="-127"/>
              </a:rPr>
              <a:t>)</a:t>
            </a:r>
            <a:endParaRPr lang="ko-KR" altLang="en-US" sz="1400" b="1">
              <a:solidFill>
                <a:srgbClr val="52706C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A554856-613F-A888-1194-949AE8C54FD9}"/>
              </a:ext>
            </a:extLst>
          </p:cNvPr>
          <p:cNvCxnSpPr/>
          <p:nvPr/>
        </p:nvCxnSpPr>
        <p:spPr>
          <a:xfrm>
            <a:off x="1041400" y="5295900"/>
            <a:ext cx="7594600" cy="0"/>
          </a:xfrm>
          <a:prstGeom prst="line">
            <a:avLst/>
          </a:prstGeom>
          <a:ln w="16510">
            <a:solidFill>
              <a:srgbClr val="5270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DF8D83A-59DB-F0FC-49CA-A8E2E565F3C2}"/>
              </a:ext>
            </a:extLst>
          </p:cNvPr>
          <p:cNvSpPr txBox="1"/>
          <p:nvPr/>
        </p:nvSpPr>
        <p:spPr>
          <a:xfrm>
            <a:off x="571500" y="5194300"/>
            <a:ext cx="33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1100">
                <a:solidFill>
                  <a:srgbClr val="52706C"/>
                </a:solidFill>
                <a:latin typeface="맑은 고딕" panose="020B0503020000020004" pitchFamily="50" charset="-127"/>
              </a:rPr>
              <a:t>0</a:t>
            </a:r>
            <a:endParaRPr lang="ko-KR" altLang="en-US" sz="1100">
              <a:solidFill>
                <a:srgbClr val="52706C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E63F46C-6D21-4011-BA9B-D0263382B02F}"/>
              </a:ext>
            </a:extLst>
          </p:cNvPr>
          <p:cNvCxnSpPr/>
          <p:nvPr/>
        </p:nvCxnSpPr>
        <p:spPr>
          <a:xfrm>
            <a:off x="1041400" y="4914900"/>
            <a:ext cx="7594600" cy="0"/>
          </a:xfrm>
          <a:prstGeom prst="line">
            <a:avLst/>
          </a:prstGeom>
          <a:ln w="8890">
            <a:solidFill>
              <a:srgbClr val="CAE2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1AE947-08E9-CA52-378B-01D50AA81900}"/>
              </a:ext>
            </a:extLst>
          </p:cNvPr>
          <p:cNvSpPr txBox="1"/>
          <p:nvPr/>
        </p:nvSpPr>
        <p:spPr>
          <a:xfrm>
            <a:off x="571500" y="4813300"/>
            <a:ext cx="33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1100">
                <a:solidFill>
                  <a:srgbClr val="52706C"/>
                </a:solidFill>
                <a:latin typeface="맑은 고딕" panose="020B0503020000020004" pitchFamily="50" charset="-127"/>
              </a:rPr>
              <a:t>5</a:t>
            </a:r>
            <a:endParaRPr lang="ko-KR" altLang="en-US" sz="1100">
              <a:solidFill>
                <a:srgbClr val="52706C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2CBC25D-8733-9E8F-9983-65015F1F23E5}"/>
              </a:ext>
            </a:extLst>
          </p:cNvPr>
          <p:cNvCxnSpPr/>
          <p:nvPr/>
        </p:nvCxnSpPr>
        <p:spPr>
          <a:xfrm>
            <a:off x="1041400" y="4533900"/>
            <a:ext cx="7594600" cy="0"/>
          </a:xfrm>
          <a:prstGeom prst="line">
            <a:avLst/>
          </a:prstGeom>
          <a:ln w="8890">
            <a:solidFill>
              <a:srgbClr val="CAE2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BC686F2-5A40-1875-6925-7230E494DF2E}"/>
              </a:ext>
            </a:extLst>
          </p:cNvPr>
          <p:cNvSpPr txBox="1"/>
          <p:nvPr/>
        </p:nvSpPr>
        <p:spPr>
          <a:xfrm>
            <a:off x="571500" y="4432300"/>
            <a:ext cx="33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1100">
                <a:solidFill>
                  <a:srgbClr val="52706C"/>
                </a:solidFill>
                <a:latin typeface="맑은 고딕" panose="020B0503020000020004" pitchFamily="50" charset="-127"/>
              </a:rPr>
              <a:t>10</a:t>
            </a:r>
            <a:endParaRPr lang="ko-KR" altLang="en-US" sz="1100">
              <a:solidFill>
                <a:srgbClr val="52706C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5D1EA6A-7F03-58E7-8670-B05F5ED1FC14}"/>
              </a:ext>
            </a:extLst>
          </p:cNvPr>
          <p:cNvCxnSpPr/>
          <p:nvPr/>
        </p:nvCxnSpPr>
        <p:spPr>
          <a:xfrm>
            <a:off x="1041400" y="4152900"/>
            <a:ext cx="7594600" cy="0"/>
          </a:xfrm>
          <a:prstGeom prst="line">
            <a:avLst/>
          </a:prstGeom>
          <a:ln w="8890">
            <a:solidFill>
              <a:srgbClr val="CAE2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F057800-9190-05A5-536D-72417061FF77}"/>
              </a:ext>
            </a:extLst>
          </p:cNvPr>
          <p:cNvSpPr txBox="1"/>
          <p:nvPr/>
        </p:nvSpPr>
        <p:spPr>
          <a:xfrm>
            <a:off x="571500" y="4051300"/>
            <a:ext cx="33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1100">
                <a:solidFill>
                  <a:srgbClr val="52706C"/>
                </a:solidFill>
                <a:latin typeface="맑은 고딕" panose="020B0503020000020004" pitchFamily="50" charset="-127"/>
              </a:rPr>
              <a:t>15</a:t>
            </a:r>
            <a:endParaRPr lang="ko-KR" altLang="en-US" sz="1100">
              <a:solidFill>
                <a:srgbClr val="52706C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E9BFAC64-EDA8-463B-8B80-97E9822FBCD9}"/>
              </a:ext>
            </a:extLst>
          </p:cNvPr>
          <p:cNvCxnSpPr/>
          <p:nvPr/>
        </p:nvCxnSpPr>
        <p:spPr>
          <a:xfrm>
            <a:off x="1041400" y="3771900"/>
            <a:ext cx="7594600" cy="0"/>
          </a:xfrm>
          <a:prstGeom prst="line">
            <a:avLst/>
          </a:prstGeom>
          <a:ln w="8890">
            <a:solidFill>
              <a:srgbClr val="CAE2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E248132-E95D-16D3-765F-17800EA4EE88}"/>
              </a:ext>
            </a:extLst>
          </p:cNvPr>
          <p:cNvSpPr txBox="1"/>
          <p:nvPr/>
        </p:nvSpPr>
        <p:spPr>
          <a:xfrm>
            <a:off x="571500" y="3670300"/>
            <a:ext cx="33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1100">
                <a:solidFill>
                  <a:srgbClr val="52706C"/>
                </a:solidFill>
                <a:latin typeface="맑은 고딕" panose="020B0503020000020004" pitchFamily="50" charset="-127"/>
              </a:rPr>
              <a:t>20</a:t>
            </a:r>
            <a:endParaRPr lang="ko-KR" altLang="en-US" sz="1100">
              <a:solidFill>
                <a:srgbClr val="52706C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E10130F8-C206-877A-1D4A-65CD235105D9}"/>
              </a:ext>
            </a:extLst>
          </p:cNvPr>
          <p:cNvCxnSpPr/>
          <p:nvPr/>
        </p:nvCxnSpPr>
        <p:spPr>
          <a:xfrm>
            <a:off x="1041400" y="3390900"/>
            <a:ext cx="7594600" cy="0"/>
          </a:xfrm>
          <a:prstGeom prst="line">
            <a:avLst/>
          </a:prstGeom>
          <a:ln w="8890">
            <a:solidFill>
              <a:srgbClr val="CAE2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5B90F13-4E51-6B30-6722-EC0226C7A4A6}"/>
              </a:ext>
            </a:extLst>
          </p:cNvPr>
          <p:cNvSpPr txBox="1"/>
          <p:nvPr/>
        </p:nvSpPr>
        <p:spPr>
          <a:xfrm>
            <a:off x="571500" y="3289300"/>
            <a:ext cx="33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1100">
                <a:solidFill>
                  <a:srgbClr val="52706C"/>
                </a:solidFill>
                <a:latin typeface="맑은 고딕" panose="020B0503020000020004" pitchFamily="50" charset="-127"/>
              </a:rPr>
              <a:t>25</a:t>
            </a:r>
            <a:endParaRPr lang="ko-KR" altLang="en-US" sz="1100">
              <a:solidFill>
                <a:srgbClr val="52706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8ECF3B7-BCB0-1EF5-EE20-2CB684223A21}"/>
              </a:ext>
            </a:extLst>
          </p:cNvPr>
          <p:cNvSpPr/>
          <p:nvPr/>
        </p:nvSpPr>
        <p:spPr>
          <a:xfrm>
            <a:off x="1282700" y="5257800"/>
            <a:ext cx="863600" cy="38100"/>
          </a:xfrm>
          <a:prstGeom prst="rect">
            <a:avLst/>
          </a:prstGeom>
          <a:solidFill>
            <a:srgbClr val="087069"/>
          </a:solidFill>
          <a:ln w="0">
            <a:solidFill>
              <a:srgbClr val="0870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61F940-0E0C-0074-9828-83999578012A}"/>
              </a:ext>
            </a:extLst>
          </p:cNvPr>
          <p:cNvSpPr txBox="1"/>
          <p:nvPr/>
        </p:nvSpPr>
        <p:spPr>
          <a:xfrm>
            <a:off x="1130300" y="49657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300" b="1">
                <a:solidFill>
                  <a:srgbClr val="087069"/>
                </a:solidFill>
                <a:latin typeface="맑은 고딕" panose="020B0503020000020004" pitchFamily="50" charset="-127"/>
              </a:rPr>
              <a:t>+0.45</a:t>
            </a:r>
            <a:endParaRPr lang="ko-KR" altLang="en-US" sz="1300" b="1">
              <a:solidFill>
                <a:srgbClr val="08706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839270-1E90-5D4C-DA0E-8569FB65CC43}"/>
              </a:ext>
            </a:extLst>
          </p:cNvPr>
          <p:cNvSpPr txBox="1"/>
          <p:nvPr/>
        </p:nvSpPr>
        <p:spPr>
          <a:xfrm>
            <a:off x="1143000" y="54864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500" b="1">
                <a:solidFill>
                  <a:srgbClr val="087069"/>
                </a:solidFill>
                <a:latin typeface="맑은 고딕" panose="020B0503020000020004" pitchFamily="50" charset="-127"/>
              </a:rPr>
              <a:t>CN</a:t>
            </a:r>
            <a:endParaRPr lang="ko-KR" altLang="en-US" sz="1500" b="1">
              <a:solidFill>
                <a:srgbClr val="08706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D2DFB1-E574-C772-4766-66373EF9C7DC}"/>
              </a:ext>
            </a:extLst>
          </p:cNvPr>
          <p:cNvSpPr txBox="1"/>
          <p:nvPr/>
        </p:nvSpPr>
        <p:spPr>
          <a:xfrm>
            <a:off x="1143000" y="57277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00">
                <a:solidFill>
                  <a:srgbClr val="163F3C"/>
                </a:solidFill>
                <a:latin typeface="맑은 고딕" panose="020B0503020000020004" pitchFamily="50" charset="-127"/>
              </a:rPr>
              <a:t>RID 360</a:t>
            </a:r>
            <a:endParaRPr lang="ko-KR" altLang="en-US" sz="1200">
              <a:solidFill>
                <a:srgbClr val="163F3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451222-0179-4888-0017-D0FA05E59202}"/>
              </a:ext>
            </a:extLst>
          </p:cNvPr>
          <p:cNvSpPr txBox="1"/>
          <p:nvPr/>
        </p:nvSpPr>
        <p:spPr>
          <a:xfrm>
            <a:off x="1143000" y="59436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100">
                <a:solidFill>
                  <a:srgbClr val="52706C"/>
                </a:solidFill>
                <a:latin typeface="맑은 고딕" panose="020B0503020000020004" pitchFamily="50" charset="-127"/>
              </a:rPr>
              <a:t>73.2</a:t>
            </a:r>
            <a:r>
              <a:rPr lang="ko-KR" altLang="en-US" sz="1100">
                <a:solidFill>
                  <a:srgbClr val="52706C"/>
                </a:solidFill>
                <a:latin typeface="맑은 고딕" panose="020B0503020000020004" pitchFamily="50" charset="-127"/>
              </a:rPr>
              <a:t>세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B9AAAE5-36B9-7D83-BE26-A790D5611A74}"/>
              </a:ext>
            </a:extLst>
          </p:cNvPr>
          <p:cNvSpPr/>
          <p:nvPr/>
        </p:nvSpPr>
        <p:spPr>
          <a:xfrm>
            <a:off x="2743200" y="4787900"/>
            <a:ext cx="863600" cy="508000"/>
          </a:xfrm>
          <a:prstGeom prst="rect">
            <a:avLst/>
          </a:prstGeom>
          <a:solidFill>
            <a:srgbClr val="1AA79A"/>
          </a:solidFill>
          <a:ln w="0">
            <a:solidFill>
              <a:srgbClr val="1AA7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164939-8126-B081-50DE-D3535B7F09FE}"/>
              </a:ext>
            </a:extLst>
          </p:cNvPr>
          <p:cNvSpPr txBox="1"/>
          <p:nvPr/>
        </p:nvSpPr>
        <p:spPr>
          <a:xfrm>
            <a:off x="2590800" y="44958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300" b="1">
                <a:solidFill>
                  <a:srgbClr val="1AA79A"/>
                </a:solidFill>
                <a:latin typeface="맑은 고딕" panose="020B0503020000020004" pitchFamily="50" charset="-127"/>
              </a:rPr>
              <a:t>+6.63</a:t>
            </a:r>
            <a:endParaRPr lang="ko-KR" altLang="en-US" sz="1300" b="1">
              <a:solidFill>
                <a:srgbClr val="1AA79A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0E96D6-69E4-25E6-604F-5F9C69A5B33C}"/>
              </a:ext>
            </a:extLst>
          </p:cNvPr>
          <p:cNvSpPr txBox="1"/>
          <p:nvPr/>
        </p:nvSpPr>
        <p:spPr>
          <a:xfrm>
            <a:off x="2603500" y="54864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500" b="1">
                <a:solidFill>
                  <a:srgbClr val="1AA79A"/>
                </a:solidFill>
                <a:latin typeface="맑은 고딕" panose="020B0503020000020004" pitchFamily="50" charset="-127"/>
              </a:rPr>
              <a:t>MCI</a:t>
            </a:r>
            <a:endParaRPr lang="ko-KR" altLang="en-US" sz="1500" b="1">
              <a:solidFill>
                <a:srgbClr val="1AA79A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B1DCB5-9B80-BCF2-AF69-0D782CF49E9C}"/>
              </a:ext>
            </a:extLst>
          </p:cNvPr>
          <p:cNvSpPr txBox="1"/>
          <p:nvPr/>
        </p:nvSpPr>
        <p:spPr>
          <a:xfrm>
            <a:off x="2603500" y="57277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00">
                <a:solidFill>
                  <a:srgbClr val="163F3C"/>
                </a:solidFill>
                <a:latin typeface="맑은 고딕" panose="020B0503020000020004" pitchFamily="50" charset="-127"/>
              </a:rPr>
              <a:t>RID 4251</a:t>
            </a:r>
            <a:endParaRPr lang="ko-KR" altLang="en-US" sz="1200">
              <a:solidFill>
                <a:srgbClr val="163F3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EE5A4F-9D97-F8EE-2DBF-0CF9E875408C}"/>
              </a:ext>
            </a:extLst>
          </p:cNvPr>
          <p:cNvSpPr txBox="1"/>
          <p:nvPr/>
        </p:nvSpPr>
        <p:spPr>
          <a:xfrm>
            <a:off x="2603500" y="59436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100">
                <a:solidFill>
                  <a:srgbClr val="52706C"/>
                </a:solidFill>
                <a:latin typeface="맑은 고딕" panose="020B0503020000020004" pitchFamily="50" charset="-127"/>
              </a:rPr>
              <a:t>72.5</a:t>
            </a:r>
            <a:r>
              <a:rPr lang="ko-KR" altLang="en-US" sz="1100">
                <a:solidFill>
                  <a:srgbClr val="52706C"/>
                </a:solidFill>
                <a:latin typeface="맑은 고딕" panose="020B0503020000020004" pitchFamily="50" charset="-127"/>
              </a:rPr>
              <a:t>세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055519E-639C-CEF2-AF2F-DC1EAEC4423E}"/>
              </a:ext>
            </a:extLst>
          </p:cNvPr>
          <p:cNvSpPr/>
          <p:nvPr/>
        </p:nvSpPr>
        <p:spPr>
          <a:xfrm>
            <a:off x="4203700" y="4508500"/>
            <a:ext cx="863600" cy="787400"/>
          </a:xfrm>
          <a:prstGeom prst="rect">
            <a:avLst/>
          </a:prstGeom>
          <a:solidFill>
            <a:srgbClr val="0F9084"/>
          </a:solidFill>
          <a:ln w="0">
            <a:solidFill>
              <a:srgbClr val="0F90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BAAEA1-EFCA-EF30-7748-58690488F525}"/>
              </a:ext>
            </a:extLst>
          </p:cNvPr>
          <p:cNvSpPr txBox="1"/>
          <p:nvPr/>
        </p:nvSpPr>
        <p:spPr>
          <a:xfrm>
            <a:off x="4051300" y="42164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300" b="1">
                <a:solidFill>
                  <a:srgbClr val="0F9084"/>
                </a:solidFill>
                <a:latin typeface="맑은 고딕" panose="020B0503020000020004" pitchFamily="50" charset="-127"/>
              </a:rPr>
              <a:t>+10.34</a:t>
            </a:r>
            <a:endParaRPr lang="ko-KR" altLang="en-US" sz="1300" b="1">
              <a:solidFill>
                <a:srgbClr val="0F908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E06C14-7E52-FE1B-4FFF-2528C48F4867}"/>
              </a:ext>
            </a:extLst>
          </p:cNvPr>
          <p:cNvSpPr txBox="1"/>
          <p:nvPr/>
        </p:nvSpPr>
        <p:spPr>
          <a:xfrm>
            <a:off x="4064000" y="54864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500" b="1">
                <a:solidFill>
                  <a:srgbClr val="0F9084"/>
                </a:solidFill>
                <a:latin typeface="맑은 고딕" panose="020B0503020000020004" pitchFamily="50" charset="-127"/>
              </a:rPr>
              <a:t>AD</a:t>
            </a:r>
            <a:endParaRPr lang="ko-KR" altLang="en-US" sz="1500" b="1">
              <a:solidFill>
                <a:srgbClr val="0F908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B5B3B1-885B-8A37-5A77-35CA9BC16718}"/>
              </a:ext>
            </a:extLst>
          </p:cNvPr>
          <p:cNvSpPr txBox="1"/>
          <p:nvPr/>
        </p:nvSpPr>
        <p:spPr>
          <a:xfrm>
            <a:off x="4064000" y="57277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00">
                <a:solidFill>
                  <a:srgbClr val="163F3C"/>
                </a:solidFill>
                <a:latin typeface="맑은 고딕" panose="020B0503020000020004" pitchFamily="50" charset="-127"/>
              </a:rPr>
              <a:t>RID 696</a:t>
            </a:r>
            <a:endParaRPr lang="ko-KR" altLang="en-US" sz="1200">
              <a:solidFill>
                <a:srgbClr val="163F3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8A4F76C-1DD9-C333-A6E4-8C752ED0B557}"/>
              </a:ext>
            </a:extLst>
          </p:cNvPr>
          <p:cNvSpPr txBox="1"/>
          <p:nvPr/>
        </p:nvSpPr>
        <p:spPr>
          <a:xfrm>
            <a:off x="4064000" y="59436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100">
                <a:solidFill>
                  <a:srgbClr val="52706C"/>
                </a:solidFill>
                <a:latin typeface="맑은 고딕" panose="020B0503020000020004" pitchFamily="50" charset="-127"/>
              </a:rPr>
              <a:t>74.2</a:t>
            </a:r>
            <a:r>
              <a:rPr lang="ko-KR" altLang="en-US" sz="1100">
                <a:solidFill>
                  <a:srgbClr val="52706C"/>
                </a:solidFill>
                <a:latin typeface="맑은 고딕" panose="020B0503020000020004" pitchFamily="50" charset="-127"/>
              </a:rPr>
              <a:t>세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C3A31A1-F237-19FF-F307-D1077F7C0F97}"/>
              </a:ext>
            </a:extLst>
          </p:cNvPr>
          <p:cNvSpPr/>
          <p:nvPr/>
        </p:nvSpPr>
        <p:spPr>
          <a:xfrm>
            <a:off x="5664200" y="4178300"/>
            <a:ext cx="863600" cy="1117600"/>
          </a:xfrm>
          <a:prstGeom prst="rect">
            <a:avLst/>
          </a:prstGeom>
          <a:solidFill>
            <a:srgbClr val="0C8076"/>
          </a:solidFill>
          <a:ln w="0">
            <a:solidFill>
              <a:srgbClr val="0C80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8A27318-7C5C-0884-0981-FCFB89428DD9}"/>
              </a:ext>
            </a:extLst>
          </p:cNvPr>
          <p:cNvSpPr txBox="1"/>
          <p:nvPr/>
        </p:nvSpPr>
        <p:spPr>
          <a:xfrm>
            <a:off x="5511800" y="38862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300" b="1">
                <a:solidFill>
                  <a:srgbClr val="0C8076"/>
                </a:solidFill>
                <a:latin typeface="맑은 고딕" panose="020B0503020000020004" pitchFamily="50" charset="-127"/>
              </a:rPr>
              <a:t>+14.67</a:t>
            </a:r>
            <a:endParaRPr lang="ko-KR" altLang="en-US" sz="1300" b="1">
              <a:solidFill>
                <a:srgbClr val="0C807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44D1BF0-4842-C7D6-8B72-2EDC6A3DDDF3}"/>
              </a:ext>
            </a:extLst>
          </p:cNvPr>
          <p:cNvSpPr txBox="1"/>
          <p:nvPr/>
        </p:nvSpPr>
        <p:spPr>
          <a:xfrm>
            <a:off x="5524500" y="54864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500" b="1">
                <a:solidFill>
                  <a:srgbClr val="0C8076"/>
                </a:solidFill>
                <a:latin typeface="맑은 고딕" panose="020B0503020000020004" pitchFamily="50" charset="-127"/>
              </a:rPr>
              <a:t>AD</a:t>
            </a:r>
            <a:endParaRPr lang="ko-KR" altLang="en-US" sz="1500" b="1">
              <a:solidFill>
                <a:srgbClr val="0C807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F401FE0-7549-E749-7721-D9F7BB6FC5B0}"/>
              </a:ext>
            </a:extLst>
          </p:cNvPr>
          <p:cNvSpPr txBox="1"/>
          <p:nvPr/>
        </p:nvSpPr>
        <p:spPr>
          <a:xfrm>
            <a:off x="5524500" y="57277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00">
                <a:solidFill>
                  <a:srgbClr val="163F3C"/>
                </a:solidFill>
                <a:latin typeface="맑은 고딕" panose="020B0503020000020004" pitchFamily="50" charset="-127"/>
              </a:rPr>
              <a:t>RID 6689</a:t>
            </a:r>
            <a:endParaRPr lang="ko-KR" altLang="en-US" sz="1200">
              <a:solidFill>
                <a:srgbClr val="163F3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5F11DB-92EC-3FE9-71AD-55AD0EF5487A}"/>
              </a:ext>
            </a:extLst>
          </p:cNvPr>
          <p:cNvSpPr txBox="1"/>
          <p:nvPr/>
        </p:nvSpPr>
        <p:spPr>
          <a:xfrm>
            <a:off x="5524500" y="59436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100">
                <a:solidFill>
                  <a:srgbClr val="52706C"/>
                </a:solidFill>
                <a:latin typeface="맑은 고딕" panose="020B0503020000020004" pitchFamily="50" charset="-127"/>
              </a:rPr>
              <a:t>75.1</a:t>
            </a:r>
            <a:r>
              <a:rPr lang="ko-KR" altLang="en-US" sz="1100">
                <a:solidFill>
                  <a:srgbClr val="52706C"/>
                </a:solidFill>
                <a:latin typeface="맑은 고딕" panose="020B0503020000020004" pitchFamily="50" charset="-127"/>
              </a:rPr>
              <a:t>세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4DEA86B-568C-6900-AD84-A6B2303D98D7}"/>
              </a:ext>
            </a:extLst>
          </p:cNvPr>
          <p:cNvSpPr/>
          <p:nvPr/>
        </p:nvSpPr>
        <p:spPr>
          <a:xfrm>
            <a:off x="7124700" y="3241842"/>
            <a:ext cx="863600" cy="2070100"/>
          </a:xfrm>
          <a:prstGeom prst="rect">
            <a:avLst/>
          </a:prstGeom>
          <a:solidFill>
            <a:srgbClr val="075F5A"/>
          </a:solidFill>
          <a:ln w="0">
            <a:solidFill>
              <a:srgbClr val="075F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A752823-1575-6E25-C80E-134BAE78782F}"/>
              </a:ext>
            </a:extLst>
          </p:cNvPr>
          <p:cNvSpPr txBox="1"/>
          <p:nvPr/>
        </p:nvSpPr>
        <p:spPr>
          <a:xfrm>
            <a:off x="6972300" y="29337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300" b="1">
                <a:solidFill>
                  <a:srgbClr val="075F5A"/>
                </a:solidFill>
                <a:latin typeface="맑은 고딕" panose="020B0503020000020004" pitchFamily="50" charset="-127"/>
              </a:rPr>
              <a:t>+27.23</a:t>
            </a:r>
            <a:endParaRPr lang="ko-KR" altLang="en-US" sz="1300" b="1">
              <a:solidFill>
                <a:srgbClr val="075F5A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D87738-0A6C-D6C4-8B33-6D98DF6F11BB}"/>
              </a:ext>
            </a:extLst>
          </p:cNvPr>
          <p:cNvSpPr txBox="1"/>
          <p:nvPr/>
        </p:nvSpPr>
        <p:spPr>
          <a:xfrm>
            <a:off x="6985000" y="54864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500" b="1">
                <a:solidFill>
                  <a:srgbClr val="075F5A"/>
                </a:solidFill>
                <a:latin typeface="맑은 고딕" panose="020B0503020000020004" pitchFamily="50" charset="-127"/>
              </a:rPr>
              <a:t>AD</a:t>
            </a:r>
            <a:endParaRPr lang="ko-KR" altLang="en-US" sz="1500" b="1">
              <a:solidFill>
                <a:srgbClr val="075F5A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D9DC0B2-A8A8-1D97-F8FB-C64E21C1D3FE}"/>
              </a:ext>
            </a:extLst>
          </p:cNvPr>
          <p:cNvSpPr txBox="1"/>
          <p:nvPr/>
        </p:nvSpPr>
        <p:spPr>
          <a:xfrm>
            <a:off x="6985000" y="57277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00">
                <a:solidFill>
                  <a:srgbClr val="163F3C"/>
                </a:solidFill>
                <a:latin typeface="맑은 고딕" panose="020B0503020000020004" pitchFamily="50" charset="-127"/>
              </a:rPr>
              <a:t>RID 183</a:t>
            </a:r>
            <a:endParaRPr lang="ko-KR" altLang="en-US" sz="1200">
              <a:solidFill>
                <a:srgbClr val="163F3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EA3539D-0D51-5235-A6FB-6E55EBCBEF6B}"/>
              </a:ext>
            </a:extLst>
          </p:cNvPr>
          <p:cNvSpPr txBox="1"/>
          <p:nvPr/>
        </p:nvSpPr>
        <p:spPr>
          <a:xfrm>
            <a:off x="6985000" y="59436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100" dirty="0">
                <a:solidFill>
                  <a:srgbClr val="52706C"/>
                </a:solidFill>
                <a:latin typeface="맑은 고딕" panose="020B0503020000020004" pitchFamily="50" charset="-127"/>
              </a:rPr>
              <a:t>73.1</a:t>
            </a:r>
            <a:r>
              <a:rPr lang="ko-KR" altLang="en-US" sz="1100" dirty="0">
                <a:solidFill>
                  <a:srgbClr val="52706C"/>
                </a:solidFill>
                <a:latin typeface="맑은 고딕" panose="020B0503020000020004" pitchFamily="50" charset="-127"/>
              </a:rPr>
              <a:t>세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CDDC0FC-2101-5524-1F83-4C731B5EDFD0}"/>
              </a:ext>
            </a:extLst>
          </p:cNvPr>
          <p:cNvSpPr/>
          <p:nvPr/>
        </p:nvSpPr>
        <p:spPr>
          <a:xfrm>
            <a:off x="9017000" y="2235200"/>
            <a:ext cx="2565400" cy="2667000"/>
          </a:xfrm>
          <a:prstGeom prst="rect">
            <a:avLst/>
          </a:prstGeom>
          <a:solidFill>
            <a:srgbClr val="F8FCFB"/>
          </a:solidFill>
          <a:ln w="10160">
            <a:solidFill>
              <a:srgbClr val="DBF0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40E8283-8B03-2DF1-E316-2E0AA8C7AA75}"/>
              </a:ext>
            </a:extLst>
          </p:cNvPr>
          <p:cNvSpPr txBox="1"/>
          <p:nvPr/>
        </p:nvSpPr>
        <p:spPr>
          <a:xfrm>
            <a:off x="9296400" y="2565400"/>
            <a:ext cx="2006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450" b="1">
                <a:solidFill>
                  <a:srgbClr val="087069"/>
                </a:solidFill>
                <a:latin typeface="맑은 고딕" panose="020B0503020000020004" pitchFamily="50" charset="-127"/>
              </a:rPr>
              <a:t>왜 </a:t>
            </a:r>
            <a:r>
              <a:rPr lang="en-US" altLang="ko-KR" sz="1450" b="1">
                <a:solidFill>
                  <a:srgbClr val="087069"/>
                </a:solidFill>
                <a:latin typeface="맑은 고딕" panose="020B0503020000020004" pitchFamily="50" charset="-127"/>
              </a:rPr>
              <a:t>AD </a:t>
            </a:r>
            <a:r>
              <a:rPr lang="ko-KR" altLang="en-US" sz="1450" b="1">
                <a:solidFill>
                  <a:srgbClr val="087069"/>
                </a:solidFill>
                <a:latin typeface="맑은 고딕" panose="020B0503020000020004" pitchFamily="50" charset="-127"/>
              </a:rPr>
              <a:t>내 </a:t>
            </a:r>
            <a:r>
              <a:rPr lang="en-US" altLang="ko-KR" sz="1450" b="1">
                <a:solidFill>
                  <a:srgbClr val="087069"/>
                </a:solidFill>
                <a:latin typeface="맑은 고딕" panose="020B0503020000020004" pitchFamily="50" charset="-127"/>
              </a:rPr>
              <a:t>BAG</a:t>
            </a:r>
            <a:r>
              <a:rPr lang="ko-KR" altLang="en-US" sz="1450" b="1">
                <a:solidFill>
                  <a:srgbClr val="087069"/>
                </a:solidFill>
                <a:latin typeface="맑은 고딕" panose="020B0503020000020004" pitchFamily="50" charset="-127"/>
              </a:rPr>
              <a:t>가 다를까</a:t>
            </a:r>
            <a:r>
              <a:rPr lang="en-US" altLang="ko-KR" sz="1450" b="1">
                <a:solidFill>
                  <a:srgbClr val="087069"/>
                </a:solidFill>
                <a:latin typeface="맑은 고딕" panose="020B0503020000020004" pitchFamily="50" charset="-127"/>
              </a:rPr>
              <a:t>?</a:t>
            </a:r>
            <a:endParaRPr lang="ko-KR" altLang="en-US" sz="1450" b="1">
              <a:solidFill>
                <a:srgbClr val="08706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F318A78-14C7-A282-DB0A-B3E70AC0466A}"/>
              </a:ext>
            </a:extLst>
          </p:cNvPr>
          <p:cNvSpPr txBox="1"/>
          <p:nvPr/>
        </p:nvSpPr>
        <p:spPr>
          <a:xfrm>
            <a:off x="9296400" y="3035300"/>
            <a:ext cx="2006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250">
                <a:solidFill>
                  <a:srgbClr val="163F3C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250">
                <a:solidFill>
                  <a:srgbClr val="163F3C"/>
                </a:solidFill>
                <a:latin typeface="맑은 고딕" panose="020B0503020000020004" pitchFamily="50" charset="-127"/>
              </a:rPr>
              <a:t>진단</a:t>
            </a:r>
            <a:r>
              <a:rPr lang="en-US" altLang="ko-KR" sz="1250">
                <a:solidFill>
                  <a:srgbClr val="163F3C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50">
                <a:solidFill>
                  <a:srgbClr val="163F3C"/>
                </a:solidFill>
                <a:latin typeface="맑은 고딕" panose="020B0503020000020004" pitchFamily="50" charset="-127"/>
              </a:rPr>
              <a:t>촬영 시점의 차이
</a:t>
            </a:r>
            <a:r>
              <a:rPr lang="en-US" altLang="ko-KR" sz="1250">
                <a:solidFill>
                  <a:srgbClr val="163F3C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250">
                <a:solidFill>
                  <a:srgbClr val="163F3C"/>
                </a:solidFill>
                <a:latin typeface="맑은 고딕" panose="020B0503020000020004" pitchFamily="50" charset="-127"/>
              </a:rPr>
              <a:t>위축 부위와 강도의 차이
</a:t>
            </a:r>
            <a:r>
              <a:rPr lang="en-US" altLang="ko-KR" sz="1250">
                <a:solidFill>
                  <a:srgbClr val="163F3C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250">
                <a:solidFill>
                  <a:srgbClr val="163F3C"/>
                </a:solidFill>
                <a:latin typeface="맑은 고딕" panose="020B0503020000020004" pitchFamily="50" charset="-127"/>
              </a:rPr>
              <a:t>모델이 남긴 개인차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928E244-4344-6B8D-893D-009B746201E6}"/>
              </a:ext>
            </a:extLst>
          </p:cNvPr>
          <p:cNvSpPr txBox="1"/>
          <p:nvPr/>
        </p:nvSpPr>
        <p:spPr>
          <a:xfrm>
            <a:off x="9296400" y="4013200"/>
            <a:ext cx="2006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50" b="1">
                <a:solidFill>
                  <a:srgbClr val="0C8076"/>
                </a:solidFill>
                <a:latin typeface="맑은 고딕" panose="020B0503020000020004" pitchFamily="50" charset="-127"/>
              </a:rPr>
              <a:t>진단은 범주형</a:t>
            </a:r>
            <a:r>
              <a:rPr lang="en-US" altLang="ko-KR" sz="1250" b="1">
                <a:solidFill>
                  <a:srgbClr val="0C8076"/>
                </a:solidFill>
                <a:latin typeface="맑은 고딕" panose="020B0503020000020004" pitchFamily="50" charset="-127"/>
              </a:rPr>
              <a:t>,
BAG</a:t>
            </a:r>
            <a:r>
              <a:rPr lang="ko-KR" altLang="en-US" sz="1250" b="1">
                <a:solidFill>
                  <a:srgbClr val="0C8076"/>
                </a:solidFill>
                <a:latin typeface="맑은 고딕" panose="020B0503020000020004" pitchFamily="50" charset="-127"/>
              </a:rPr>
              <a:t>는 연속적 </a:t>
            </a:r>
            <a:r>
              <a:rPr lang="en-US" altLang="ko-KR" sz="1250" b="1">
                <a:solidFill>
                  <a:srgbClr val="0C8076"/>
                </a:solidFill>
                <a:latin typeface="맑은 고딕" panose="020B0503020000020004" pitchFamily="50" charset="-127"/>
              </a:rPr>
              <a:t>MRI </a:t>
            </a:r>
            <a:r>
              <a:rPr lang="ko-KR" altLang="en-US" sz="1250" b="1">
                <a:solidFill>
                  <a:srgbClr val="0C8076"/>
                </a:solidFill>
                <a:latin typeface="맑은 고딕" panose="020B0503020000020004" pitchFamily="50" charset="-127"/>
              </a:rPr>
              <a:t>지표</a:t>
            </a: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35B218B9-BC62-CE60-C3B9-3EA04369EAD1}"/>
              </a:ext>
            </a:extLst>
          </p:cNvPr>
          <p:cNvCxnSpPr/>
          <p:nvPr/>
        </p:nvCxnSpPr>
        <p:spPr>
          <a:xfrm>
            <a:off x="609600" y="6388100"/>
            <a:ext cx="10972800" cy="0"/>
          </a:xfrm>
          <a:prstGeom prst="line">
            <a:avLst/>
          </a:prstGeom>
          <a:ln w="10160">
            <a:solidFill>
              <a:srgbClr val="CAE2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6CCEF799-483C-D1B8-B20D-DCC9CA27E793}"/>
              </a:ext>
            </a:extLst>
          </p:cNvPr>
          <p:cNvSpPr txBox="1"/>
          <p:nvPr/>
        </p:nvSpPr>
        <p:spPr>
          <a:xfrm>
            <a:off x="609600" y="65278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950" dirty="0">
                <a:solidFill>
                  <a:srgbClr val="52706C"/>
                </a:solidFill>
                <a:latin typeface="맑은 고딕" panose="020B0503020000020004" pitchFamily="50" charset="-127"/>
              </a:rPr>
              <a:t>ADNI </a:t>
            </a:r>
            <a:r>
              <a:rPr lang="ko-KR" altLang="en-US" sz="950" dirty="0">
                <a:solidFill>
                  <a:srgbClr val="52706C"/>
                </a:solidFill>
                <a:latin typeface="맑은 고딕" panose="020B0503020000020004" pitchFamily="50" charset="-127"/>
              </a:rPr>
              <a:t>기반 뇌 연령 </a:t>
            </a:r>
            <a:r>
              <a:rPr lang="en-US" altLang="ko-KR" sz="950" dirty="0">
                <a:solidFill>
                  <a:srgbClr val="52706C"/>
                </a:solidFill>
                <a:latin typeface="맑은 고딕" panose="020B0503020000020004" pitchFamily="50" charset="-127"/>
              </a:rPr>
              <a:t>BAG </a:t>
            </a:r>
            <a:r>
              <a:rPr lang="ko-KR" altLang="en-US" sz="950" dirty="0">
                <a:solidFill>
                  <a:srgbClr val="52706C"/>
                </a:solidFill>
                <a:latin typeface="맑은 고딕" panose="020B0503020000020004" pitchFamily="50" charset="-127"/>
              </a:rPr>
              <a:t>분석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51FFABC-6E81-7E01-1AEB-70ADE39C27B1}"/>
              </a:ext>
            </a:extLst>
          </p:cNvPr>
          <p:cNvSpPr txBox="1"/>
          <p:nvPr/>
        </p:nvSpPr>
        <p:spPr>
          <a:xfrm>
            <a:off x="10604500" y="6527800"/>
            <a:ext cx="977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52706C"/>
                </a:solidFill>
                <a:latin typeface="Malgun Gothic" panose="020B0503020000020004" pitchFamily="50" charset="-127"/>
              </a:rPr>
              <a:t>14 / 17</a:t>
            </a:r>
            <a:endParaRPr lang="ko-KR" altLang="en-US" sz="950">
              <a:solidFill>
                <a:srgbClr val="52706C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7301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ACBCF-06BD-BF2D-66B0-FC969AACB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10134E41-B059-85C7-E42E-DCD00413ACC4}"/>
              </a:ext>
            </a:extLst>
          </p:cNvPr>
          <p:cNvSpPr/>
          <p:nvPr/>
        </p:nvSpPr>
        <p:spPr>
          <a:xfrm>
            <a:off x="3886200" y="1143000"/>
            <a:ext cx="4434840" cy="4434840"/>
          </a:xfrm>
          <a:prstGeom prst="rect">
            <a:avLst/>
          </a:prstGeom>
          <a:blipFill dpi="0" rotWithShape="1">
            <a:blip r:embed="rId2">
              <a:alphaModFix amt="5000"/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C31C1F-C3F4-DD3C-BDD0-3B6F353A256A}"/>
              </a:ext>
            </a:extLst>
          </p:cNvPr>
          <p:cNvSpPr txBox="1"/>
          <p:nvPr/>
        </p:nvSpPr>
        <p:spPr>
          <a:xfrm>
            <a:off x="609600" y="5334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087069"/>
                </a:solidFill>
                <a:latin typeface="맑은 고딕" panose="020B0503020000020004" pitchFamily="50" charset="-127"/>
              </a:rPr>
              <a:t>개인 </a:t>
            </a:r>
            <a:r>
              <a:rPr lang="en-US" altLang="ko-KR" sz="1200" b="1">
                <a:solidFill>
                  <a:srgbClr val="087069"/>
                </a:solidFill>
                <a:latin typeface="맑은 고딕" panose="020B0503020000020004" pitchFamily="50" charset="-127"/>
              </a:rPr>
              <a:t>3D </a:t>
            </a:r>
            <a:r>
              <a:rPr lang="ko-KR" altLang="en-US" sz="1200" b="1">
                <a:solidFill>
                  <a:srgbClr val="087069"/>
                </a:solidFill>
                <a:latin typeface="맑은 고딕" panose="020B0503020000020004" pitchFamily="50" charset="-127"/>
              </a:rPr>
              <a:t>지도 다중 비교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600F9F-EC23-7CC3-4908-30D4E9A4B68B}"/>
              </a:ext>
            </a:extLst>
          </p:cNvPr>
          <p:cNvSpPr txBox="1"/>
          <p:nvPr/>
        </p:nvSpPr>
        <p:spPr>
          <a:xfrm>
            <a:off x="609600" y="8382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3000" b="1" dirty="0">
                <a:solidFill>
                  <a:srgbClr val="163F3C"/>
                </a:solidFill>
                <a:latin typeface="맑은 고딕" panose="020B0503020000020004" pitchFamily="50" charset="-127"/>
              </a:rPr>
              <a:t>BAG 0 </a:t>
            </a:r>
            <a:r>
              <a:rPr lang="ko-KR" altLang="en-US" sz="3000" b="1" dirty="0">
                <a:solidFill>
                  <a:srgbClr val="163F3C"/>
                </a:solidFill>
                <a:latin typeface="맑은 고딕" panose="020B0503020000020004" pitchFamily="50" charset="-127"/>
              </a:rPr>
              <a:t>근접 </a:t>
            </a:r>
            <a:r>
              <a:rPr lang="en-US" altLang="ko-KR" sz="3000" b="1" dirty="0">
                <a:solidFill>
                  <a:srgbClr val="163F3C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3000" b="1" dirty="0">
                <a:solidFill>
                  <a:srgbClr val="163F3C"/>
                </a:solidFill>
                <a:latin typeface="맑은 고딕" panose="020B0503020000020004" pitchFamily="50" charset="-127"/>
              </a:rPr>
              <a:t>중앙값 </a:t>
            </a:r>
            <a:r>
              <a:rPr lang="en-US" altLang="ko-KR" sz="3000" b="1" dirty="0">
                <a:solidFill>
                  <a:srgbClr val="163F3C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3000" b="1">
                <a:solidFill>
                  <a:srgbClr val="163F3C"/>
                </a:solidFill>
                <a:latin typeface="맑은 고딕" panose="020B0503020000020004" pitchFamily="50" charset="-127"/>
              </a:rPr>
              <a:t>최대값</a:t>
            </a:r>
            <a:r>
              <a:rPr lang="en-US" altLang="ko-KR" sz="3000" b="1">
                <a:solidFill>
                  <a:srgbClr val="163F3C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3000" b="1">
                <a:solidFill>
                  <a:srgbClr val="163F3C"/>
                </a:solidFill>
                <a:latin typeface="맑은 고딕" panose="020B0503020000020004" pitchFamily="50" charset="-127"/>
              </a:rPr>
              <a:t>비교</a:t>
            </a:r>
            <a:endParaRPr lang="ko-KR" altLang="en-US" sz="3000" b="1" dirty="0">
              <a:solidFill>
                <a:srgbClr val="163F3C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64121C1-2C54-6011-5F11-DD340B19BF2B}"/>
              </a:ext>
            </a:extLst>
          </p:cNvPr>
          <p:cNvCxnSpPr/>
          <p:nvPr/>
        </p:nvCxnSpPr>
        <p:spPr>
          <a:xfrm>
            <a:off x="609600" y="1536700"/>
            <a:ext cx="1295400" cy="0"/>
          </a:xfrm>
          <a:prstGeom prst="line">
            <a:avLst/>
          </a:prstGeom>
          <a:ln w="25400">
            <a:solidFill>
              <a:srgbClr val="0870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146795B-3F34-1ED6-F286-15DC364EE704}"/>
              </a:ext>
            </a:extLst>
          </p:cNvPr>
          <p:cNvCxnSpPr/>
          <p:nvPr/>
        </p:nvCxnSpPr>
        <p:spPr>
          <a:xfrm>
            <a:off x="609600" y="6388100"/>
            <a:ext cx="10972800" cy="0"/>
          </a:xfrm>
          <a:prstGeom prst="line">
            <a:avLst/>
          </a:prstGeom>
          <a:ln w="10160">
            <a:solidFill>
              <a:srgbClr val="CAE2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0CB7D6E-7D9F-F7F5-F7A5-E72188F6011C}"/>
              </a:ext>
            </a:extLst>
          </p:cNvPr>
          <p:cNvSpPr txBox="1"/>
          <p:nvPr/>
        </p:nvSpPr>
        <p:spPr>
          <a:xfrm>
            <a:off x="609600" y="65278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950" dirty="0">
                <a:solidFill>
                  <a:srgbClr val="52706C"/>
                </a:solidFill>
                <a:latin typeface="맑은 고딕" panose="020B0503020000020004" pitchFamily="50" charset="-127"/>
              </a:rPr>
              <a:t>ADNI </a:t>
            </a:r>
            <a:r>
              <a:rPr lang="ko-KR" altLang="en-US" sz="950" dirty="0">
                <a:solidFill>
                  <a:srgbClr val="52706C"/>
                </a:solidFill>
                <a:latin typeface="맑은 고딕" panose="020B0503020000020004" pitchFamily="50" charset="-127"/>
              </a:rPr>
              <a:t>기반 뇌 연령 </a:t>
            </a:r>
            <a:r>
              <a:rPr lang="en-US" altLang="ko-KR" sz="950" dirty="0">
                <a:solidFill>
                  <a:srgbClr val="52706C"/>
                </a:solidFill>
                <a:latin typeface="맑은 고딕" panose="020B0503020000020004" pitchFamily="50" charset="-127"/>
              </a:rPr>
              <a:t>BAG </a:t>
            </a:r>
            <a:r>
              <a:rPr lang="ko-KR" altLang="en-US" sz="950" dirty="0">
                <a:solidFill>
                  <a:srgbClr val="52706C"/>
                </a:solidFill>
                <a:latin typeface="맑은 고딕" panose="020B0503020000020004" pitchFamily="50" charset="-127"/>
              </a:rPr>
              <a:t>분석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8AFAE5-2C06-881C-AD50-6641699F8984}"/>
              </a:ext>
            </a:extLst>
          </p:cNvPr>
          <p:cNvSpPr txBox="1"/>
          <p:nvPr/>
        </p:nvSpPr>
        <p:spPr>
          <a:xfrm>
            <a:off x="10604500" y="6527800"/>
            <a:ext cx="977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52706C"/>
                </a:solidFill>
                <a:latin typeface="Malgun Gothic" panose="020B0503020000020004" pitchFamily="50" charset="-127"/>
              </a:rPr>
              <a:t>15 / 17</a:t>
            </a:r>
            <a:endParaRPr lang="ko-KR" altLang="en-US" sz="950">
              <a:solidFill>
                <a:srgbClr val="52706C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9C70BC-E9F6-D157-E980-90B3DCFA5AFC}"/>
              </a:ext>
            </a:extLst>
          </p:cNvPr>
          <p:cNvSpPr txBox="1"/>
          <p:nvPr/>
        </p:nvSpPr>
        <p:spPr>
          <a:xfrm>
            <a:off x="609600" y="57404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endParaRPr lang="ko-KR" altLang="en-US" sz="1500" dirty="0">
              <a:solidFill>
                <a:srgbClr val="52706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38E72DB-45BE-1FFA-F31A-44EDB485984B}"/>
              </a:ext>
            </a:extLst>
          </p:cNvPr>
          <p:cNvSpPr txBox="1"/>
          <p:nvPr/>
        </p:nvSpPr>
        <p:spPr>
          <a:xfrm>
            <a:off x="609600" y="1828800"/>
            <a:ext cx="3098800" cy="23114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500" b="1">
                <a:solidFill>
                  <a:srgbClr val="164148"/>
                </a:solidFill>
                <a:latin typeface="Malgun Gothic" panose="020B0503020000020004" pitchFamily="50" charset="-127"/>
              </a:rPr>
              <a:t>BAG 0</a:t>
            </a:r>
            <a:r>
              <a:rPr lang="ko-KR" altLang="en-US" sz="1500" b="1">
                <a:solidFill>
                  <a:srgbClr val="164148"/>
                </a:solidFill>
                <a:latin typeface="Malgun Gothic" panose="020B0503020000020004" pitchFamily="50" charset="-127"/>
              </a:rPr>
              <a:t>에 가까운 사례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39414A1-DDA8-090F-BA4D-1855457F8B50}"/>
              </a:ext>
            </a:extLst>
          </p:cNvPr>
          <p:cNvSpPr txBox="1"/>
          <p:nvPr/>
        </p:nvSpPr>
        <p:spPr>
          <a:xfrm>
            <a:off x="609600" y="5092700"/>
            <a:ext cx="3098800" cy="1841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200">
                <a:solidFill>
                  <a:srgbClr val="837C7D"/>
                </a:solidFill>
                <a:latin typeface="Malgun Gothic" panose="020B0503020000020004" pitchFamily="50" charset="-127"/>
              </a:rPr>
              <a:t>RID 6897 | MCI | 66.0</a:t>
            </a:r>
            <a:r>
              <a:rPr lang="ko-KR" altLang="en-US" sz="1200">
                <a:solidFill>
                  <a:srgbClr val="837C7D"/>
                </a:solidFill>
                <a:latin typeface="Malgun Gothic" panose="020B0503020000020004" pitchFamily="50" charset="-127"/>
              </a:rPr>
              <a:t>세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F63E495-6C6C-0BC7-5DE3-7D36C526433E}"/>
              </a:ext>
            </a:extLst>
          </p:cNvPr>
          <p:cNvSpPr txBox="1"/>
          <p:nvPr/>
        </p:nvSpPr>
        <p:spPr>
          <a:xfrm>
            <a:off x="609600" y="5333999"/>
            <a:ext cx="3098800" cy="24638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313030"/>
                </a:solidFill>
                <a:latin typeface="Malgun Gothic" panose="020B0503020000020004" pitchFamily="50" charset="-127"/>
              </a:rPr>
              <a:t>보정 </a:t>
            </a:r>
            <a:r>
              <a:rPr lang="en-US" altLang="ko-KR" sz="1600" b="1">
                <a:solidFill>
                  <a:srgbClr val="313030"/>
                </a:solidFill>
                <a:latin typeface="Malgun Gothic" panose="020B0503020000020004" pitchFamily="50" charset="-127"/>
              </a:rPr>
              <a:t>BAG -0.00</a:t>
            </a:r>
            <a:r>
              <a:rPr lang="ko-KR" altLang="en-US" sz="1600" b="1">
                <a:solidFill>
                  <a:srgbClr val="313030"/>
                </a:solidFill>
                <a:latin typeface="Malgun Gothic" panose="020B0503020000020004" pitchFamily="50" charset="-127"/>
              </a:rPr>
              <a:t>년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01BF5E-8FA7-AF77-D2F1-490FB6A63CF8}"/>
              </a:ext>
            </a:extLst>
          </p:cNvPr>
          <p:cNvSpPr txBox="1"/>
          <p:nvPr/>
        </p:nvSpPr>
        <p:spPr>
          <a:xfrm>
            <a:off x="4546600" y="1828800"/>
            <a:ext cx="3098800" cy="23114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500" b="1">
                <a:solidFill>
                  <a:srgbClr val="164148"/>
                </a:solidFill>
                <a:latin typeface="Malgun Gothic" panose="020B0503020000020004" pitchFamily="50" charset="-127"/>
              </a:rPr>
              <a:t>BAG </a:t>
            </a:r>
            <a:r>
              <a:rPr lang="ko-KR" altLang="en-US" sz="1500" b="1">
                <a:solidFill>
                  <a:srgbClr val="164148"/>
                </a:solidFill>
                <a:latin typeface="Malgun Gothic" panose="020B0503020000020004" pitchFamily="50" charset="-127"/>
              </a:rPr>
              <a:t>중앙값 사례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507D4D-0255-D285-0058-6E4CCD60A34B}"/>
              </a:ext>
            </a:extLst>
          </p:cNvPr>
          <p:cNvSpPr txBox="1"/>
          <p:nvPr/>
        </p:nvSpPr>
        <p:spPr>
          <a:xfrm>
            <a:off x="4546600" y="5092700"/>
            <a:ext cx="3098800" cy="1841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200">
                <a:solidFill>
                  <a:srgbClr val="837C7D"/>
                </a:solidFill>
                <a:latin typeface="Malgun Gothic" panose="020B0503020000020004" pitchFamily="50" charset="-127"/>
              </a:rPr>
              <a:t>RID 2315 | MCI | 68.4</a:t>
            </a:r>
            <a:r>
              <a:rPr lang="ko-KR" altLang="en-US" sz="1200">
                <a:solidFill>
                  <a:srgbClr val="837C7D"/>
                </a:solidFill>
                <a:latin typeface="Malgun Gothic" panose="020B0503020000020004" pitchFamily="50" charset="-127"/>
              </a:rPr>
              <a:t>세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24EFD6E-E8C6-81C2-1979-679433BC13A3}"/>
              </a:ext>
            </a:extLst>
          </p:cNvPr>
          <p:cNvSpPr txBox="1"/>
          <p:nvPr/>
        </p:nvSpPr>
        <p:spPr>
          <a:xfrm>
            <a:off x="4546600" y="5333999"/>
            <a:ext cx="3098800" cy="24638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313030"/>
                </a:solidFill>
                <a:latin typeface="Malgun Gothic" panose="020B0503020000020004" pitchFamily="50" charset="-127"/>
              </a:rPr>
              <a:t>보정 </a:t>
            </a:r>
            <a:r>
              <a:rPr lang="en-US" altLang="ko-KR" sz="1600" b="1">
                <a:solidFill>
                  <a:srgbClr val="313030"/>
                </a:solidFill>
                <a:latin typeface="Malgun Gothic" panose="020B0503020000020004" pitchFamily="50" charset="-127"/>
              </a:rPr>
              <a:t>BAG +5.40</a:t>
            </a:r>
            <a:r>
              <a:rPr lang="ko-KR" altLang="en-US" sz="1600" b="1">
                <a:solidFill>
                  <a:srgbClr val="313030"/>
                </a:solidFill>
                <a:latin typeface="Malgun Gothic" panose="020B0503020000020004" pitchFamily="50" charset="-127"/>
              </a:rPr>
              <a:t>년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247F1C5-2B2E-F2E6-262F-886C70CE9DE4}"/>
              </a:ext>
            </a:extLst>
          </p:cNvPr>
          <p:cNvSpPr txBox="1"/>
          <p:nvPr/>
        </p:nvSpPr>
        <p:spPr>
          <a:xfrm>
            <a:off x="8483600" y="1828800"/>
            <a:ext cx="3098800" cy="23114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500" b="1">
                <a:solidFill>
                  <a:srgbClr val="164148"/>
                </a:solidFill>
                <a:latin typeface="Malgun Gothic" panose="020B0503020000020004" pitchFamily="50" charset="-127"/>
              </a:rPr>
              <a:t>BAG </a:t>
            </a:r>
            <a:r>
              <a:rPr lang="ko-KR" altLang="en-US" sz="1500" b="1">
                <a:solidFill>
                  <a:srgbClr val="164148"/>
                </a:solidFill>
                <a:latin typeface="Malgun Gothic" panose="020B0503020000020004" pitchFamily="50" charset="-127"/>
              </a:rPr>
              <a:t>최대 사례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AD9FBA-B6F8-FF74-0FFB-460A9E3843BD}"/>
              </a:ext>
            </a:extLst>
          </p:cNvPr>
          <p:cNvSpPr txBox="1"/>
          <p:nvPr/>
        </p:nvSpPr>
        <p:spPr>
          <a:xfrm>
            <a:off x="8483600" y="5092700"/>
            <a:ext cx="3098800" cy="1841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200">
                <a:solidFill>
                  <a:srgbClr val="837C7D"/>
                </a:solidFill>
                <a:latin typeface="Malgun Gothic" panose="020B0503020000020004" pitchFamily="50" charset="-127"/>
              </a:rPr>
              <a:t>RID 1382 | AD | 64.9</a:t>
            </a:r>
            <a:r>
              <a:rPr lang="ko-KR" altLang="en-US" sz="1200">
                <a:solidFill>
                  <a:srgbClr val="837C7D"/>
                </a:solidFill>
                <a:latin typeface="Malgun Gothic" panose="020B0503020000020004" pitchFamily="50" charset="-127"/>
              </a:rPr>
              <a:t>세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9F8A20A-8F70-0B8F-696F-4DDA4591CF10}"/>
              </a:ext>
            </a:extLst>
          </p:cNvPr>
          <p:cNvSpPr txBox="1"/>
          <p:nvPr/>
        </p:nvSpPr>
        <p:spPr>
          <a:xfrm>
            <a:off x="8483600" y="5333999"/>
            <a:ext cx="3098800" cy="24638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313030"/>
                </a:solidFill>
                <a:latin typeface="Malgun Gothic" panose="020B0503020000020004" pitchFamily="50" charset="-127"/>
              </a:rPr>
              <a:t>보정 </a:t>
            </a:r>
            <a:r>
              <a:rPr lang="en-US" altLang="ko-KR" sz="1600" b="1">
                <a:solidFill>
                  <a:srgbClr val="313030"/>
                </a:solidFill>
                <a:latin typeface="Malgun Gothic" panose="020B0503020000020004" pitchFamily="50" charset="-127"/>
              </a:rPr>
              <a:t>BAG +51.81</a:t>
            </a:r>
            <a:r>
              <a:rPr lang="ko-KR" altLang="en-US" sz="1600" b="1">
                <a:solidFill>
                  <a:srgbClr val="313030"/>
                </a:solidFill>
                <a:latin typeface="Malgun Gothic" panose="020B0503020000020004" pitchFamily="50" charset="-127"/>
              </a:rPr>
              <a:t>년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FE027A1-31B2-6658-075F-023918B65107}"/>
              </a:ext>
            </a:extLst>
          </p:cNvPr>
          <p:cNvSpPr txBox="1"/>
          <p:nvPr/>
        </p:nvSpPr>
        <p:spPr>
          <a:xfrm>
            <a:off x="609600" y="5605272"/>
            <a:ext cx="5519140" cy="14914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l">
              <a:defRPr sz="969" b="0">
                <a:solidFill>
                  <a:srgbClr val="334155"/>
                </a:solidFill>
                <a:latin typeface="Malgun Gothic"/>
              </a:defRPr>
            </a:pPr>
            <a:r>
              <a:rPr lang="ko-KR" altLang="en-US" dirty="0"/>
              <a:t> </a:t>
            </a:r>
            <a:r>
              <a:rPr dirty="0" err="1"/>
              <a:t>화살표는</a:t>
            </a:r>
            <a:r>
              <a:rPr dirty="0"/>
              <a:t> </a:t>
            </a:r>
            <a:r>
              <a:rPr dirty="0" err="1"/>
              <a:t>동일한</a:t>
            </a:r>
            <a:r>
              <a:rPr dirty="0"/>
              <a:t> </a:t>
            </a:r>
            <a:r>
              <a:rPr dirty="0" err="1"/>
              <a:t>전두엽·두정엽·측두엽</a:t>
            </a:r>
            <a:r>
              <a:rPr dirty="0"/>
              <a:t> </a:t>
            </a:r>
            <a:r>
              <a:rPr dirty="0" err="1"/>
              <a:t>위치를</a:t>
            </a:r>
            <a:r>
              <a:rPr dirty="0"/>
              <a:t> </a:t>
            </a:r>
            <a:r>
              <a:rPr dirty="0" err="1"/>
              <a:t>가리키며</a:t>
            </a:r>
            <a:r>
              <a:rPr dirty="0"/>
              <a:t>, </a:t>
            </a:r>
            <a:r>
              <a:rPr dirty="0" err="1"/>
              <a:t>색은</a:t>
            </a:r>
            <a:r>
              <a:rPr dirty="0"/>
              <a:t> </a:t>
            </a:r>
            <a:r>
              <a:rPr dirty="0" err="1"/>
              <a:t>개인</a:t>
            </a:r>
            <a:r>
              <a:rPr dirty="0"/>
              <a:t> </a:t>
            </a:r>
            <a:r>
              <a:rPr dirty="0" err="1"/>
              <a:t>피질</a:t>
            </a:r>
            <a:r>
              <a:rPr dirty="0"/>
              <a:t> </a:t>
            </a:r>
            <a:r>
              <a:rPr dirty="0" err="1"/>
              <a:t>노화</a:t>
            </a:r>
            <a:r>
              <a:rPr dirty="0"/>
              <a:t> </a:t>
            </a:r>
            <a:r>
              <a:rPr dirty="0" err="1"/>
              <a:t>부담</a:t>
            </a:r>
            <a:r>
              <a:rPr dirty="0"/>
              <a:t> z </a:t>
            </a:r>
            <a:r>
              <a:rPr dirty="0" err="1"/>
              <a:t>점수입니다</a:t>
            </a:r>
            <a:r>
              <a:rPr dirty="0"/>
              <a:t>.</a:t>
            </a:r>
            <a:endParaRPr lang="ko-KR" altLang="en-US" sz="1200" dirty="0">
              <a:solidFill>
                <a:srgbClr val="837C7D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91E1C3-9B81-C617-A45B-B8CD2037B89B}"/>
              </a:ext>
            </a:extLst>
          </p:cNvPr>
          <p:cNvSpPr txBox="1"/>
          <p:nvPr/>
        </p:nvSpPr>
        <p:spPr>
          <a:xfrm>
            <a:off x="609600" y="5843016"/>
            <a:ext cx="10972800" cy="1841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200" dirty="0">
                <a:solidFill>
                  <a:srgbClr val="837C7D"/>
                </a:solidFill>
                <a:latin typeface="Malgun Gothic" panose="020B0503020000020004" pitchFamily="50" charset="-127"/>
              </a:rPr>
              <a:t>파랑</a:t>
            </a:r>
            <a:r>
              <a:rPr lang="en-US" altLang="ko-KR" sz="1200" dirty="0">
                <a:solidFill>
                  <a:srgbClr val="837C7D"/>
                </a:solidFill>
                <a:latin typeface="Malgun Gothic" panose="020B0503020000020004" pitchFamily="50" charset="-127"/>
              </a:rPr>
              <a:t>: CN </a:t>
            </a:r>
            <a:r>
              <a:rPr lang="ko-KR" altLang="en-US" sz="1200" dirty="0">
                <a:solidFill>
                  <a:srgbClr val="837C7D"/>
                </a:solidFill>
                <a:latin typeface="Malgun Gothic" panose="020B0503020000020004" pitchFamily="50" charset="-127"/>
              </a:rPr>
              <a:t>기대치보다 두꺼운 방향 </a:t>
            </a:r>
            <a:r>
              <a:rPr lang="en-US" altLang="ko-KR" sz="1200" dirty="0">
                <a:solidFill>
                  <a:srgbClr val="837C7D"/>
                </a:solidFill>
                <a:latin typeface="Malgun Gothic" panose="020B0503020000020004" pitchFamily="50" charset="-127"/>
              </a:rPr>
              <a:t>| </a:t>
            </a:r>
            <a:r>
              <a:rPr lang="ko-KR" altLang="en-US" sz="1200" dirty="0">
                <a:solidFill>
                  <a:srgbClr val="837C7D"/>
                </a:solidFill>
                <a:latin typeface="Malgun Gothic" panose="020B0503020000020004" pitchFamily="50" charset="-127"/>
              </a:rPr>
              <a:t>빨강</a:t>
            </a:r>
            <a:r>
              <a:rPr lang="en-US" altLang="ko-KR" sz="1200" dirty="0">
                <a:solidFill>
                  <a:srgbClr val="837C7D"/>
                </a:solidFill>
                <a:latin typeface="Malgun Gothic" panose="020B0503020000020004" pitchFamily="50" charset="-127"/>
              </a:rPr>
              <a:t>: CN </a:t>
            </a:r>
            <a:r>
              <a:rPr lang="ko-KR" altLang="en-US" sz="1200" dirty="0">
                <a:solidFill>
                  <a:srgbClr val="837C7D"/>
                </a:solidFill>
                <a:latin typeface="Malgun Gothic" panose="020B0503020000020004" pitchFamily="50" charset="-127"/>
              </a:rPr>
              <a:t>기대치보다 얇은 방향</a:t>
            </a:r>
          </a:p>
        </p:txBody>
      </p:sp>
      <p:pic>
        <p:nvPicPr>
          <p:cNvPr id="9" name="HighRes3D_1">
            <a:extLst>
              <a:ext uri="{FF2B5EF4-FFF2-40B4-BE49-F238E27FC236}">
                <a16:creationId xmlns:a16="http://schemas.microsoft.com/office/drawing/2014/main" id="{A8AC1D63-E58F-58ED-6008-ABC195D3AD0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108200"/>
            <a:ext cx="3098800" cy="2819400"/>
          </a:xfrm>
          <a:prstGeom prst="rect">
            <a:avLst/>
          </a:prstGeom>
        </p:spPr>
      </p:pic>
      <p:pic>
        <p:nvPicPr>
          <p:cNvPr id="11" name="HighRes3D_2">
            <a:extLst>
              <a:ext uri="{FF2B5EF4-FFF2-40B4-BE49-F238E27FC236}">
                <a16:creationId xmlns:a16="http://schemas.microsoft.com/office/drawing/2014/main" id="{6D8C0483-7B87-3172-A0E1-512DF8839A4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600" y="2108200"/>
            <a:ext cx="3098800" cy="2819400"/>
          </a:xfrm>
          <a:prstGeom prst="rect">
            <a:avLst/>
          </a:prstGeom>
        </p:spPr>
      </p:pic>
      <p:pic>
        <p:nvPicPr>
          <p:cNvPr id="13" name="HighRes3D_3">
            <a:extLst>
              <a:ext uri="{FF2B5EF4-FFF2-40B4-BE49-F238E27FC236}">
                <a16:creationId xmlns:a16="http://schemas.microsoft.com/office/drawing/2014/main" id="{020D9CC4-AB7F-6229-A7A1-7DE85373B538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3600" y="2108200"/>
            <a:ext cx="3098800" cy="2819400"/>
          </a:xfrm>
          <a:prstGeom prst="rect">
            <a:avLst/>
          </a:prstGeom>
        </p:spPr>
      </p:pic>
      <p:cxnSp>
        <p:nvCxnSpPr>
          <p:cNvPr id="47" name="Connector 46"/>
          <p:cNvCxnSpPr/>
          <p:nvPr/>
        </p:nvCxnSpPr>
        <p:spPr>
          <a:xfrm>
            <a:off x="923544" y="2450592"/>
            <a:ext cx="365760" cy="1014984"/>
          </a:xfrm>
          <a:prstGeom prst="line">
            <a:avLst/>
          </a:prstGeom>
          <a:ln w="127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658368" y="2221992"/>
            <a:ext cx="530352" cy="228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>
              <a:defRPr sz="790" b="1">
                <a:solidFill>
                  <a:srgbClr val="0F172A"/>
                </a:solidFill>
                <a:latin typeface="Malgun Gothic"/>
              </a:defRPr>
            </a:pPr>
            <a:r>
              <a:t>전두엽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2130552" y="2423160"/>
            <a:ext cx="9144" cy="365760"/>
          </a:xfrm>
          <a:prstGeom prst="line">
            <a:avLst/>
          </a:prstGeom>
          <a:ln w="127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1874519" y="2194560"/>
            <a:ext cx="530352" cy="228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>
              <a:defRPr sz="790" b="1">
                <a:solidFill>
                  <a:srgbClr val="0F172A"/>
                </a:solidFill>
                <a:latin typeface="Malgun Gothic"/>
              </a:defRPr>
            </a:pPr>
            <a:r>
              <a:t>두정엽</a:t>
            </a:r>
          </a:p>
        </p:txBody>
      </p:sp>
      <p:cxnSp>
        <p:nvCxnSpPr>
          <p:cNvPr id="51" name="Connector 50"/>
          <p:cNvCxnSpPr/>
          <p:nvPr/>
        </p:nvCxnSpPr>
        <p:spPr>
          <a:xfrm flipH="1" flipV="1">
            <a:off x="2578608" y="4315968"/>
            <a:ext cx="539496" cy="484632"/>
          </a:xfrm>
          <a:prstGeom prst="line">
            <a:avLst/>
          </a:prstGeom>
          <a:ln w="127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2852928" y="4572000"/>
            <a:ext cx="530352" cy="228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>
              <a:defRPr sz="790" b="1">
                <a:solidFill>
                  <a:srgbClr val="0F172A"/>
                </a:solidFill>
                <a:latin typeface="Malgun Gothic"/>
              </a:defRPr>
            </a:pPr>
            <a:r>
              <a:t>측두엽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855464" y="2450592"/>
            <a:ext cx="365760" cy="1014984"/>
          </a:xfrm>
          <a:prstGeom prst="line">
            <a:avLst/>
          </a:prstGeom>
          <a:ln w="127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4590288" y="2221992"/>
            <a:ext cx="530352" cy="228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>
              <a:defRPr sz="790" b="1">
                <a:solidFill>
                  <a:srgbClr val="0F172A"/>
                </a:solidFill>
                <a:latin typeface="Malgun Gothic"/>
              </a:defRPr>
            </a:pPr>
            <a:r>
              <a:t>전두엽</a:t>
            </a:r>
          </a:p>
        </p:txBody>
      </p:sp>
      <p:cxnSp>
        <p:nvCxnSpPr>
          <p:cNvPr id="55" name="Connector 54"/>
          <p:cNvCxnSpPr/>
          <p:nvPr/>
        </p:nvCxnSpPr>
        <p:spPr>
          <a:xfrm flipH="1">
            <a:off x="6062472" y="2423160"/>
            <a:ext cx="9144" cy="365760"/>
          </a:xfrm>
          <a:prstGeom prst="line">
            <a:avLst/>
          </a:prstGeom>
          <a:ln w="127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5806440" y="2194560"/>
            <a:ext cx="530352" cy="228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>
              <a:defRPr sz="790" b="1">
                <a:solidFill>
                  <a:srgbClr val="0F172A"/>
                </a:solidFill>
                <a:latin typeface="Malgun Gothic"/>
              </a:defRPr>
            </a:pPr>
            <a:r>
              <a:t>두정엽</a:t>
            </a:r>
          </a:p>
        </p:txBody>
      </p:sp>
      <p:cxnSp>
        <p:nvCxnSpPr>
          <p:cNvPr id="57" name="Connector 56"/>
          <p:cNvCxnSpPr/>
          <p:nvPr/>
        </p:nvCxnSpPr>
        <p:spPr>
          <a:xfrm flipH="1" flipV="1">
            <a:off x="6510527" y="4315968"/>
            <a:ext cx="539497" cy="484632"/>
          </a:xfrm>
          <a:prstGeom prst="line">
            <a:avLst/>
          </a:prstGeom>
          <a:ln w="127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6784848" y="4572000"/>
            <a:ext cx="530352" cy="228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>
              <a:defRPr sz="790" b="1">
                <a:solidFill>
                  <a:srgbClr val="0F172A"/>
                </a:solidFill>
                <a:latin typeface="Malgun Gothic"/>
              </a:defRPr>
            </a:pPr>
            <a:r>
              <a:t>측두엽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796528" y="2450592"/>
            <a:ext cx="365760" cy="1014984"/>
          </a:xfrm>
          <a:prstGeom prst="line">
            <a:avLst/>
          </a:prstGeom>
          <a:ln w="127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531352" y="2221992"/>
            <a:ext cx="530352" cy="228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>
              <a:defRPr sz="790" b="1">
                <a:solidFill>
                  <a:srgbClr val="0F172A"/>
                </a:solidFill>
                <a:latin typeface="Malgun Gothic"/>
              </a:defRPr>
            </a:pPr>
            <a:r>
              <a:t>전두엽</a:t>
            </a:r>
          </a:p>
        </p:txBody>
      </p:sp>
      <p:cxnSp>
        <p:nvCxnSpPr>
          <p:cNvPr id="61" name="Connector 60"/>
          <p:cNvCxnSpPr/>
          <p:nvPr/>
        </p:nvCxnSpPr>
        <p:spPr>
          <a:xfrm flipH="1">
            <a:off x="10003536" y="2423160"/>
            <a:ext cx="9144" cy="365760"/>
          </a:xfrm>
          <a:prstGeom prst="line">
            <a:avLst/>
          </a:prstGeom>
          <a:ln w="127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9747504" y="2194560"/>
            <a:ext cx="530352" cy="228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>
              <a:defRPr sz="790" b="1">
                <a:solidFill>
                  <a:srgbClr val="0F172A"/>
                </a:solidFill>
                <a:latin typeface="Malgun Gothic"/>
              </a:defRPr>
            </a:pPr>
            <a:r>
              <a:t>두정엽</a:t>
            </a:r>
          </a:p>
        </p:txBody>
      </p:sp>
      <p:cxnSp>
        <p:nvCxnSpPr>
          <p:cNvPr id="63" name="Connector 62"/>
          <p:cNvCxnSpPr/>
          <p:nvPr/>
        </p:nvCxnSpPr>
        <p:spPr>
          <a:xfrm flipH="1" flipV="1">
            <a:off x="10451592" y="4315968"/>
            <a:ext cx="539496" cy="484632"/>
          </a:xfrm>
          <a:prstGeom prst="line">
            <a:avLst/>
          </a:prstGeom>
          <a:ln w="127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10725912" y="4572000"/>
            <a:ext cx="530352" cy="228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>
              <a:defRPr sz="790" b="1">
                <a:solidFill>
                  <a:srgbClr val="0F172A"/>
                </a:solidFill>
                <a:latin typeface="Malgun Gothic"/>
              </a:defRPr>
            </a:pPr>
            <a:r>
              <a:t>측두엽</a:t>
            </a:r>
          </a:p>
        </p:txBody>
      </p:sp>
      <p:pic>
        <p:nvPicPr>
          <p:cNvPr id="65" name="RID6897_좌반구_회전_부위표시" descr="ADNI Plotly 3D brain surface rotation GIF"/>
          <p:cNvPicPr/>
          <p:nvPr/>
        </p:nvPicPr>
        <p:blipFill>
          <a:blip r:embed="rId6"/>
          <a:stretch>
            <a:fillRect/>
          </a:stretch>
        </p:blipFill>
        <p:spPr>
          <a:xfrm>
            <a:off x="612648" y="2112264"/>
            <a:ext cx="3099816" cy="2816352"/>
          </a:xfrm>
          <a:prstGeom prst="rect">
            <a:avLst/>
          </a:prstGeom>
        </p:spPr>
      </p:pic>
      <p:pic>
        <p:nvPicPr>
          <p:cNvPr id="66" name="RID2315_좌반구_회전_부위표시" descr="ADNI Plotly 3D brain surface rotation GIF"/>
          <p:cNvPicPr/>
          <p:nvPr/>
        </p:nvPicPr>
        <p:blipFill>
          <a:blip r:embed="rId7"/>
          <a:stretch>
            <a:fillRect/>
          </a:stretch>
        </p:blipFill>
        <p:spPr>
          <a:xfrm>
            <a:off x="4544568" y="2112264"/>
            <a:ext cx="3099816" cy="2816352"/>
          </a:xfrm>
          <a:prstGeom prst="rect">
            <a:avLst/>
          </a:prstGeom>
        </p:spPr>
      </p:pic>
      <p:pic>
        <p:nvPicPr>
          <p:cNvPr id="67" name="RID1382_좌반구_회전_부위표시" descr="ADNI Plotly 3D brain surface rotation GIF"/>
          <p:cNvPicPr/>
          <p:nvPr/>
        </p:nvPicPr>
        <p:blipFill>
          <a:blip r:embed="rId8"/>
          <a:stretch>
            <a:fillRect/>
          </a:stretch>
        </p:blipFill>
        <p:spPr>
          <a:xfrm>
            <a:off x="8485632" y="2112264"/>
            <a:ext cx="3099816" cy="2816352"/>
          </a:xfrm>
          <a:prstGeom prst="rect">
            <a:avLst/>
          </a:prstGeom>
        </p:spPr>
      </p:pic>
      <p:pic>
        <p:nvPicPr>
          <p:cNvPr id="68" name="RID6897_좌반구_회전_부위표시" descr="ADNI Plotly 3D brain surface rotation GIF"/>
          <p:cNvPicPr/>
          <p:nvPr/>
        </p:nvPicPr>
        <p:blipFill>
          <a:blip r:embed="rId9"/>
          <a:stretch>
            <a:fillRect/>
          </a:stretch>
        </p:blipFill>
        <p:spPr>
          <a:xfrm>
            <a:off x="612648" y="2112264"/>
            <a:ext cx="3099816" cy="2816352"/>
          </a:xfrm>
          <a:prstGeom prst="rect">
            <a:avLst/>
          </a:prstGeom>
        </p:spPr>
      </p:pic>
      <p:pic>
        <p:nvPicPr>
          <p:cNvPr id="69" name="RID2315_좌반구_회전_부위표시" descr="ADNI Plotly 3D brain surface rotation GIF"/>
          <p:cNvPicPr/>
          <p:nvPr/>
        </p:nvPicPr>
        <p:blipFill>
          <a:blip r:embed="rId10"/>
          <a:stretch>
            <a:fillRect/>
          </a:stretch>
        </p:blipFill>
        <p:spPr>
          <a:xfrm>
            <a:off x="4544568" y="2112264"/>
            <a:ext cx="3099816" cy="2816352"/>
          </a:xfrm>
          <a:prstGeom prst="rect">
            <a:avLst/>
          </a:prstGeom>
        </p:spPr>
      </p:pic>
      <p:pic>
        <p:nvPicPr>
          <p:cNvPr id="70" name="RID1382_좌반구_회전_부위표시" descr="ADNI Plotly 3D brain surface rotation GIF"/>
          <p:cNvPicPr/>
          <p:nvPr/>
        </p:nvPicPr>
        <p:blipFill>
          <a:blip r:embed="rId11"/>
          <a:stretch>
            <a:fillRect/>
          </a:stretch>
        </p:blipFill>
        <p:spPr>
          <a:xfrm>
            <a:off x="8485632" y="2112264"/>
            <a:ext cx="3099816" cy="281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844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67DF6FCD-5618-21B1-2E27-9218F7F67758}"/>
              </a:ext>
            </a:extLst>
          </p:cNvPr>
          <p:cNvSpPr/>
          <p:nvPr/>
        </p:nvSpPr>
        <p:spPr>
          <a:xfrm>
            <a:off x="3886200" y="1143000"/>
            <a:ext cx="4434840" cy="4434840"/>
          </a:xfrm>
          <a:prstGeom prst="rect">
            <a:avLst/>
          </a:prstGeom>
          <a:blipFill dpi="0" rotWithShape="1">
            <a:blip r:embed="rId2">
              <a:alphaModFix amt="5000"/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E5AE55-F319-AE6D-1EFE-C2E763A9F33D}"/>
              </a:ext>
            </a:extLst>
          </p:cNvPr>
          <p:cNvSpPr txBox="1"/>
          <p:nvPr/>
        </p:nvSpPr>
        <p:spPr>
          <a:xfrm>
            <a:off x="609600" y="5334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087069"/>
                </a:solidFill>
                <a:latin typeface="맑은 고딕" panose="020B0503020000020004" pitchFamily="50" charset="-127"/>
              </a:rPr>
              <a:t>해석의 범위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00FD70-6D4E-2CD8-02D8-AFD9718C2A82}"/>
              </a:ext>
            </a:extLst>
          </p:cNvPr>
          <p:cNvSpPr txBox="1"/>
          <p:nvPr/>
        </p:nvSpPr>
        <p:spPr>
          <a:xfrm>
            <a:off x="609600" y="8382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3000" b="1">
                <a:solidFill>
                  <a:srgbClr val="163F3C"/>
                </a:solidFill>
                <a:latin typeface="맑은 고딕" panose="020B0503020000020004" pitchFamily="50" charset="-127"/>
              </a:rPr>
              <a:t>3D </a:t>
            </a:r>
            <a:r>
              <a:rPr lang="ko-KR" altLang="en-US" sz="3000" b="1">
                <a:solidFill>
                  <a:srgbClr val="163F3C"/>
                </a:solidFill>
                <a:latin typeface="맑은 고딕" panose="020B0503020000020004" pitchFamily="50" charset="-127"/>
              </a:rPr>
              <a:t>지도는 취약 위치를 보여 줍니다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EBCDD7E-598F-D5CA-63DB-4A18E7B4308F}"/>
              </a:ext>
            </a:extLst>
          </p:cNvPr>
          <p:cNvCxnSpPr/>
          <p:nvPr/>
        </p:nvCxnSpPr>
        <p:spPr>
          <a:xfrm>
            <a:off x="609600" y="1536700"/>
            <a:ext cx="1295400" cy="0"/>
          </a:xfrm>
          <a:prstGeom prst="line">
            <a:avLst/>
          </a:prstGeom>
          <a:ln w="25400">
            <a:solidFill>
              <a:srgbClr val="0870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ED977B8-C51A-755D-AEBF-29F6AF64C161}"/>
              </a:ext>
            </a:extLst>
          </p:cNvPr>
          <p:cNvCxnSpPr/>
          <p:nvPr/>
        </p:nvCxnSpPr>
        <p:spPr>
          <a:xfrm>
            <a:off x="609600" y="6388100"/>
            <a:ext cx="10972800" cy="0"/>
          </a:xfrm>
          <a:prstGeom prst="line">
            <a:avLst/>
          </a:prstGeom>
          <a:ln w="10160">
            <a:solidFill>
              <a:srgbClr val="CAE2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BB4F378-8BFE-4F0D-D05D-6BDB8B9363EE}"/>
              </a:ext>
            </a:extLst>
          </p:cNvPr>
          <p:cNvSpPr txBox="1"/>
          <p:nvPr/>
        </p:nvSpPr>
        <p:spPr>
          <a:xfrm>
            <a:off x="609600" y="65278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950" dirty="0">
                <a:solidFill>
                  <a:srgbClr val="52706C"/>
                </a:solidFill>
                <a:latin typeface="맑은 고딕" panose="020B0503020000020004" pitchFamily="50" charset="-127"/>
              </a:rPr>
              <a:t>ADNI </a:t>
            </a:r>
            <a:r>
              <a:rPr lang="ko-KR" altLang="en-US" sz="950" dirty="0">
                <a:solidFill>
                  <a:srgbClr val="52706C"/>
                </a:solidFill>
                <a:latin typeface="맑은 고딕" panose="020B0503020000020004" pitchFamily="50" charset="-127"/>
              </a:rPr>
              <a:t>기반 뇌 연령 </a:t>
            </a:r>
            <a:r>
              <a:rPr lang="en-US" altLang="ko-KR" sz="950" dirty="0">
                <a:solidFill>
                  <a:srgbClr val="52706C"/>
                </a:solidFill>
                <a:latin typeface="맑은 고딕" panose="020B0503020000020004" pitchFamily="50" charset="-127"/>
              </a:rPr>
              <a:t>BAG </a:t>
            </a:r>
            <a:r>
              <a:rPr lang="ko-KR" altLang="en-US" sz="950" dirty="0">
                <a:solidFill>
                  <a:srgbClr val="52706C"/>
                </a:solidFill>
                <a:latin typeface="맑은 고딕" panose="020B0503020000020004" pitchFamily="50" charset="-127"/>
              </a:rPr>
              <a:t>분석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6EB031-48FF-257F-4313-BFD0ACE395E9}"/>
              </a:ext>
            </a:extLst>
          </p:cNvPr>
          <p:cNvSpPr txBox="1"/>
          <p:nvPr/>
        </p:nvSpPr>
        <p:spPr>
          <a:xfrm>
            <a:off x="10604500" y="6527800"/>
            <a:ext cx="977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52706C"/>
                </a:solidFill>
                <a:latin typeface="Malgun Gothic" panose="020B0503020000020004" pitchFamily="50" charset="-127"/>
              </a:rPr>
              <a:t>16 / 17</a:t>
            </a:r>
            <a:endParaRPr lang="ko-KR" altLang="en-US" sz="950">
              <a:solidFill>
                <a:srgbClr val="52706C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03A7A2-565B-A1FC-BD78-AA0775A26003}"/>
              </a:ext>
            </a:extLst>
          </p:cNvPr>
          <p:cNvSpPr txBox="1"/>
          <p:nvPr/>
        </p:nvSpPr>
        <p:spPr>
          <a:xfrm>
            <a:off x="609600" y="17526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00">
                <a:solidFill>
                  <a:srgbClr val="52706C"/>
                </a:solidFill>
                <a:latin typeface="맑은 고딕" panose="020B0503020000020004" pitchFamily="50" charset="-127"/>
              </a:rPr>
              <a:t>진단을 확정하기 위한 영상은 아닙니다</a:t>
            </a:r>
            <a:r>
              <a:rPr lang="en-US" altLang="ko-KR" sz="1600">
                <a:solidFill>
                  <a:srgbClr val="52706C"/>
                </a:solidFill>
                <a:latin typeface="맑은 고딕" panose="020B0503020000020004" pitchFamily="50" charset="-127"/>
              </a:rPr>
              <a:t>.</a:t>
            </a:r>
            <a:endParaRPr lang="ko-KR" altLang="en-US" sz="1600">
              <a:solidFill>
                <a:srgbClr val="52706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AB43BB-B957-3B73-AF6D-BDEB580937A2}"/>
              </a:ext>
            </a:extLst>
          </p:cNvPr>
          <p:cNvSpPr txBox="1"/>
          <p:nvPr/>
        </p:nvSpPr>
        <p:spPr>
          <a:xfrm>
            <a:off x="889000" y="21463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200" b="1">
                <a:solidFill>
                  <a:srgbClr val="087069"/>
                </a:solidFill>
                <a:latin typeface="맑은 고딕" panose="020B0503020000020004" pitchFamily="50" charset="-127"/>
              </a:rPr>
              <a:t>보여 주는 것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4F88E36-EC9F-4A83-CFEC-A25CF8AE083F}"/>
              </a:ext>
            </a:extLst>
          </p:cNvPr>
          <p:cNvCxnSpPr/>
          <p:nvPr/>
        </p:nvCxnSpPr>
        <p:spPr>
          <a:xfrm>
            <a:off x="889000" y="2654300"/>
            <a:ext cx="4445000" cy="0"/>
          </a:xfrm>
          <a:prstGeom prst="line">
            <a:avLst/>
          </a:prstGeom>
          <a:ln w="25400">
            <a:solidFill>
              <a:srgbClr val="0870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6C9C10-96CE-98F4-3896-EE50CB5AFA48}"/>
              </a:ext>
            </a:extLst>
          </p:cNvPr>
          <p:cNvSpPr txBox="1"/>
          <p:nvPr/>
        </p:nvSpPr>
        <p:spPr>
          <a:xfrm>
            <a:off x="889000" y="3073400"/>
            <a:ext cx="4381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>
                <a:solidFill>
                  <a:srgbClr val="163F3C"/>
                </a:solidFill>
                <a:latin typeface="맑은 고딕" panose="020B0503020000020004" pitchFamily="50" charset="-127"/>
              </a:rPr>
              <a:t>• CN </a:t>
            </a:r>
            <a:r>
              <a:rPr lang="ko-KR" altLang="en-US">
                <a:solidFill>
                  <a:srgbClr val="163F3C"/>
                </a:solidFill>
                <a:latin typeface="맑은 고딕" panose="020B0503020000020004" pitchFamily="50" charset="-127"/>
              </a:rPr>
              <a:t>기준 기대치와의 부위별 정량 차이
</a:t>
            </a:r>
            <a:r>
              <a:rPr lang="en-US" altLang="ko-KR">
                <a:solidFill>
                  <a:srgbClr val="163F3C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>
                <a:solidFill>
                  <a:srgbClr val="163F3C"/>
                </a:solidFill>
                <a:latin typeface="맑은 고딕" panose="020B0503020000020004" pitchFamily="50" charset="-127"/>
              </a:rPr>
              <a:t>집단 수준 피질 두께 감소 효과크기
</a:t>
            </a:r>
            <a:r>
              <a:rPr lang="en-US" altLang="ko-KR">
                <a:solidFill>
                  <a:srgbClr val="163F3C"/>
                </a:solidFill>
                <a:latin typeface="맑은 고딕" panose="020B0503020000020004" pitchFamily="50" charset="-127"/>
              </a:rPr>
              <a:t>• BAG</a:t>
            </a:r>
            <a:r>
              <a:rPr lang="ko-KR" altLang="en-US">
                <a:solidFill>
                  <a:srgbClr val="163F3C"/>
                </a:solidFill>
                <a:latin typeface="맑은 고딕" panose="020B0503020000020004" pitchFamily="50" charset="-127"/>
              </a:rPr>
              <a:t>와 부위별 노화 부담의 연결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013B8F-1B5F-1199-30A8-F5DE825F5B5C}"/>
              </a:ext>
            </a:extLst>
          </p:cNvPr>
          <p:cNvSpPr txBox="1"/>
          <p:nvPr/>
        </p:nvSpPr>
        <p:spPr>
          <a:xfrm>
            <a:off x="6858000" y="2146300"/>
            <a:ext cx="368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200" b="1">
                <a:solidFill>
                  <a:srgbClr val="075F5A"/>
                </a:solidFill>
                <a:latin typeface="맑은 고딕" panose="020B0503020000020004" pitchFamily="50" charset="-127"/>
              </a:rPr>
              <a:t>보여 주지 않는 것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ABFFA9B-543B-0048-8069-AE32C091E3DD}"/>
              </a:ext>
            </a:extLst>
          </p:cNvPr>
          <p:cNvCxnSpPr/>
          <p:nvPr/>
        </p:nvCxnSpPr>
        <p:spPr>
          <a:xfrm>
            <a:off x="6858000" y="2654300"/>
            <a:ext cx="4445000" cy="0"/>
          </a:xfrm>
          <a:prstGeom prst="line">
            <a:avLst/>
          </a:prstGeom>
          <a:ln w="25400">
            <a:solidFill>
              <a:srgbClr val="075F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3E99450-18FD-874B-8A8A-4F24D3C3BBB4}"/>
              </a:ext>
            </a:extLst>
          </p:cNvPr>
          <p:cNvSpPr txBox="1"/>
          <p:nvPr/>
        </p:nvSpPr>
        <p:spPr>
          <a:xfrm>
            <a:off x="6858000" y="30734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>
                <a:solidFill>
                  <a:srgbClr val="163F3C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>
                <a:solidFill>
                  <a:srgbClr val="163F3C"/>
                </a:solidFill>
                <a:latin typeface="맑은 고딕" panose="020B0503020000020004" pitchFamily="50" charset="-127"/>
              </a:rPr>
              <a:t>개인 </a:t>
            </a:r>
            <a:r>
              <a:rPr lang="en-US" altLang="ko-KR">
                <a:solidFill>
                  <a:srgbClr val="163F3C"/>
                </a:solidFill>
                <a:latin typeface="맑은 고딕" panose="020B0503020000020004" pitchFamily="50" charset="-127"/>
              </a:rPr>
              <a:t>MRI</a:t>
            </a:r>
            <a:r>
              <a:rPr lang="ko-KR" altLang="en-US">
                <a:solidFill>
                  <a:srgbClr val="163F3C"/>
                </a:solidFill>
                <a:latin typeface="맑은 고딕" panose="020B0503020000020004" pitchFamily="50" charset="-127"/>
              </a:rPr>
              <a:t>의 실제 해부학적 </a:t>
            </a:r>
            <a:r>
              <a:rPr lang="en-US" altLang="ko-KR">
                <a:solidFill>
                  <a:srgbClr val="163F3C"/>
                </a:solidFill>
                <a:latin typeface="맑은 고딕" panose="020B0503020000020004" pitchFamily="50" charset="-127"/>
              </a:rPr>
              <a:t>3D </a:t>
            </a:r>
            <a:r>
              <a:rPr lang="ko-KR" altLang="en-US">
                <a:solidFill>
                  <a:srgbClr val="163F3C"/>
                </a:solidFill>
                <a:latin typeface="맑은 고딕" panose="020B0503020000020004" pitchFamily="50" charset="-127"/>
              </a:rPr>
              <a:t>표면
</a:t>
            </a:r>
            <a:r>
              <a:rPr lang="en-US" altLang="ko-KR">
                <a:solidFill>
                  <a:srgbClr val="163F3C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>
                <a:solidFill>
                  <a:srgbClr val="163F3C"/>
                </a:solidFill>
                <a:latin typeface="맑은 고딕" panose="020B0503020000020004" pitchFamily="50" charset="-127"/>
              </a:rPr>
              <a:t>단독 진단 또는 치료 결정
</a:t>
            </a:r>
            <a:r>
              <a:rPr lang="en-US" altLang="ko-KR">
                <a:solidFill>
                  <a:srgbClr val="163F3C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>
                <a:solidFill>
                  <a:srgbClr val="163F3C"/>
                </a:solidFill>
                <a:latin typeface="맑은 고딕" panose="020B0503020000020004" pitchFamily="50" charset="-127"/>
              </a:rPr>
              <a:t>외부 코호트에서의 확정 성능</a:t>
            </a:r>
          </a:p>
        </p:txBody>
      </p:sp>
    </p:spTree>
    <p:extLst>
      <p:ext uri="{BB962C8B-B14F-4D97-AF65-F5344CB8AC3E}">
        <p14:creationId xmlns:p14="http://schemas.microsoft.com/office/powerpoint/2010/main" val="24082266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11E59E53-0189-6733-86F1-DC1A8880D06E}"/>
              </a:ext>
            </a:extLst>
          </p:cNvPr>
          <p:cNvSpPr/>
          <p:nvPr/>
        </p:nvSpPr>
        <p:spPr>
          <a:xfrm>
            <a:off x="3886200" y="1143000"/>
            <a:ext cx="4434840" cy="4434840"/>
          </a:xfrm>
          <a:prstGeom prst="rect">
            <a:avLst/>
          </a:prstGeom>
          <a:blipFill dpi="0" rotWithShape="1">
            <a:blip r:embed="rId2">
              <a:alphaModFix amt="7000"/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1C2FAE-1E57-87B5-A5F0-DFA09691AFEE}"/>
              </a:ext>
            </a:extLst>
          </p:cNvPr>
          <p:cNvSpPr txBox="1"/>
          <p:nvPr/>
        </p:nvSpPr>
        <p:spPr>
          <a:xfrm>
            <a:off x="698500" y="6985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5BCFBE"/>
                </a:solidFill>
                <a:latin typeface="맑은 고딕" panose="020B0503020000020004" pitchFamily="50" charset="-127"/>
              </a:rPr>
              <a:t>결론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7FFE90-F85C-B817-8188-9212A924605D}"/>
              </a:ext>
            </a:extLst>
          </p:cNvPr>
          <p:cNvSpPr txBox="1"/>
          <p:nvPr/>
        </p:nvSpPr>
        <p:spPr>
          <a:xfrm>
            <a:off x="698500" y="12192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3600" b="1">
                <a:solidFill>
                  <a:srgbClr val="FFFFFF"/>
                </a:solidFill>
                <a:latin typeface="맑은 고딕" panose="020B0503020000020004" pitchFamily="50" charset="-127"/>
              </a:rPr>
              <a:t>숫자로 노화 부담을 찾고</a:t>
            </a:r>
            <a:r>
              <a:rPr lang="en-US" altLang="ko-KR" sz="3600" b="1">
                <a:solidFill>
                  <a:srgbClr val="FFFFFF"/>
                </a:solidFill>
                <a:latin typeface="맑은 고딕" panose="020B0503020000020004" pitchFamily="50" charset="-127"/>
              </a:rPr>
              <a:t>,
3D</a:t>
            </a:r>
            <a:r>
              <a:rPr lang="ko-KR" altLang="en-US" sz="3600" b="1">
                <a:solidFill>
                  <a:srgbClr val="FFFFFF"/>
                </a:solidFill>
                <a:latin typeface="맑은 고딕" panose="020B0503020000020004" pitchFamily="50" charset="-127"/>
              </a:rPr>
              <a:t>로 그 위치를 해석합니다</a:t>
            </a:r>
            <a:r>
              <a:rPr lang="en-US" altLang="ko-KR" sz="3600" b="1">
                <a:solidFill>
                  <a:srgbClr val="FFFFFF"/>
                </a:solidFill>
                <a:latin typeface="맑은 고딕" panose="020B0503020000020004" pitchFamily="50" charset="-127"/>
              </a:rPr>
              <a:t>.</a:t>
            </a:r>
            <a:endParaRPr lang="ko-KR" altLang="en-US" sz="36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986EF8-10F7-6ED3-123F-D6E37552297C}"/>
              </a:ext>
            </a:extLst>
          </p:cNvPr>
          <p:cNvSpPr txBox="1"/>
          <p:nvPr/>
        </p:nvSpPr>
        <p:spPr>
          <a:xfrm>
            <a:off x="825500" y="31750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300" b="1">
                <a:solidFill>
                  <a:srgbClr val="087069"/>
                </a:solidFill>
                <a:latin typeface="맑은 고딕" panose="020B0503020000020004" pitchFamily="50" charset="-127"/>
              </a:rPr>
              <a:t>01</a:t>
            </a:r>
            <a:endParaRPr lang="ko-KR" altLang="en-US" sz="2300" b="1">
              <a:solidFill>
                <a:srgbClr val="08706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ABB208-F5F4-633C-A7BE-5CAA763A96C0}"/>
              </a:ext>
            </a:extLst>
          </p:cNvPr>
          <p:cNvSpPr txBox="1"/>
          <p:nvPr/>
        </p:nvSpPr>
        <p:spPr>
          <a:xfrm>
            <a:off x="1625600" y="32004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900" b="1">
                <a:solidFill>
                  <a:srgbClr val="FFFFFF"/>
                </a:solidFill>
                <a:latin typeface="맑은 고딕" panose="020B0503020000020004" pitchFamily="50" charset="-127"/>
              </a:rPr>
              <a:t>독립 </a:t>
            </a:r>
            <a:r>
              <a:rPr lang="en-US" altLang="ko-KR" sz="1900" b="1">
                <a:solidFill>
                  <a:srgbClr val="FFFFFF"/>
                </a:solidFill>
                <a:latin typeface="맑은 고딕" panose="020B0503020000020004" pitchFamily="50" charset="-127"/>
              </a:rPr>
              <a:t>CN </a:t>
            </a:r>
            <a:r>
              <a:rPr lang="ko-KR" altLang="en-US" sz="1900" b="1">
                <a:solidFill>
                  <a:srgbClr val="FFFFFF"/>
                </a:solidFill>
                <a:latin typeface="맑은 고딕" panose="020B0503020000020004" pitchFamily="50" charset="-127"/>
              </a:rPr>
              <a:t>테스트</a:t>
            </a:r>
            <a:r>
              <a:rPr lang="en-US" altLang="ko-KR" sz="1900" b="1">
                <a:solidFill>
                  <a:srgbClr val="FFFFFF"/>
                </a:solidFill>
                <a:latin typeface="맑은 고딕" panose="020B0503020000020004" pitchFamily="50" charset="-127"/>
              </a:rPr>
              <a:t>: R2 0.542, MAE 3.680</a:t>
            </a:r>
            <a:r>
              <a:rPr lang="ko-KR" altLang="en-US" sz="1900" b="1">
                <a:solidFill>
                  <a:srgbClr val="FFFFFF"/>
                </a:solidFill>
                <a:latin typeface="맑은 고딕" panose="020B0503020000020004" pitchFamily="50" charset="-127"/>
              </a:rPr>
              <a:t>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6D4D02-64CF-8C87-B37D-4CD34BB9500B}"/>
              </a:ext>
            </a:extLst>
          </p:cNvPr>
          <p:cNvSpPr txBox="1"/>
          <p:nvPr/>
        </p:nvSpPr>
        <p:spPr>
          <a:xfrm>
            <a:off x="825500" y="38735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300" b="1" dirty="0">
                <a:solidFill>
                  <a:srgbClr val="1AA79A"/>
                </a:solidFill>
                <a:latin typeface="맑은 고딕" panose="020B0503020000020004" pitchFamily="50" charset="-127"/>
              </a:rPr>
              <a:t>02</a:t>
            </a:r>
            <a:endParaRPr lang="ko-KR" altLang="en-US" sz="2300" b="1" dirty="0">
              <a:solidFill>
                <a:srgbClr val="1AA79A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12093E-B0B7-3736-2E25-36EF2606CA1E}"/>
              </a:ext>
            </a:extLst>
          </p:cNvPr>
          <p:cNvSpPr txBox="1"/>
          <p:nvPr/>
        </p:nvSpPr>
        <p:spPr>
          <a:xfrm>
            <a:off x="1625600" y="38989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900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MCI</a:t>
            </a:r>
            <a:r>
              <a:rPr lang="ko-KR" altLang="en-US" sz="1900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와 </a:t>
            </a:r>
            <a:r>
              <a:rPr lang="en-US" altLang="ko-KR" sz="1900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AD</a:t>
            </a:r>
            <a:r>
              <a:rPr lang="ko-KR" altLang="en-US" sz="1900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에서 </a:t>
            </a:r>
            <a:r>
              <a:rPr lang="en-US" altLang="ko-KR" sz="1900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CN</a:t>
            </a:r>
            <a:r>
              <a:rPr lang="ko-KR" altLang="en-US" sz="1900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보다 높은 보정 </a:t>
            </a:r>
            <a:r>
              <a:rPr lang="en-US" altLang="ko-KR" sz="1900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BAG </a:t>
            </a:r>
            <a:r>
              <a:rPr lang="ko-KR" altLang="en-US" sz="1900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관찰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5247CC-26E6-8E5E-1764-2605E865BC97}"/>
              </a:ext>
            </a:extLst>
          </p:cNvPr>
          <p:cNvSpPr txBox="1"/>
          <p:nvPr/>
        </p:nvSpPr>
        <p:spPr>
          <a:xfrm>
            <a:off x="825500" y="45720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300" b="1">
                <a:solidFill>
                  <a:srgbClr val="075F5A"/>
                </a:solidFill>
                <a:latin typeface="맑은 고딕" panose="020B0503020000020004" pitchFamily="50" charset="-127"/>
              </a:rPr>
              <a:t>03</a:t>
            </a:r>
            <a:endParaRPr lang="ko-KR" altLang="en-US" sz="2300" b="1">
              <a:solidFill>
                <a:srgbClr val="075F5A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E779AF-E97F-A934-C480-850B9FBDB84D}"/>
              </a:ext>
            </a:extLst>
          </p:cNvPr>
          <p:cNvSpPr txBox="1"/>
          <p:nvPr/>
        </p:nvSpPr>
        <p:spPr>
          <a:xfrm>
            <a:off x="1625600" y="4597400"/>
            <a:ext cx="749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900" b="1">
                <a:solidFill>
                  <a:srgbClr val="FFFFFF"/>
                </a:solidFill>
                <a:latin typeface="맑은 고딕" panose="020B0503020000020004" pitchFamily="50" charset="-127"/>
              </a:rPr>
              <a:t>ROI </a:t>
            </a:r>
            <a:r>
              <a:rPr lang="ko-KR" altLang="en-US" sz="1900" b="1">
                <a:solidFill>
                  <a:srgbClr val="FFFFFF"/>
                </a:solidFill>
                <a:latin typeface="맑은 고딕" panose="020B0503020000020004" pitchFamily="50" charset="-127"/>
              </a:rPr>
              <a:t>근거와 개인별 부위 취약성 </a:t>
            </a:r>
            <a:r>
              <a:rPr lang="en-US" altLang="ko-KR" sz="1900" b="1">
                <a:solidFill>
                  <a:srgbClr val="FFFFFF"/>
                </a:solidFill>
                <a:latin typeface="맑은 고딕" panose="020B0503020000020004" pitchFamily="50" charset="-127"/>
              </a:rPr>
              <a:t>3D </a:t>
            </a:r>
            <a:r>
              <a:rPr lang="ko-KR" altLang="en-US" sz="1900" b="1">
                <a:solidFill>
                  <a:srgbClr val="FFFFFF"/>
                </a:solidFill>
                <a:latin typeface="맑은 고딕" panose="020B0503020000020004" pitchFamily="50" charset="-127"/>
              </a:rPr>
              <a:t>정량 지도 제공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4570DD-DDF1-D7AA-B490-094200D73819}"/>
              </a:ext>
            </a:extLst>
          </p:cNvPr>
          <p:cNvSpPr txBox="1"/>
          <p:nvPr/>
        </p:nvSpPr>
        <p:spPr>
          <a:xfrm>
            <a:off x="698500" y="5676900"/>
            <a:ext cx="990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endParaRPr lang="en-US" altLang="ko-KR" sz="1400" dirty="0">
              <a:solidFill>
                <a:srgbClr val="CAE2DD"/>
              </a:solidFill>
              <a:latin typeface="맑은 고딕" panose="020B0503020000020004" pitchFamily="50" charset="-127"/>
            </a:endParaRPr>
          </a:p>
          <a:p>
            <a:endParaRPr lang="ko-KR" altLang="en-US" sz="1400" dirty="0">
              <a:solidFill>
                <a:srgbClr val="CAE2DD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C80220E-5EFB-CBC4-B18B-E707F09C68A0}"/>
              </a:ext>
            </a:extLst>
          </p:cNvPr>
          <p:cNvCxnSpPr/>
          <p:nvPr/>
        </p:nvCxnSpPr>
        <p:spPr>
          <a:xfrm>
            <a:off x="609600" y="6388100"/>
            <a:ext cx="10972800" cy="0"/>
          </a:xfrm>
          <a:prstGeom prst="line">
            <a:avLst/>
          </a:prstGeom>
          <a:ln w="10160">
            <a:solidFill>
              <a:srgbClr val="3B54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0E8EA82-A25B-5CBA-E5D7-58C8C4761A8C}"/>
              </a:ext>
            </a:extLst>
          </p:cNvPr>
          <p:cNvSpPr txBox="1"/>
          <p:nvPr/>
        </p:nvSpPr>
        <p:spPr>
          <a:xfrm>
            <a:off x="609600" y="65278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950" dirty="0">
                <a:solidFill>
                  <a:srgbClr val="B5D7D0"/>
                </a:solidFill>
                <a:latin typeface="맑은 고딕" panose="020B0503020000020004" pitchFamily="50" charset="-127"/>
              </a:rPr>
              <a:t>ADNI </a:t>
            </a:r>
            <a:r>
              <a:rPr lang="ko-KR" altLang="en-US" sz="950" dirty="0">
                <a:solidFill>
                  <a:srgbClr val="B5D7D0"/>
                </a:solidFill>
                <a:latin typeface="맑은 고딕" panose="020B0503020000020004" pitchFamily="50" charset="-127"/>
              </a:rPr>
              <a:t>기반 뇌 연령 </a:t>
            </a:r>
            <a:r>
              <a:rPr lang="en-US" altLang="ko-KR" sz="950" dirty="0">
                <a:solidFill>
                  <a:srgbClr val="B5D7D0"/>
                </a:solidFill>
                <a:latin typeface="맑은 고딕" panose="020B0503020000020004" pitchFamily="50" charset="-127"/>
              </a:rPr>
              <a:t>BAG </a:t>
            </a:r>
            <a:r>
              <a:rPr lang="ko-KR" altLang="en-US" sz="950" dirty="0">
                <a:solidFill>
                  <a:srgbClr val="B5D7D0"/>
                </a:solidFill>
                <a:latin typeface="맑은 고딕" panose="020B0503020000020004" pitchFamily="50" charset="-127"/>
              </a:rPr>
              <a:t>분석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8B60C6-EF42-FF82-7B9F-570CF578E1BB}"/>
              </a:ext>
            </a:extLst>
          </p:cNvPr>
          <p:cNvSpPr txBox="1"/>
          <p:nvPr/>
        </p:nvSpPr>
        <p:spPr>
          <a:xfrm>
            <a:off x="10604500" y="6527800"/>
            <a:ext cx="977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50">
                <a:solidFill>
                  <a:srgbClr val="B5D7D0"/>
                </a:solidFill>
                <a:latin typeface="Malgun Gothic" panose="020B0503020000020004" pitchFamily="50" charset="-127"/>
              </a:rPr>
              <a:t>17 / 17</a:t>
            </a:r>
            <a:endParaRPr lang="ko-KR" altLang="en-US" sz="950">
              <a:solidFill>
                <a:srgbClr val="B5D7D0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64945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1303</Words>
  <Application>Microsoft Office PowerPoint</Application>
  <PresentationFormat>와이드스크린</PresentationFormat>
  <Paragraphs>267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Malgun Gothic</vt:lpstr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ADNI 기반 뇌 연령 BAG와 취약 부위 3D 지도</dc:title>
  <dc:subject>v9: 슬라이드 15의 다중 비교 3D 지도에 해부학 부위 화살표 추가</dc:subject>
  <dc:creator>인영 황</dc:creator>
  <dc:description>v8: Slide 13 includes labelled anatomical callouts on the RID 10 left-hemisphere map.</dc:description>
  <cp:lastModifiedBy>인영 황</cp:lastModifiedBy>
  <cp:revision>58</cp:revision>
  <dcterms:created xsi:type="dcterms:W3CDTF">2026-08-24T10:32:47Z</dcterms:created>
  <dcterms:modified xsi:type="dcterms:W3CDTF">2026-08-31T10:55:39Z</dcterms:modified>
</cp:coreProperties>
</file>