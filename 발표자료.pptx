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8" r:id="rId12"/>
    <p:sldId id="266" r:id="rId13"/>
    <p:sldId id="267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F0CFCB-D6EB-4FA7-6482-8D323637F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47EF7EF-A5CE-41D6-2349-F8CB15E6E4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689F2-FB7B-6EF3-5526-69558AE19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D36189-0B7F-5C0C-BEF9-582111BA6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6EB0E7-1138-E40E-3BC0-3C5A3B786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831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DC0F3-20EF-68EB-BB8D-938F6A94D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1A6E43-FBA8-7933-A853-57DD39625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7023A1-08C7-4296-6787-9E3913598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1B6603-6D85-A75E-FF3F-55DC5D149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2A536D-F427-6D5A-374C-C9469BF5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417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5FF01-23FB-625A-AF9A-0070EDF07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4E9A645-9F73-162C-651E-ED7D7B771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9DEEF4-0D3D-DE63-DFB3-8424BD252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7A8E09-30D8-9C5E-F290-13096503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391596-F754-79B1-7C22-4D1E96FAF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885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D7220-94B2-9C74-5CA7-F5D28031F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2FA1D-BE86-CB38-D51B-9C604760A0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13249E-F9E9-4029-3760-1B90A01301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480E50-1333-CB52-8A66-B152F85DA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1DAC64-6A4B-9D0C-0ADC-EF55EB28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8A620D-6811-3637-2ECD-DBCFBA29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05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D7C5F-877A-2DD2-AE1E-EA3170D55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60CC028-567C-0019-F380-F0FC93D90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2B2552-E79B-44C5-ABD6-806EE8149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F8AB1D-A21C-F373-CF09-C6F444700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57709A2-9276-276C-853C-E9EFF081DE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5FB4B82-F045-F52C-67C1-0C7A39779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F549608-0ED2-5AF7-22AC-DEB9DD782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3F5CC-8501-B362-EBB8-80450496A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409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F4CAB-9CDE-0742-A9A3-9586C6D10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6134819-CC9B-1E1C-7ADB-904584A0F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BC1087-74DF-2A90-7A01-5C687553E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2A5955-1FDE-9785-8C42-E2A68072D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6079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7490125-8171-C777-B540-7EC4800E6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4E58056-AB27-FC65-5346-9DFF27A7E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E3DEA7-44C6-2A17-C926-ACB95EC5F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782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034652-AC4B-2E32-198A-697DA9B0D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07E542-36C1-8305-080C-716225C38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E07E8E-FE75-8C60-2638-0D4F000442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7FF7D6-F075-4C72-0BB8-F0B1E3E5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6E899C-7B3F-C46F-A2D0-8D39C3462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F74AE4-4B7C-EE11-39AA-786777417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8053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C19FE6-5AC2-5431-A876-1AB34B235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4B173A9-0F99-E773-DB51-B3DA01CD69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7CAD81-0B37-2162-668F-36536924C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F5625-B133-C7B1-C68A-C7F4AAFFD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E48DD3-5484-DAD9-D6F8-BBA98CA91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7F88DB-5D6D-0BE3-0156-4F39E70D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479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61444E-FBDE-EA4A-684D-9EBFE88B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EDB20BC-798E-D1F9-950B-DE89C4A47B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AF3383-2669-395B-7053-7AE015F41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476FC-95D1-5FFB-3EE1-363C0D8B6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833A7-DD98-D33B-BB9B-2D8FE2083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8306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BCCCA99-2175-9820-6D62-08F4F2576A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28E2E70-3F9E-34C8-4E32-74C3E43F6A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BD84B7-E03F-E0B9-42A2-39EF677A3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2975BD-F278-F0B5-9FB7-EF2DA26F4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9E03D1-976A-577E-A06B-04ABD1E27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175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4032049-8FDB-16EB-B5C9-DE3DA34F0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92C6CE-EECF-EB73-B28F-8F8A52CE9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5BDB21-5C39-7A77-EDE2-C416E2AE8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E4A45-CAA9-4171-B493-8B5FE214279D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74DFD1-3085-C22E-E660-56AF4D8E40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048559-93F5-BCA1-F9F1-7DD4A01F3E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94CF46-7D1F-4D33-B039-67985B2C5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430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DD645F44-A765-7A2C-AAD3-80BEF2ED0357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7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8EC847C-0974-863C-DA28-DD2D4C43E91E}"/>
              </a:ext>
            </a:extLst>
          </p:cNvPr>
          <p:cNvSpPr/>
          <p:nvPr/>
        </p:nvSpPr>
        <p:spPr>
          <a:xfrm>
            <a:off x="0" y="0"/>
            <a:ext cx="266700" cy="6858000"/>
          </a:xfrm>
          <a:prstGeom prst="rect">
            <a:avLst/>
          </a:prstGeom>
          <a:solidFill>
            <a:srgbClr val="087069"/>
          </a:solidFill>
          <a:ln w="0">
            <a:solidFill>
              <a:srgbClr val="0870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502D31-0B19-1440-D475-AD7CAB97C98B}"/>
              </a:ext>
            </a:extLst>
          </p:cNvPr>
          <p:cNvSpPr txBox="1"/>
          <p:nvPr/>
        </p:nvSpPr>
        <p:spPr>
          <a:xfrm>
            <a:off x="749808" y="1024127"/>
            <a:ext cx="5852160" cy="32918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5BCFBE"/>
                </a:solidFill>
                <a:latin typeface="Malgun Gothic" panose="020B0503020000020004" pitchFamily="50" charset="-127"/>
              </a:rPr>
              <a:t>ADNI </a:t>
            </a:r>
            <a:r>
              <a:rPr lang="ko-KR" altLang="en-US" b="1">
                <a:solidFill>
                  <a:srgbClr val="5BCFBE"/>
                </a:solidFill>
                <a:latin typeface="Malgun Gothic" panose="020B0503020000020004" pitchFamily="50" charset="-127"/>
              </a:rPr>
              <a:t>기반 구조 </a:t>
            </a:r>
            <a:r>
              <a:rPr lang="en-US" altLang="ko-KR" b="1">
                <a:solidFill>
                  <a:srgbClr val="5BCFBE"/>
                </a:solidFill>
                <a:latin typeface="Malgun Gothic" panose="020B0503020000020004" pitchFamily="50" charset="-127"/>
              </a:rPr>
              <a:t>MRI </a:t>
            </a:r>
            <a:r>
              <a:rPr lang="ko-KR" altLang="en-US" b="1">
                <a:solidFill>
                  <a:srgbClr val="5BCFBE"/>
                </a:solidFill>
                <a:latin typeface="Malgun Gothic" panose="020B0503020000020004" pitchFamily="50" charset="-127"/>
              </a:rPr>
              <a:t>분석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A34A22-4AAC-B880-B85D-4F5C34414893}"/>
              </a:ext>
            </a:extLst>
          </p:cNvPr>
          <p:cNvSpPr txBox="1"/>
          <p:nvPr/>
        </p:nvSpPr>
        <p:spPr>
          <a:xfrm>
            <a:off x="749808" y="1700783"/>
            <a:ext cx="6537960" cy="132588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4600" b="1" dirty="0">
                <a:solidFill>
                  <a:srgbClr val="FFFFFF"/>
                </a:solidFill>
                <a:latin typeface="Malgun Gothic" panose="020B0503020000020004" pitchFamily="50" charset="-127"/>
              </a:rPr>
              <a:t>MRI</a:t>
            </a:r>
            <a:r>
              <a:rPr lang="ko-KR" altLang="en-US" sz="4600" b="1" dirty="0">
                <a:solidFill>
                  <a:srgbClr val="FFFFFF"/>
                </a:solidFill>
                <a:latin typeface="Malgun Gothic" panose="020B0503020000020004" pitchFamily="50" charset="-127"/>
              </a:rPr>
              <a:t>가 말해주는
뇌의 실제 나이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DD8323-0E24-F05B-BD5C-C8C918E6ED2B}"/>
              </a:ext>
            </a:extLst>
          </p:cNvPr>
          <p:cNvSpPr txBox="1"/>
          <p:nvPr/>
        </p:nvSpPr>
        <p:spPr>
          <a:xfrm>
            <a:off x="749808" y="4133087"/>
            <a:ext cx="6355080" cy="64008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dirty="0">
                <a:solidFill>
                  <a:srgbClr val="BAE9E0"/>
                </a:solidFill>
                <a:latin typeface="Malgun Gothic" panose="020B0503020000020004" pitchFamily="50" charset="-127"/>
              </a:rPr>
              <a:t>실제 나이와 예측 뇌 연령의 차이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DAA2F24E-EFD8-55B3-9FB4-1026932B8945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3B54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23A0BEE-C2CA-FA16-E06A-7A7DB8011093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C7682B-4312-C3D0-2298-6C4915EC836C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1 / 13</a:t>
            </a:r>
            <a:endParaRPr lang="ko-KR" altLang="en-US" sz="950">
              <a:solidFill>
                <a:srgbClr val="B5D7D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2E5694F-6F4C-BFFA-3C14-CDA45600D53F}"/>
              </a:ext>
            </a:extLst>
          </p:cNvPr>
          <p:cNvCxnSpPr/>
          <p:nvPr/>
        </p:nvCxnSpPr>
        <p:spPr>
          <a:xfrm>
            <a:off x="749808" y="3401568"/>
            <a:ext cx="1261872" cy="0"/>
          </a:xfrm>
          <a:prstGeom prst="line">
            <a:avLst/>
          </a:prstGeom>
          <a:ln w="30480">
            <a:solidFill>
              <a:srgbClr val="5BCF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72FAFE-89E9-AAD9-7AA1-95B24B2399AE}"/>
              </a:ext>
            </a:extLst>
          </p:cNvPr>
          <p:cNvSpPr txBox="1"/>
          <p:nvPr/>
        </p:nvSpPr>
        <p:spPr>
          <a:xfrm>
            <a:off x="7406640" y="1828800"/>
            <a:ext cx="3931920" cy="147732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9600" b="1">
                <a:solidFill>
                  <a:srgbClr val="087069"/>
                </a:solidFill>
                <a:latin typeface="Malgun Gothic" panose="020B0503020000020004" pitchFamily="50" charset="-127"/>
              </a:rPr>
              <a:t>BAG</a:t>
            </a:r>
            <a:endParaRPr lang="ko-KR" altLang="en-US" sz="9600" b="1">
              <a:solidFill>
                <a:srgbClr val="087069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837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D2349A3-F112-6F1C-89CF-2A24DAAC9D9C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80D13E-68B2-2640-DCEF-4C0B6148E970}"/>
              </a:ext>
            </a:extLst>
          </p:cNvPr>
          <p:cNvSpPr txBox="1"/>
          <p:nvPr/>
        </p:nvSpPr>
        <p:spPr>
          <a:xfrm>
            <a:off x="612648" y="530352"/>
            <a:ext cx="2743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087069"/>
                </a:solidFill>
                <a:latin typeface="Malgun Gothic" panose="020B0503020000020004" pitchFamily="50" charset="-127"/>
              </a:rPr>
              <a:t>연구의 출발점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C58A26-A2CD-7F43-21EC-3264DDC58624}"/>
              </a:ext>
            </a:extLst>
          </p:cNvPr>
          <p:cNvSpPr txBox="1"/>
          <p:nvPr/>
        </p:nvSpPr>
        <p:spPr>
          <a:xfrm>
            <a:off x="612648" y="950976"/>
            <a:ext cx="6858000" cy="120032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900" b="1" dirty="0">
                <a:solidFill>
                  <a:srgbClr val="163F3C"/>
                </a:solidFill>
                <a:latin typeface="Malgun Gothic" panose="020B0503020000020004" pitchFamily="50" charset="-127"/>
              </a:rPr>
              <a:t>같은 나이라도</a:t>
            </a:r>
            <a:r>
              <a:rPr lang="en-US" altLang="ko-KR" sz="3900" b="1" dirty="0">
                <a:solidFill>
                  <a:srgbClr val="163F3C"/>
                </a:solidFill>
                <a:latin typeface="Malgun Gothic" panose="020B0503020000020004" pitchFamily="50" charset="-127"/>
              </a:rPr>
              <a:t>,
</a:t>
            </a:r>
            <a:r>
              <a:rPr lang="ko-KR" altLang="en-US" sz="3900" b="1" dirty="0">
                <a:solidFill>
                  <a:srgbClr val="163F3C"/>
                </a:solidFill>
                <a:latin typeface="Malgun Gothic" panose="020B0503020000020004" pitchFamily="50" charset="-127"/>
              </a:rPr>
              <a:t>뇌의 노화 부담은 다릅니다</a:t>
            </a:r>
            <a:r>
              <a:rPr lang="en-US" altLang="ko-KR" sz="3900" b="1" dirty="0">
                <a:solidFill>
                  <a:srgbClr val="163F3C"/>
                </a:solidFill>
                <a:latin typeface="Malgun Gothic" panose="020B0503020000020004" pitchFamily="50" charset="-127"/>
              </a:rPr>
              <a:t>.</a:t>
            </a:r>
            <a:endParaRPr lang="ko-KR" altLang="en-US" sz="3900" b="1" dirty="0">
              <a:solidFill>
                <a:srgbClr val="163F3C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40228897-4AC6-D698-51CC-3DD53B17B9C3}"/>
              </a:ext>
            </a:extLst>
          </p:cNvPr>
          <p:cNvCxnSpPr/>
          <p:nvPr/>
        </p:nvCxnSpPr>
        <p:spPr>
          <a:xfrm>
            <a:off x="612648" y="2267712"/>
            <a:ext cx="1307592" cy="0"/>
          </a:xfrm>
          <a:prstGeom prst="line">
            <a:avLst/>
          </a:prstGeom>
          <a:ln w="27940">
            <a:solidFill>
              <a:srgbClr val="0F908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E6AEA56-B85C-0B4A-311D-7FC972B4810A}"/>
              </a:ext>
            </a:extLst>
          </p:cNvPr>
          <p:cNvSpPr txBox="1"/>
          <p:nvPr/>
        </p:nvSpPr>
        <p:spPr>
          <a:xfrm>
            <a:off x="612648" y="2606040"/>
            <a:ext cx="106984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dirty="0">
                <a:solidFill>
                  <a:srgbClr val="52706C"/>
                </a:solidFill>
                <a:latin typeface="Malgun Gothic" panose="020B0503020000020004" pitchFamily="50" charset="-127"/>
              </a:rPr>
              <a:t>나이는 시간의 흐름을 말하지만</a:t>
            </a:r>
            <a:r>
              <a:rPr lang="en-US" altLang="ko-KR" dirty="0">
                <a:solidFill>
                  <a:srgbClr val="52706C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dirty="0">
                <a:solidFill>
                  <a:srgbClr val="52706C"/>
                </a:solidFill>
                <a:latin typeface="Malgun Gothic" panose="020B0503020000020004" pitchFamily="50" charset="-127"/>
              </a:rPr>
              <a:t>구조 </a:t>
            </a:r>
            <a:r>
              <a:rPr lang="en-US" altLang="ko-KR" dirty="0">
                <a:solidFill>
                  <a:srgbClr val="52706C"/>
                </a:solidFill>
                <a:latin typeface="Malgun Gothic" panose="020B0503020000020004" pitchFamily="50" charset="-127"/>
              </a:rPr>
              <a:t>MRI</a:t>
            </a:r>
            <a:r>
              <a:rPr lang="ko-KR" altLang="en-US" dirty="0">
                <a:solidFill>
                  <a:srgbClr val="52706C"/>
                </a:solidFill>
                <a:latin typeface="Malgun Gothic" panose="020B0503020000020004" pitchFamily="50" charset="-127"/>
              </a:rPr>
              <a:t>는 사람마다 다른 뇌 구조의 변화를 보여 줍니다</a:t>
            </a:r>
            <a:r>
              <a:rPr lang="en-US" altLang="ko-KR" dirty="0">
                <a:solidFill>
                  <a:srgbClr val="52706C"/>
                </a:solidFill>
                <a:latin typeface="Malgun Gothic" panose="020B0503020000020004" pitchFamily="50" charset="-127"/>
              </a:rPr>
              <a:t>.</a:t>
            </a:r>
            <a:endParaRPr lang="ko-KR" altLang="en-US" dirty="0">
              <a:solidFill>
                <a:srgbClr val="52706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A4FC72-1476-E113-C4E4-A1AFAE35E90C}"/>
              </a:ext>
            </a:extLst>
          </p:cNvPr>
          <p:cNvSpPr txBox="1"/>
          <p:nvPr/>
        </p:nvSpPr>
        <p:spPr>
          <a:xfrm>
            <a:off x="777240" y="3822192"/>
            <a:ext cx="237744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400" b="1">
                <a:solidFill>
                  <a:srgbClr val="087069"/>
                </a:solidFill>
                <a:latin typeface="Malgun Gothic" panose="020B0503020000020004" pitchFamily="50" charset="-127"/>
              </a:rPr>
              <a:t>달력 나이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DF945F-9D88-A667-282C-C8712895B005}"/>
              </a:ext>
            </a:extLst>
          </p:cNvPr>
          <p:cNvSpPr txBox="1"/>
          <p:nvPr/>
        </p:nvSpPr>
        <p:spPr>
          <a:xfrm>
            <a:off x="777240" y="4315968"/>
            <a:ext cx="26060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>
                <a:solidFill>
                  <a:srgbClr val="52706C"/>
                </a:solidFill>
                <a:latin typeface="Malgun Gothic" panose="020B0503020000020004" pitchFamily="50" charset="-127"/>
              </a:rPr>
              <a:t>시간의 흐름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9EAC46-2FD5-5ED6-56A6-D7EA0A8B721B}"/>
              </a:ext>
            </a:extLst>
          </p:cNvPr>
          <p:cNvSpPr txBox="1"/>
          <p:nvPr/>
        </p:nvSpPr>
        <p:spPr>
          <a:xfrm>
            <a:off x="3291840" y="3950208"/>
            <a:ext cx="4114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200" b="1">
                <a:solidFill>
                  <a:srgbClr val="5BCFBE"/>
                </a:solidFill>
                <a:latin typeface="Malgun Gothic" panose="020B0503020000020004" pitchFamily="50" charset="-127"/>
              </a:rPr>
              <a:t>→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3E3497-C537-9FF5-B3D3-B62F758C1458}"/>
              </a:ext>
            </a:extLst>
          </p:cNvPr>
          <p:cNvSpPr txBox="1"/>
          <p:nvPr/>
        </p:nvSpPr>
        <p:spPr>
          <a:xfrm>
            <a:off x="4069080" y="3822192"/>
            <a:ext cx="237744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400" b="1">
                <a:solidFill>
                  <a:srgbClr val="087069"/>
                </a:solidFill>
                <a:latin typeface="Malgun Gothic" panose="020B0503020000020004" pitchFamily="50" charset="-127"/>
              </a:rPr>
              <a:t>구조 </a:t>
            </a:r>
            <a:r>
              <a:rPr lang="en-US" altLang="ko-KR" sz="2400" b="1">
                <a:solidFill>
                  <a:srgbClr val="087069"/>
                </a:solidFill>
                <a:latin typeface="Malgun Gothic" panose="020B0503020000020004" pitchFamily="50" charset="-127"/>
              </a:rPr>
              <a:t>MRI</a:t>
            </a:r>
            <a:endParaRPr lang="ko-KR" altLang="en-US" sz="2400" b="1">
              <a:solidFill>
                <a:srgbClr val="087069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754523-DE99-3452-61C8-A231B6283F96}"/>
              </a:ext>
            </a:extLst>
          </p:cNvPr>
          <p:cNvSpPr txBox="1"/>
          <p:nvPr/>
        </p:nvSpPr>
        <p:spPr>
          <a:xfrm>
            <a:off x="4069080" y="4315968"/>
            <a:ext cx="26060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>
                <a:solidFill>
                  <a:srgbClr val="52706C"/>
                </a:solidFill>
                <a:latin typeface="Malgun Gothic" panose="020B0503020000020004" pitchFamily="50" charset="-127"/>
              </a:rPr>
              <a:t>뇌 구조의 개인차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686605-6C97-F20C-9885-AE2FC6314664}"/>
              </a:ext>
            </a:extLst>
          </p:cNvPr>
          <p:cNvSpPr txBox="1"/>
          <p:nvPr/>
        </p:nvSpPr>
        <p:spPr>
          <a:xfrm>
            <a:off x="6583680" y="3950208"/>
            <a:ext cx="4114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200" b="1">
                <a:solidFill>
                  <a:srgbClr val="5BCFBE"/>
                </a:solidFill>
                <a:latin typeface="Malgun Gothic" panose="020B0503020000020004" pitchFamily="50" charset="-127"/>
              </a:rPr>
              <a:t>→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2A3A01-1800-4954-DA6A-D6FCC5946AAB}"/>
              </a:ext>
            </a:extLst>
          </p:cNvPr>
          <p:cNvSpPr txBox="1"/>
          <p:nvPr/>
        </p:nvSpPr>
        <p:spPr>
          <a:xfrm>
            <a:off x="7452360" y="3822192"/>
            <a:ext cx="237744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400" b="1" dirty="0">
                <a:solidFill>
                  <a:srgbClr val="0F9084"/>
                </a:solidFill>
                <a:latin typeface="Malgun Gothic" panose="020B0503020000020004" pitchFamily="50" charset="-127"/>
              </a:rPr>
              <a:t>BAG + 3D</a:t>
            </a:r>
            <a:endParaRPr lang="ko-KR" altLang="en-US" sz="2400" b="1" dirty="0">
              <a:solidFill>
                <a:srgbClr val="0F90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6B15AE-DEB5-3CF5-5F22-7467EE334282}"/>
              </a:ext>
            </a:extLst>
          </p:cNvPr>
          <p:cNvSpPr txBox="1"/>
          <p:nvPr/>
        </p:nvSpPr>
        <p:spPr>
          <a:xfrm>
            <a:off x="7452360" y="4315968"/>
            <a:ext cx="26060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 dirty="0">
                <a:solidFill>
                  <a:srgbClr val="52706C"/>
                </a:solidFill>
                <a:latin typeface="Malgun Gothic" panose="020B0503020000020004" pitchFamily="50" charset="-127"/>
              </a:rPr>
              <a:t>노화 부담과 취약 위치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3F5379C-D0F4-F51D-2ACE-BF3E3954C2F4}"/>
              </a:ext>
            </a:extLst>
          </p:cNvPr>
          <p:cNvSpPr/>
          <p:nvPr/>
        </p:nvSpPr>
        <p:spPr>
          <a:xfrm>
            <a:off x="612648" y="5074920"/>
            <a:ext cx="10972800" cy="566928"/>
          </a:xfrm>
          <a:prstGeom prst="rect">
            <a:avLst/>
          </a:prstGeom>
          <a:solidFill>
            <a:srgbClr val="EFF9F7"/>
          </a:solidFill>
          <a:ln>
            <a:solidFill>
              <a:srgbClr val="CAE2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8A4617-CD16-DD71-90A7-8BDA225876B3}"/>
              </a:ext>
            </a:extLst>
          </p:cNvPr>
          <p:cNvSpPr txBox="1"/>
          <p:nvPr/>
        </p:nvSpPr>
        <p:spPr>
          <a:xfrm>
            <a:off x="868680" y="5239512"/>
            <a:ext cx="105156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 b="1">
                <a:solidFill>
                  <a:srgbClr val="163F3C"/>
                </a:solidFill>
                <a:latin typeface="Malgun Gothic" panose="020B0503020000020004" pitchFamily="50" charset="-127"/>
              </a:rPr>
              <a:t>목적</a:t>
            </a:r>
            <a:r>
              <a:rPr lang="en-US" altLang="ko-KR" sz="1500" b="1">
                <a:solidFill>
                  <a:srgbClr val="163F3C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500" b="1">
                <a:solidFill>
                  <a:srgbClr val="163F3C"/>
                </a:solidFill>
                <a:latin typeface="Malgun Gothic" panose="020B0503020000020004" pitchFamily="50" charset="-127"/>
              </a:rPr>
              <a:t>진단명을 맞히는 것이 아니라</a:t>
            </a:r>
            <a:r>
              <a:rPr lang="en-US" altLang="ko-KR" sz="1500" b="1">
                <a:solidFill>
                  <a:srgbClr val="163F3C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500" b="1">
                <a:solidFill>
                  <a:srgbClr val="163F3C"/>
                </a:solidFill>
                <a:latin typeface="Malgun Gothic" panose="020B0503020000020004" pitchFamily="50" charset="-127"/>
              </a:rPr>
              <a:t>정상 노화 기준에서 벗어난 구조적 부담을 수치와 위치로 해석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5EEF1302-8912-89A3-935D-ACAA900A2D63}"/>
              </a:ext>
            </a:extLst>
          </p:cNvPr>
          <p:cNvCxnSpPr/>
          <p:nvPr/>
        </p:nvCxnSpPr>
        <p:spPr>
          <a:xfrm>
            <a:off x="612648" y="6391656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077416E-D704-C830-1F65-B026DAD25B32}"/>
              </a:ext>
            </a:extLst>
          </p:cNvPr>
          <p:cNvSpPr txBox="1"/>
          <p:nvPr/>
        </p:nvSpPr>
        <p:spPr>
          <a:xfrm>
            <a:off x="612648" y="6528816"/>
            <a:ext cx="4443984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52706C"/>
                </a:solidFill>
                <a:latin typeface="Malgun Gothic" panose="020B0503020000020004" pitchFamily="50" charset="-127"/>
              </a:rPr>
              <a:t>ADNI </a:t>
            </a:r>
            <a:r>
              <a:rPr lang="ko-KR" altLang="en-US" sz="1000">
                <a:solidFill>
                  <a:srgbClr val="52706C"/>
                </a:solidFill>
                <a:latin typeface="Malgun Gothic" panose="020B0503020000020004" pitchFamily="50" charset="-127"/>
              </a:rPr>
              <a:t>기반 뇌 연령 </a:t>
            </a:r>
            <a:r>
              <a:rPr lang="en-US" altLang="ko-KR" sz="1000">
                <a:solidFill>
                  <a:srgbClr val="52706C"/>
                </a:solidFill>
                <a:latin typeface="Malgun Gothic" panose="020B0503020000020004" pitchFamily="50" charset="-127"/>
              </a:rPr>
              <a:t>BAG </a:t>
            </a:r>
            <a:r>
              <a:rPr lang="ko-KR" altLang="en-US" sz="1000">
                <a:solidFill>
                  <a:srgbClr val="52706C"/>
                </a:solidFill>
                <a:latin typeface="Malgun Gothic" panose="020B0503020000020004" pitchFamily="50" charset="-127"/>
              </a:rPr>
              <a:t>분석 </a:t>
            </a:r>
            <a:r>
              <a:rPr lang="en-US" altLang="ko-KR" sz="1000">
                <a:solidFill>
                  <a:srgbClr val="52706C"/>
                </a:solidFill>
                <a:latin typeface="Malgun Gothic" panose="020B0503020000020004" pitchFamily="50" charset="-127"/>
              </a:rPr>
              <a:t>| </a:t>
            </a:r>
            <a:r>
              <a:rPr lang="ko-KR" altLang="en-US" sz="1000">
                <a:solidFill>
                  <a:srgbClr val="52706C"/>
                </a:solidFill>
                <a:latin typeface="Malgun Gothic" panose="020B0503020000020004" pitchFamily="50" charset="-127"/>
              </a:rPr>
              <a:t>연구용 결과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68BA03-5665-1D63-49F4-BFC598FC1B12}"/>
              </a:ext>
            </a:extLst>
          </p:cNvPr>
          <p:cNvSpPr txBox="1"/>
          <p:nvPr/>
        </p:nvSpPr>
        <p:spPr>
          <a:xfrm>
            <a:off x="10607040" y="6528816"/>
            <a:ext cx="978408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52706C"/>
                </a:solidFill>
                <a:latin typeface="Malgun Gothic" panose="020B0503020000020004" pitchFamily="50" charset="-127"/>
              </a:rPr>
              <a:t>2 / 13</a:t>
            </a:r>
            <a:endParaRPr lang="ko-KR" altLang="en-US" sz="1000">
              <a:solidFill>
                <a:srgbClr val="52706C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90689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37FBE710-96D3-EFBD-B7D0-8CA489A4731C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567D58-68B3-D39E-6B88-38DE8A744240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핵심 개념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8BD94-CB9A-F2E3-4D9B-73FD1C1438F6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BAG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는 “얼마나”</a:t>
            </a:r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, 3D 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지도는 “어디가”를 보여 줍니다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FD81B5A4-F5D9-1334-0F35-04AFDDE86CC2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B528623-98B1-C44E-EB16-11D25512E879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AD50CDA-D0D3-468D-7F70-367BD2CD7014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19A346-D899-78BB-9834-225790C9B130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3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6E094-C74A-701F-AC6E-AFD1A2AE3F68}"/>
              </a:ext>
            </a:extLst>
          </p:cNvPr>
          <p:cNvSpPr txBox="1"/>
          <p:nvPr/>
        </p:nvSpPr>
        <p:spPr>
          <a:xfrm>
            <a:off x="609600" y="1905000"/>
            <a:ext cx="10972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2800" b="1">
                <a:solidFill>
                  <a:srgbClr val="163F3C"/>
                </a:solidFill>
                <a:latin typeface="맑은 고딕" panose="020B0503020000020004" pitchFamily="50" charset="-127"/>
              </a:rPr>
              <a:t>보정 예측 뇌 연령  −  실제 나이  </a:t>
            </a:r>
            <a:r>
              <a:rPr lang="en-US" altLang="ko-KR" sz="2800" b="1">
                <a:solidFill>
                  <a:srgbClr val="163F3C"/>
                </a:solidFill>
                <a:latin typeface="맑은 고딕" panose="020B0503020000020004" pitchFamily="50" charset="-127"/>
              </a:rPr>
              <a:t>=  Bias-Corrected BAG</a:t>
            </a:r>
            <a:endParaRPr lang="ko-KR" altLang="en-US" sz="2800" b="1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18DD171-9539-1E06-8378-CC461DFBAE03}"/>
              </a:ext>
            </a:extLst>
          </p:cNvPr>
          <p:cNvSpPr/>
          <p:nvPr/>
        </p:nvSpPr>
        <p:spPr>
          <a:xfrm>
            <a:off x="609600" y="3276600"/>
            <a:ext cx="4546600" cy="1727200"/>
          </a:xfrm>
          <a:prstGeom prst="rect">
            <a:avLst/>
          </a:prstGeom>
          <a:solidFill>
            <a:srgbClr val="F8FCFB"/>
          </a:solidFill>
          <a:ln w="10160">
            <a:solidFill>
              <a:srgbClr val="DBF0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110CED-8864-2846-AEE8-ABEC53E0D93C}"/>
              </a:ext>
            </a:extLst>
          </p:cNvPr>
          <p:cNvSpPr txBox="1"/>
          <p:nvPr/>
        </p:nvSpPr>
        <p:spPr>
          <a:xfrm>
            <a:off x="914400" y="35941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087069"/>
                </a:solidFill>
                <a:latin typeface="맑은 고딕" panose="020B0503020000020004" pitchFamily="50" charset="-127"/>
              </a:rPr>
              <a:t>BAG: </a:t>
            </a:r>
            <a:r>
              <a:rPr lang="ko-KR" altLang="en-US" sz="2000" b="1">
                <a:solidFill>
                  <a:srgbClr val="087069"/>
                </a:solidFill>
                <a:latin typeface="맑은 고딕" panose="020B0503020000020004" pitchFamily="50" charset="-127"/>
              </a:rPr>
              <a:t>노화 부담의 크기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8293D8-BBF8-4B38-96FE-42F3CE30B632}"/>
              </a:ext>
            </a:extLst>
          </p:cNvPr>
          <p:cNvSpPr txBox="1"/>
          <p:nvPr/>
        </p:nvSpPr>
        <p:spPr>
          <a:xfrm>
            <a:off x="914400" y="4140200"/>
            <a:ext cx="349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600">
                <a:solidFill>
                  <a:srgbClr val="52706C"/>
                </a:solidFill>
                <a:latin typeface="맑은 고딕" panose="020B0503020000020004" pitchFamily="50" charset="-127"/>
              </a:rPr>
              <a:t>양수</a:t>
            </a:r>
            <a:r>
              <a:rPr lang="en-US" altLang="ko-KR" sz="1600">
                <a:solidFill>
                  <a:srgbClr val="52706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600">
                <a:solidFill>
                  <a:srgbClr val="52706C"/>
                </a:solidFill>
                <a:latin typeface="맑은 고딕" panose="020B0503020000020004" pitchFamily="50" charset="-127"/>
              </a:rPr>
              <a:t>실제 나이보다 더 늙게 예측
음수</a:t>
            </a:r>
            <a:r>
              <a:rPr lang="en-US" altLang="ko-KR" sz="1600">
                <a:solidFill>
                  <a:srgbClr val="52706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600">
                <a:solidFill>
                  <a:srgbClr val="52706C"/>
                </a:solidFill>
                <a:latin typeface="맑은 고딕" panose="020B0503020000020004" pitchFamily="50" charset="-127"/>
              </a:rPr>
              <a:t>실제 나이보다 더 젊게 예측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A4BB33-4BD9-83DB-BB4C-775DE6364E26}"/>
              </a:ext>
            </a:extLst>
          </p:cNvPr>
          <p:cNvSpPr txBox="1"/>
          <p:nvPr/>
        </p:nvSpPr>
        <p:spPr>
          <a:xfrm>
            <a:off x="5499100" y="3784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3600" b="1">
                <a:solidFill>
                  <a:srgbClr val="1AA79A"/>
                </a:solidFill>
                <a:latin typeface="맑은 고딕" panose="020B0503020000020004" pitchFamily="50" charset="-127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69091A-0829-9208-6200-6D4FB26D305C}"/>
              </a:ext>
            </a:extLst>
          </p:cNvPr>
          <p:cNvSpPr/>
          <p:nvPr/>
        </p:nvSpPr>
        <p:spPr>
          <a:xfrm>
            <a:off x="7010400" y="3276600"/>
            <a:ext cx="4572000" cy="1727200"/>
          </a:xfrm>
          <a:prstGeom prst="rect">
            <a:avLst/>
          </a:prstGeom>
          <a:solidFill>
            <a:srgbClr val="F3FBF9"/>
          </a:solidFill>
          <a:ln w="10160">
            <a:solidFill>
              <a:srgbClr val="AEE4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CCC8FB-6F03-A726-5C81-C3FDEA882CCD}"/>
              </a:ext>
            </a:extLst>
          </p:cNvPr>
          <p:cNvSpPr txBox="1"/>
          <p:nvPr/>
        </p:nvSpPr>
        <p:spPr>
          <a:xfrm>
            <a:off x="7315200" y="3594100"/>
            <a:ext cx="368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075F5A"/>
                </a:solidFill>
                <a:latin typeface="맑은 고딕" panose="020B0503020000020004" pitchFamily="50" charset="-127"/>
              </a:rPr>
              <a:t>3D </a:t>
            </a:r>
            <a:r>
              <a:rPr lang="ko-KR" altLang="en-US" sz="2000" b="1">
                <a:solidFill>
                  <a:srgbClr val="075F5A"/>
                </a:solidFill>
                <a:latin typeface="맑은 고딕" panose="020B0503020000020004" pitchFamily="50" charset="-127"/>
              </a:rPr>
              <a:t>지도</a:t>
            </a:r>
            <a:r>
              <a:rPr lang="en-US" altLang="ko-KR" sz="2000" b="1">
                <a:solidFill>
                  <a:srgbClr val="075F5A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2000" b="1">
                <a:solidFill>
                  <a:srgbClr val="075F5A"/>
                </a:solidFill>
                <a:latin typeface="맑은 고딕" panose="020B0503020000020004" pitchFamily="50" charset="-127"/>
              </a:rPr>
              <a:t>취약 부위의 위치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114A4D-5383-C57A-784D-37CC410130EF}"/>
              </a:ext>
            </a:extLst>
          </p:cNvPr>
          <p:cNvSpPr txBox="1"/>
          <p:nvPr/>
        </p:nvSpPr>
        <p:spPr>
          <a:xfrm>
            <a:off x="7315200" y="41402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600">
                <a:solidFill>
                  <a:srgbClr val="52706C"/>
                </a:solidFill>
                <a:latin typeface="맑은 고딕" panose="020B0503020000020004" pitchFamily="50" charset="-127"/>
              </a:rPr>
              <a:t>FreeSurfer ROI</a:t>
            </a:r>
            <a:r>
              <a:rPr lang="ko-KR" altLang="en-US" sz="1600">
                <a:solidFill>
                  <a:srgbClr val="52706C"/>
                </a:solidFill>
                <a:latin typeface="맑은 고딕" panose="020B0503020000020004" pitchFamily="50" charset="-127"/>
              </a:rPr>
              <a:t>의 정량 차이를
표준 피질 표면에 표시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50C121-F57C-C4A4-0FD4-0FAC114AA908}"/>
              </a:ext>
            </a:extLst>
          </p:cNvPr>
          <p:cNvSpPr txBox="1"/>
          <p:nvPr/>
        </p:nvSpPr>
        <p:spPr>
          <a:xfrm>
            <a:off x="609600" y="5524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700" b="1">
                <a:solidFill>
                  <a:srgbClr val="163F3C"/>
                </a:solidFill>
                <a:latin typeface="맑은 고딕" panose="020B0503020000020004" pitchFamily="50" charset="-127"/>
              </a:rPr>
              <a:t>절대값을 사용하지 않아 </a:t>
            </a:r>
            <a:r>
              <a:rPr lang="en-US" altLang="ko-KR" sz="1700" b="1">
                <a:solidFill>
                  <a:srgbClr val="163F3C"/>
                </a:solidFill>
                <a:latin typeface="맑은 고딕" panose="020B0503020000020004" pitchFamily="50" charset="-127"/>
              </a:rPr>
              <a:t>BAG</a:t>
            </a:r>
            <a:r>
              <a:rPr lang="ko-KR" altLang="en-US" sz="1700" b="1">
                <a:solidFill>
                  <a:srgbClr val="163F3C"/>
                </a:solidFill>
                <a:latin typeface="맑은 고딕" panose="020B0503020000020004" pitchFamily="50" charset="-127"/>
              </a:rPr>
              <a:t>의 방향 정보가 유지됩니다</a:t>
            </a:r>
            <a:r>
              <a:rPr lang="en-US" altLang="ko-KR" sz="1700" b="1">
                <a:solidFill>
                  <a:srgbClr val="163F3C"/>
                </a:solidFill>
                <a:latin typeface="맑은 고딕" panose="020B0503020000020004" pitchFamily="50" charset="-127"/>
              </a:rPr>
              <a:t>.</a:t>
            </a:r>
            <a:endParaRPr lang="ko-KR" altLang="en-US" sz="1700" b="1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273509-D599-D3A3-1A03-526654212148}"/>
              </a:ext>
            </a:extLst>
          </p:cNvPr>
          <p:cNvSpPr txBox="1"/>
          <p:nvPr/>
        </p:nvSpPr>
        <p:spPr>
          <a:xfrm>
            <a:off x="609600" y="2743200"/>
            <a:ext cx="10972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1250">
                <a:solidFill>
                  <a:srgbClr val="52706C"/>
                </a:solidFill>
                <a:latin typeface="맑은 고딕" panose="020B0503020000020004" pitchFamily="50" charset="-127"/>
              </a:rPr>
              <a:t>보정 기준</a:t>
            </a:r>
            <a:r>
              <a:rPr lang="en-US" altLang="ko-KR" sz="1250">
                <a:solidFill>
                  <a:srgbClr val="52706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250">
                <a:solidFill>
                  <a:srgbClr val="52706C"/>
                </a:solidFill>
                <a:latin typeface="맑은 고딕" panose="020B0503020000020004" pitchFamily="50" charset="-127"/>
              </a:rPr>
              <a:t>검증 </a:t>
            </a:r>
            <a:r>
              <a:rPr lang="en-US" altLang="ko-KR" sz="1250">
                <a:solidFill>
                  <a:srgbClr val="52706C"/>
                </a:solidFill>
                <a:latin typeface="맑은 고딕" panose="020B0503020000020004" pitchFamily="50" charset="-127"/>
              </a:rPr>
              <a:t>CN</a:t>
            </a:r>
            <a:r>
              <a:rPr lang="ko-KR" altLang="en-US" sz="1250">
                <a:solidFill>
                  <a:srgbClr val="52706C"/>
                </a:solidFill>
                <a:latin typeface="맑은 고딕" panose="020B0503020000020004" pitchFamily="50" charset="-127"/>
              </a:rPr>
              <a:t>에서 </a:t>
            </a:r>
            <a:r>
              <a:rPr lang="en-US" altLang="ko-KR" sz="1250">
                <a:solidFill>
                  <a:srgbClr val="52706C"/>
                </a:solidFill>
                <a:latin typeface="맑은 고딕" panose="020B0503020000020004" pitchFamily="50" charset="-127"/>
              </a:rPr>
              <a:t>raw prediction = a + b × </a:t>
            </a:r>
            <a:r>
              <a:rPr lang="ko-KR" altLang="en-US" sz="1250">
                <a:solidFill>
                  <a:srgbClr val="52706C"/>
                </a:solidFill>
                <a:latin typeface="맑은 고딕" panose="020B0503020000020004" pitchFamily="50" charset="-127"/>
              </a:rPr>
              <a:t>실제 나이 → 보정 예측 뇌 연령 </a:t>
            </a:r>
            <a:r>
              <a:rPr lang="en-US" altLang="ko-KR" sz="1250">
                <a:solidFill>
                  <a:srgbClr val="52706C"/>
                </a:solidFill>
                <a:latin typeface="맑은 고딕" panose="020B0503020000020004" pitchFamily="50" charset="-127"/>
              </a:rPr>
              <a:t>= (raw − a) / b</a:t>
            </a:r>
            <a:endParaRPr lang="ko-KR" altLang="en-US" sz="12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4567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080E466-F7AF-1560-F576-627F1995F0EE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9493B-8D16-E322-5199-771A4E0C5670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데이터 품질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CBF08C-D547-BFC9-61C1-0A9616F3BFEE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비교에 앞서</a:t>
            </a:r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같은 사람의 반복 </a:t>
            </a:r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MRI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를 제거했습니다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F247E49-7B3D-3954-8100-F06B3C570168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34AD8E7-1A9E-8022-039A-FF080573AB08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67B155C-4350-448F-9BED-1D6C73A6866F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FF8EEE-C453-BA7F-EE74-24AE9611CC57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4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B33103C-39B4-F6EE-49CC-7F5AC966E41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006600"/>
            <a:ext cx="5842000" cy="3530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57E5EB-3455-CF07-D1E6-17C07D2CB981}"/>
              </a:ext>
            </a:extLst>
          </p:cNvPr>
          <p:cNvSpPr txBox="1"/>
          <p:nvPr/>
        </p:nvSpPr>
        <p:spPr>
          <a:xfrm>
            <a:off x="7162800" y="2082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200" b="1">
                <a:solidFill>
                  <a:srgbClr val="087069"/>
                </a:solidFill>
                <a:latin typeface="맑은 고딕" panose="020B0503020000020004" pitchFamily="50" charset="-127"/>
              </a:rPr>
              <a:t>Index MRI </a:t>
            </a:r>
            <a:r>
              <a:rPr lang="ko-KR" altLang="en-US" sz="2200" b="1">
                <a:solidFill>
                  <a:srgbClr val="087069"/>
                </a:solidFill>
                <a:latin typeface="맑은 고딕" panose="020B0503020000020004" pitchFamily="50" charset="-127"/>
              </a:rPr>
              <a:t>원칙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66B3A-5360-35E8-2ECB-2F2F6734E668}"/>
              </a:ext>
            </a:extLst>
          </p:cNvPr>
          <p:cNvSpPr txBox="1"/>
          <p:nvPr/>
        </p:nvSpPr>
        <p:spPr>
          <a:xfrm>
            <a:off x="7162800" y="26289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700">
                <a:solidFill>
                  <a:srgbClr val="163F3C"/>
                </a:solidFill>
                <a:latin typeface="맑은 고딕" panose="020B0503020000020004" pitchFamily="50" charset="-127"/>
              </a:rPr>
              <a:t>RID</a:t>
            </a:r>
            <a:r>
              <a:rPr lang="ko-KR" altLang="en-US" sz="1700">
                <a:solidFill>
                  <a:srgbClr val="163F3C"/>
                </a:solidFill>
                <a:latin typeface="맑은 고딕" panose="020B0503020000020004" pitchFamily="50" charset="-127"/>
              </a:rPr>
              <a:t>별 가장 이른 유효 </a:t>
            </a:r>
            <a:r>
              <a:rPr lang="en-US" altLang="ko-KR" sz="1700">
                <a:solidFill>
                  <a:srgbClr val="163F3C"/>
                </a:solidFill>
                <a:latin typeface="맑은 고딕" panose="020B0503020000020004" pitchFamily="50" charset="-127"/>
              </a:rPr>
              <a:t>T1 MRI 1</a:t>
            </a:r>
            <a:r>
              <a:rPr lang="ko-KR" altLang="en-US" sz="1700">
                <a:solidFill>
                  <a:srgbClr val="163F3C"/>
                </a:solidFill>
                <a:latin typeface="맑은 고딕" panose="020B0503020000020004" pitchFamily="50" charset="-127"/>
              </a:rPr>
              <a:t>건만 사용
반복 측정이 학습과 평가에 함께 섞이는 문제를 방지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E631EBD0-F56C-471C-66C4-44FE0199E6A1}"/>
              </a:ext>
            </a:extLst>
          </p:cNvPr>
          <p:cNvCxnSpPr/>
          <p:nvPr/>
        </p:nvCxnSpPr>
        <p:spPr>
          <a:xfrm>
            <a:off x="7162800" y="3644900"/>
            <a:ext cx="4241800" cy="0"/>
          </a:xfrm>
          <a:prstGeom prst="line">
            <a:avLst/>
          </a:prstGeom>
          <a:ln w="1270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C07673-5443-0EBD-67C0-53BFB67498C7}"/>
              </a:ext>
            </a:extLst>
          </p:cNvPr>
          <p:cNvSpPr txBox="1"/>
          <p:nvPr/>
        </p:nvSpPr>
        <p:spPr>
          <a:xfrm>
            <a:off x="7162800" y="39116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63F3C"/>
                </a:solidFill>
                <a:latin typeface="맑은 고딕" panose="020B0503020000020004" pitchFamily="50" charset="-127"/>
              </a:rPr>
              <a:t>2,385</a:t>
            </a:r>
            <a:r>
              <a:rPr lang="ko-KR" altLang="en-US" sz="3300" b="1">
                <a:solidFill>
                  <a:srgbClr val="163F3C"/>
                </a:solidFill>
                <a:latin typeface="맑은 고딕" panose="020B0503020000020004" pitchFamily="50" charset="-127"/>
              </a:rPr>
              <a:t>명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7C875A-1DE4-59A9-8FAF-465D90DFF9A2}"/>
              </a:ext>
            </a:extLst>
          </p:cNvPr>
          <p:cNvSpPr txBox="1"/>
          <p:nvPr/>
        </p:nvSpPr>
        <p:spPr>
          <a:xfrm>
            <a:off x="7162800" y="4495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최종 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Index MRI </a:t>
            </a:r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코호트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256291-4218-F9CE-2F03-8D1DC39453EA}"/>
              </a:ext>
            </a:extLst>
          </p:cNvPr>
          <p:cNvSpPr txBox="1"/>
          <p:nvPr/>
        </p:nvSpPr>
        <p:spPr>
          <a:xfrm>
            <a:off x="7162800" y="4991100"/>
            <a:ext cx="137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400" b="1">
                <a:solidFill>
                  <a:srgbClr val="087069"/>
                </a:solidFill>
                <a:latin typeface="맑은 고딕" panose="020B0503020000020004" pitchFamily="50" charset="-127"/>
              </a:rPr>
              <a:t>CN 911</a:t>
            </a:r>
            <a:endParaRPr lang="ko-KR" altLang="en-US" sz="2400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4C1248-B7F0-B7A8-141B-7CD8EE48802C}"/>
              </a:ext>
            </a:extLst>
          </p:cNvPr>
          <p:cNvSpPr txBox="1"/>
          <p:nvPr/>
        </p:nvSpPr>
        <p:spPr>
          <a:xfrm>
            <a:off x="8750300" y="49911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400" b="1">
                <a:solidFill>
                  <a:srgbClr val="1AA79A"/>
                </a:solidFill>
                <a:latin typeface="맑은 고딕" panose="020B0503020000020004" pitchFamily="50" charset="-127"/>
              </a:rPr>
              <a:t>MCI 1,088</a:t>
            </a:r>
            <a:endParaRPr lang="ko-KR" altLang="en-US" sz="2400" b="1">
              <a:solidFill>
                <a:srgbClr val="1AA79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470B78-E9C6-5192-F452-688D45278952}"/>
              </a:ext>
            </a:extLst>
          </p:cNvPr>
          <p:cNvSpPr txBox="1"/>
          <p:nvPr/>
        </p:nvSpPr>
        <p:spPr>
          <a:xfrm>
            <a:off x="10477500" y="50165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075F5A"/>
                </a:solidFill>
                <a:latin typeface="맑은 고딕" panose="020B0503020000020004" pitchFamily="50" charset="-127"/>
              </a:rPr>
              <a:t>AD 386</a:t>
            </a:r>
            <a:endParaRPr lang="ko-KR" altLang="en-US" sz="2000" b="1">
              <a:solidFill>
                <a:srgbClr val="075F5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A11AAB-B9BC-D1F5-99BE-F54421B1D33E}"/>
              </a:ext>
            </a:extLst>
          </p:cNvPr>
          <p:cNvSpPr txBox="1"/>
          <p:nvPr/>
        </p:nvSpPr>
        <p:spPr>
          <a:xfrm>
            <a:off x="609600" y="5791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300">
                <a:solidFill>
                  <a:srgbClr val="52706C"/>
                </a:solidFill>
                <a:latin typeface="맑은 고딕" panose="020B0503020000020004" pitchFamily="50" charset="-127"/>
              </a:rPr>
              <a:t>용어</a:t>
            </a:r>
            <a:r>
              <a:rPr lang="en-US" altLang="ko-KR" sz="1300">
                <a:solidFill>
                  <a:srgbClr val="52706C"/>
                </a:solidFill>
                <a:latin typeface="맑은 고딕" panose="020B0503020000020004" pitchFamily="50" charset="-127"/>
              </a:rPr>
              <a:t>: CN=</a:t>
            </a:r>
            <a:r>
              <a:rPr lang="ko-KR" altLang="en-US" sz="1300">
                <a:solidFill>
                  <a:srgbClr val="52706C"/>
                </a:solidFill>
                <a:latin typeface="맑은 고딕" panose="020B0503020000020004" pitchFamily="50" charset="-127"/>
              </a:rPr>
              <a:t>정상 인지 </a:t>
            </a:r>
            <a:r>
              <a:rPr lang="en-US" altLang="ko-KR" sz="1300">
                <a:solidFill>
                  <a:srgbClr val="52706C"/>
                </a:solidFill>
                <a:latin typeface="맑은 고딕" panose="020B0503020000020004" pitchFamily="50" charset="-127"/>
              </a:rPr>
              <a:t>| MCI=</a:t>
            </a:r>
            <a:r>
              <a:rPr lang="ko-KR" altLang="en-US" sz="1300">
                <a:solidFill>
                  <a:srgbClr val="52706C"/>
                </a:solidFill>
                <a:latin typeface="맑은 고딕" panose="020B0503020000020004" pitchFamily="50" charset="-127"/>
              </a:rPr>
              <a:t>경도인지장애 </a:t>
            </a:r>
            <a:r>
              <a:rPr lang="en-US" altLang="ko-KR" sz="1300">
                <a:solidFill>
                  <a:srgbClr val="52706C"/>
                </a:solidFill>
                <a:latin typeface="맑은 고딕" panose="020B0503020000020004" pitchFamily="50" charset="-127"/>
              </a:rPr>
              <a:t>| AD=</a:t>
            </a:r>
            <a:r>
              <a:rPr lang="ko-KR" altLang="en-US" sz="1300">
                <a:solidFill>
                  <a:srgbClr val="52706C"/>
                </a:solidFill>
                <a:latin typeface="맑은 고딕" panose="020B0503020000020004" pitchFamily="50" charset="-127"/>
              </a:rPr>
              <a:t>알츠하이머병</a:t>
            </a:r>
          </a:p>
        </p:txBody>
      </p:sp>
    </p:spTree>
    <p:extLst>
      <p:ext uri="{BB962C8B-B14F-4D97-AF65-F5344CB8AC3E}">
        <p14:creationId xmlns:p14="http://schemas.microsoft.com/office/powerpoint/2010/main" val="2158356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5DF12AB6-381B-8FB8-FB1D-112972631334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FADD91-BA01-749D-42E5-4E03CBCAB255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모델 설계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75FF50-77EF-F863-0C8B-8517B2333BAF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정상 노화의 기준을 먼저 학습했습니다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80039BF-CABB-D9E5-570C-7EA4703688D9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7D055CD-905C-B3AD-39E6-2014368F3DED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732B958-B830-3B8F-4ABA-2EC0D1485180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9B9ABD-4F90-4745-E827-9AA3F088B55B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5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ACFD1-898C-7272-8494-2995A8D34605}"/>
              </a:ext>
            </a:extLst>
          </p:cNvPr>
          <p:cNvSpPr txBox="1"/>
          <p:nvPr/>
        </p:nvSpPr>
        <p:spPr>
          <a:xfrm>
            <a:off x="609600" y="19050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CN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만으로 정상 노화의 뇌 구조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-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나이 관계를 학습하고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모든 집단의 이탈 정도를 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BAG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로 평가했습니다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.</a:t>
            </a:r>
            <a:endParaRPr lang="ko-KR" altLang="en-US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59C00-57B5-ED79-1D2C-831BB418A0DF}"/>
              </a:ext>
            </a:extLst>
          </p:cNvPr>
          <p:cNvSpPr txBox="1"/>
          <p:nvPr/>
        </p:nvSpPr>
        <p:spPr>
          <a:xfrm>
            <a:off x="825500" y="29718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087069"/>
                </a:solidFill>
                <a:latin typeface="맑은 고딕" panose="020B0503020000020004" pitchFamily="50" charset="-127"/>
              </a:rPr>
              <a:t>01</a:t>
            </a:r>
            <a:endParaRPr lang="ko-KR" altLang="en-US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16428CD-BBAB-5C20-A51A-F141A1ECE47B}"/>
              </a:ext>
            </a:extLst>
          </p:cNvPr>
          <p:cNvCxnSpPr/>
          <p:nvPr/>
        </p:nvCxnSpPr>
        <p:spPr>
          <a:xfrm>
            <a:off x="825500" y="3390900"/>
            <a:ext cx="2108200" cy="0"/>
          </a:xfrm>
          <a:prstGeom prst="line">
            <a:avLst/>
          </a:prstGeom>
          <a:ln w="1524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4F7672D-8959-60B1-7C9A-9293BE9C7051}"/>
              </a:ext>
            </a:extLst>
          </p:cNvPr>
          <p:cNvSpPr txBox="1"/>
          <p:nvPr/>
        </p:nvSpPr>
        <p:spPr>
          <a:xfrm>
            <a:off x="825500" y="36449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T1 MRI
FreeSurfer ROI</a:t>
            </a:r>
            <a:endParaRPr lang="ko-KR" altLang="en-US" sz="2100" b="1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CDD9A6-F3A4-8E05-A2DE-D5DCF2DF0253}"/>
              </a:ext>
            </a:extLst>
          </p:cNvPr>
          <p:cNvSpPr txBox="1"/>
          <p:nvPr/>
        </p:nvSpPr>
        <p:spPr>
          <a:xfrm>
            <a:off x="825500" y="4521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피질 두께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용적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해마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뇌실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·eTIV</a:t>
            </a:r>
            <a:endParaRPr lang="ko-KR" altLang="en-US" sz="14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B70125-23B3-20B2-2FAE-72EBCE4D2FC3}"/>
              </a:ext>
            </a:extLst>
          </p:cNvPr>
          <p:cNvSpPr txBox="1"/>
          <p:nvPr/>
        </p:nvSpPr>
        <p:spPr>
          <a:xfrm>
            <a:off x="3009900" y="3632200"/>
            <a:ext cx="44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2000" b="1">
                <a:solidFill>
                  <a:srgbClr val="1AA79A"/>
                </a:solidFill>
                <a:latin typeface="맑은 고딕" panose="020B0503020000020004" pitchFamily="50" charset="-127"/>
              </a:rPr>
              <a:t>→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BD163F-5562-AB1B-977A-308A7F05A7C0}"/>
              </a:ext>
            </a:extLst>
          </p:cNvPr>
          <p:cNvSpPr txBox="1"/>
          <p:nvPr/>
        </p:nvSpPr>
        <p:spPr>
          <a:xfrm>
            <a:off x="3556000" y="29718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087069"/>
                </a:solidFill>
                <a:latin typeface="맑은 고딕" panose="020B0503020000020004" pitchFamily="50" charset="-127"/>
              </a:rPr>
              <a:t>02</a:t>
            </a:r>
            <a:endParaRPr lang="ko-KR" altLang="en-US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06C632F-B4AC-566E-0ACE-D6CF9D80EE6C}"/>
              </a:ext>
            </a:extLst>
          </p:cNvPr>
          <p:cNvCxnSpPr/>
          <p:nvPr/>
        </p:nvCxnSpPr>
        <p:spPr>
          <a:xfrm>
            <a:off x="3556000" y="3390900"/>
            <a:ext cx="2108200" cy="0"/>
          </a:xfrm>
          <a:prstGeom prst="line">
            <a:avLst/>
          </a:prstGeom>
          <a:ln w="1524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7737C9-B054-8986-6171-1774262B39B9}"/>
              </a:ext>
            </a:extLst>
          </p:cNvPr>
          <p:cNvSpPr txBox="1"/>
          <p:nvPr/>
        </p:nvSpPr>
        <p:spPr>
          <a:xfrm>
            <a:off x="3556000" y="36449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Index MRI
</a:t>
            </a:r>
            <a:r>
              <a:rPr lang="ko-KR" altLang="en-US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전처리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E80B34-E363-2B84-5EF0-34CB14BAFB06}"/>
              </a:ext>
            </a:extLst>
          </p:cNvPr>
          <p:cNvSpPr txBox="1"/>
          <p:nvPr/>
        </p:nvSpPr>
        <p:spPr>
          <a:xfrm>
            <a:off x="3556000" y="4521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RID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별 가장 이른 유효 검사 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ABC2FC-86AD-B33A-1102-23823BEF9076}"/>
              </a:ext>
            </a:extLst>
          </p:cNvPr>
          <p:cNvSpPr txBox="1"/>
          <p:nvPr/>
        </p:nvSpPr>
        <p:spPr>
          <a:xfrm>
            <a:off x="5740400" y="3632200"/>
            <a:ext cx="44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2000" b="1">
                <a:solidFill>
                  <a:srgbClr val="1AA79A"/>
                </a:solidFill>
                <a:latin typeface="맑은 고딕" panose="020B0503020000020004" pitchFamily="50" charset="-127"/>
              </a:rPr>
              <a:t>→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EB86A1-E9A5-05BC-AE87-F56E1B8BE7DC}"/>
              </a:ext>
            </a:extLst>
          </p:cNvPr>
          <p:cNvSpPr txBox="1"/>
          <p:nvPr/>
        </p:nvSpPr>
        <p:spPr>
          <a:xfrm>
            <a:off x="6286500" y="29718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087069"/>
                </a:solidFill>
                <a:latin typeface="맑은 고딕" panose="020B0503020000020004" pitchFamily="50" charset="-127"/>
              </a:rPr>
              <a:t>03</a:t>
            </a:r>
            <a:endParaRPr lang="ko-KR" altLang="en-US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444A185-949C-71F6-A548-F5BD480F498C}"/>
              </a:ext>
            </a:extLst>
          </p:cNvPr>
          <p:cNvCxnSpPr/>
          <p:nvPr/>
        </p:nvCxnSpPr>
        <p:spPr>
          <a:xfrm>
            <a:off x="6286500" y="3390900"/>
            <a:ext cx="2108200" cy="0"/>
          </a:xfrm>
          <a:prstGeom prst="line">
            <a:avLst/>
          </a:prstGeom>
          <a:ln w="1524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AE87FD-3A1B-1929-1689-8C93CC73D526}"/>
              </a:ext>
            </a:extLst>
          </p:cNvPr>
          <p:cNvSpPr txBox="1"/>
          <p:nvPr/>
        </p:nvSpPr>
        <p:spPr>
          <a:xfrm>
            <a:off x="6286500" y="36449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기반
</a:t>
            </a:r>
            <a:r>
              <a:rPr lang="en-US" altLang="ko-KR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Ridge </a:t>
            </a:r>
            <a:r>
              <a:rPr lang="ko-KR" altLang="en-US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회귀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4ABA07-35EE-2CB5-AEA0-C749F3DA8E1E}"/>
              </a:ext>
            </a:extLst>
          </p:cNvPr>
          <p:cNvSpPr txBox="1"/>
          <p:nvPr/>
        </p:nvSpPr>
        <p:spPr>
          <a:xfrm>
            <a:off x="6286500" y="4521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ROI 191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개 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+ 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성별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교육연수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·ICV</a:t>
            </a:r>
            <a:endParaRPr lang="ko-KR" altLang="en-US" sz="14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21568E-184A-61ED-7D8B-ADF6D8119D5C}"/>
              </a:ext>
            </a:extLst>
          </p:cNvPr>
          <p:cNvSpPr txBox="1"/>
          <p:nvPr/>
        </p:nvSpPr>
        <p:spPr>
          <a:xfrm>
            <a:off x="8470900" y="3632200"/>
            <a:ext cx="44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2000" b="1">
                <a:solidFill>
                  <a:srgbClr val="1AA79A"/>
                </a:solidFill>
                <a:latin typeface="맑은 고딕" panose="020B0503020000020004" pitchFamily="50" charset="-127"/>
              </a:rPr>
              <a:t>→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6E562E-4A85-FE9C-7314-ED8B4ABB82AD}"/>
              </a:ext>
            </a:extLst>
          </p:cNvPr>
          <p:cNvSpPr txBox="1"/>
          <p:nvPr/>
        </p:nvSpPr>
        <p:spPr>
          <a:xfrm>
            <a:off x="9017000" y="29718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087069"/>
                </a:solidFill>
                <a:latin typeface="맑은 고딕" panose="020B0503020000020004" pitchFamily="50" charset="-127"/>
              </a:rPr>
              <a:t>04</a:t>
            </a:r>
            <a:endParaRPr lang="ko-KR" altLang="en-US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2D01FF5-F3EB-4BC6-10AD-7B4C21250E58}"/>
              </a:ext>
            </a:extLst>
          </p:cNvPr>
          <p:cNvCxnSpPr/>
          <p:nvPr/>
        </p:nvCxnSpPr>
        <p:spPr>
          <a:xfrm>
            <a:off x="9017000" y="3390900"/>
            <a:ext cx="2108200" cy="0"/>
          </a:xfrm>
          <a:prstGeom prst="line">
            <a:avLst/>
          </a:prstGeom>
          <a:ln w="1524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C321B36-9BCD-1C0D-A786-5BA55C14F47B}"/>
              </a:ext>
            </a:extLst>
          </p:cNvPr>
          <p:cNvSpPr txBox="1"/>
          <p:nvPr/>
        </p:nvSpPr>
        <p:spPr>
          <a:xfrm>
            <a:off x="9017000" y="36449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나이 편향 보정
</a:t>
            </a:r>
            <a:r>
              <a:rPr lang="en-US" altLang="ko-KR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산출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783485-3F43-E261-DBA6-F29A87CC796D}"/>
              </a:ext>
            </a:extLst>
          </p:cNvPr>
          <p:cNvSpPr txBox="1"/>
          <p:nvPr/>
        </p:nvSpPr>
        <p:spPr>
          <a:xfrm>
            <a:off x="9017000" y="4521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검증 </a:t>
            </a:r>
            <a:r>
              <a:rPr lang="en-US" altLang="ko-KR" sz="1450">
                <a:solidFill>
                  <a:srgbClr val="52706C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1450">
                <a:solidFill>
                  <a:srgbClr val="52706C"/>
                </a:solidFill>
                <a:latin typeface="맑은 고딕" panose="020B0503020000020004" pitchFamily="50" charset="-127"/>
              </a:rPr>
              <a:t>기준 보정 후 집단 비교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BADA66-A93F-C6DB-073E-1BE556D271DB}"/>
              </a:ext>
            </a:extLst>
          </p:cNvPr>
          <p:cNvSpPr txBox="1"/>
          <p:nvPr/>
        </p:nvSpPr>
        <p:spPr>
          <a:xfrm>
            <a:off x="609600" y="57404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Ridge</a:t>
            </a:r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는 상관이 높은 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ROI </a:t>
            </a:r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간 가중치를 안정화합니다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모든 변수에 동일한 가중치를 주는 방식이 아닙니다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.</a:t>
            </a:r>
            <a:endParaRPr lang="ko-KR" altLang="en-US" sz="15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0228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8ED6406E-572B-418D-6F63-10DD79B49F92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7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25083-C82C-528A-06EF-8A6DB13F0497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5BCFBE"/>
                </a:solidFill>
                <a:latin typeface="맑은 고딕" panose="020B0503020000020004" pitchFamily="50" charset="-127"/>
              </a:rPr>
              <a:t>성능과 과적합 점검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A1817E-362C-5D0B-FB16-5A93AC83CB8A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3000" b="1">
                <a:solidFill>
                  <a:srgbClr val="FFFFFF"/>
                </a:solidFill>
                <a:latin typeface="맑은 고딕" panose="020B0503020000020004" pitchFamily="50" charset="-127"/>
              </a:rPr>
              <a:t>이 예측은 믿을 수 있을까</a:t>
            </a:r>
            <a:r>
              <a:rPr lang="en-US" altLang="ko-KR" sz="3000" b="1">
                <a:solidFill>
                  <a:srgbClr val="FFFFFF"/>
                </a:solidFill>
                <a:latin typeface="맑은 고딕" panose="020B0503020000020004" pitchFamily="50" charset="-127"/>
              </a:rPr>
              <a:t>?</a:t>
            </a:r>
            <a:endParaRPr lang="ko-KR" altLang="en-US" sz="30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7971ACA-D790-9825-48F5-368F6E2F2A89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5BCF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0D5D014-740A-5DE5-CE97-F16B5EFD35F8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3B54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BF2B964-8AF2-ED5E-7434-52E19B325EBB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6BF02-F78B-BD7F-8AE7-330C9808AC5F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6 / 13</a:t>
            </a:r>
            <a:endParaRPr lang="ko-KR" altLang="en-US" sz="950">
              <a:solidFill>
                <a:srgbClr val="B5D7D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70E995-0DA6-5E6A-F3AA-B7E10A557594}"/>
              </a:ext>
            </a:extLst>
          </p:cNvPr>
          <p:cNvSpPr txBox="1"/>
          <p:nvPr/>
        </p:nvSpPr>
        <p:spPr>
          <a:xfrm>
            <a:off x="825500" y="21717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700" b="1">
                <a:solidFill>
                  <a:srgbClr val="8ADFD5"/>
                </a:solidFill>
                <a:latin typeface="맑은 고딕" panose="020B0503020000020004" pitchFamily="50" charset="-127"/>
              </a:rPr>
              <a:t>독립 </a:t>
            </a:r>
            <a:r>
              <a:rPr lang="en-US" altLang="ko-KR" sz="1700" b="1">
                <a:solidFill>
                  <a:srgbClr val="8ADFD5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1700" b="1">
                <a:solidFill>
                  <a:srgbClr val="8ADFD5"/>
                </a:solidFill>
                <a:latin typeface="맑은 고딕" panose="020B0503020000020004" pitchFamily="50" charset="-127"/>
              </a:rPr>
              <a:t>테스트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C954A2-3939-053B-CF61-A6CDD32963F9}"/>
              </a:ext>
            </a:extLst>
          </p:cNvPr>
          <p:cNvSpPr txBox="1"/>
          <p:nvPr/>
        </p:nvSpPr>
        <p:spPr>
          <a:xfrm>
            <a:off x="825500" y="25781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500" b="1">
                <a:solidFill>
                  <a:srgbClr val="FFFFFF"/>
                </a:solidFill>
                <a:latin typeface="맑은 고딕" panose="020B0503020000020004" pitchFamily="50" charset="-127"/>
              </a:rPr>
              <a:t>R2 0.542</a:t>
            </a:r>
            <a:endParaRPr lang="ko-KR" altLang="en-US" sz="35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5D1F35-22BD-4EBC-2D0F-27D82CEFDB50}"/>
              </a:ext>
            </a:extLst>
          </p:cNvPr>
          <p:cNvSpPr txBox="1"/>
          <p:nvPr/>
        </p:nvSpPr>
        <p:spPr>
          <a:xfrm>
            <a:off x="825500" y="33274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600">
                <a:solidFill>
                  <a:srgbClr val="CAE2DD"/>
                </a:solidFill>
                <a:latin typeface="맑은 고딕" panose="020B0503020000020004" pitchFamily="50" charset="-127"/>
              </a:rPr>
              <a:t>MAE 3.680</a:t>
            </a:r>
            <a:r>
              <a:rPr lang="ko-KR" altLang="en-US" sz="1600">
                <a:solidFill>
                  <a:srgbClr val="CAE2DD"/>
                </a:solidFill>
                <a:latin typeface="맑은 고딕" panose="020B0503020000020004" pitchFamily="50" charset="-127"/>
              </a:rPr>
              <a:t>년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DC80EF11-0E49-CA8A-69B8-A2F66F056430}"/>
              </a:ext>
            </a:extLst>
          </p:cNvPr>
          <p:cNvCxnSpPr/>
          <p:nvPr/>
        </p:nvCxnSpPr>
        <p:spPr>
          <a:xfrm>
            <a:off x="4000500" y="2108200"/>
            <a:ext cx="0" cy="2108200"/>
          </a:xfrm>
          <a:prstGeom prst="line">
            <a:avLst/>
          </a:prstGeom>
          <a:ln w="12700">
            <a:solidFill>
              <a:srgbClr val="3C54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25321D6-1117-2F45-21FE-532A5B167EA9}"/>
              </a:ext>
            </a:extLst>
          </p:cNvPr>
          <p:cNvSpPr txBox="1"/>
          <p:nvPr/>
        </p:nvSpPr>
        <p:spPr>
          <a:xfrm>
            <a:off x="4635500" y="21717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700" b="1">
                <a:solidFill>
                  <a:srgbClr val="B4E8DE"/>
                </a:solidFill>
                <a:latin typeface="맑은 고딕" panose="020B0503020000020004" pitchFamily="50" charset="-127"/>
              </a:rPr>
              <a:t>순열검정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65E59B-F3AF-6CD7-B1BD-F440DEC5D3B5}"/>
              </a:ext>
            </a:extLst>
          </p:cNvPr>
          <p:cNvSpPr txBox="1"/>
          <p:nvPr/>
        </p:nvSpPr>
        <p:spPr>
          <a:xfrm>
            <a:off x="4635500" y="26289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100" b="1">
                <a:solidFill>
                  <a:srgbClr val="FFFFFF"/>
                </a:solidFill>
                <a:latin typeface="맑은 고딕" panose="020B0503020000020004" pitchFamily="50" charset="-127"/>
              </a:rPr>
              <a:t>p = 0.001996</a:t>
            </a:r>
            <a:endParaRPr lang="ko-KR" altLang="en-US" sz="3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4206C6-090D-5DE0-EA7D-8B12D980DB5F}"/>
              </a:ext>
            </a:extLst>
          </p:cNvPr>
          <p:cNvSpPr txBox="1"/>
          <p:nvPr/>
        </p:nvSpPr>
        <p:spPr>
          <a:xfrm>
            <a:off x="4635500" y="3340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600">
                <a:solidFill>
                  <a:srgbClr val="CAE2DD"/>
                </a:solidFill>
                <a:latin typeface="맑은 고딕" panose="020B0503020000020004" pitchFamily="50" charset="-127"/>
              </a:rPr>
              <a:t>우연한 예측보다 높은 성능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4CEFD6A-438A-DDDE-0C55-39582490DA01}"/>
              </a:ext>
            </a:extLst>
          </p:cNvPr>
          <p:cNvCxnSpPr/>
          <p:nvPr/>
        </p:nvCxnSpPr>
        <p:spPr>
          <a:xfrm>
            <a:off x="8255000" y="2108200"/>
            <a:ext cx="0" cy="2108200"/>
          </a:xfrm>
          <a:prstGeom prst="line">
            <a:avLst/>
          </a:prstGeom>
          <a:ln w="12700">
            <a:solidFill>
              <a:srgbClr val="3C54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78A472-A922-6394-BFFC-2F7A7B3E19C5}"/>
              </a:ext>
            </a:extLst>
          </p:cNvPr>
          <p:cNvSpPr txBox="1"/>
          <p:nvPr/>
        </p:nvSpPr>
        <p:spPr>
          <a:xfrm>
            <a:off x="8890000" y="21717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700" b="1">
                <a:solidFill>
                  <a:srgbClr val="75D7C8"/>
                </a:solidFill>
                <a:latin typeface="맑은 고딕" panose="020B0503020000020004" pitchFamily="50" charset="-127"/>
              </a:rPr>
              <a:t>과적합 점검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29B150-3FF2-A139-00A7-CB7FBF1AB48E}"/>
              </a:ext>
            </a:extLst>
          </p:cNvPr>
          <p:cNvSpPr txBox="1"/>
          <p:nvPr/>
        </p:nvSpPr>
        <p:spPr>
          <a:xfrm>
            <a:off x="8890000" y="26162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FFFFFF"/>
                </a:solidFill>
                <a:latin typeface="맑은 고딕" panose="020B0503020000020004" pitchFamily="50" charset="-127"/>
              </a:rPr>
              <a:t>MAE </a:t>
            </a:r>
            <a:r>
              <a:rPr lang="ko-KR" altLang="en-US" b="1">
                <a:solidFill>
                  <a:srgbClr val="FFFFFF"/>
                </a:solidFill>
                <a:latin typeface="맑은 고딕" panose="020B0503020000020004" pitchFamily="50" charset="-127"/>
              </a:rPr>
              <a:t>차이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37D8EE-74EC-DA82-4759-F1F72BDCB9BE}"/>
              </a:ext>
            </a:extLst>
          </p:cNvPr>
          <p:cNvSpPr txBox="1"/>
          <p:nvPr/>
        </p:nvSpPr>
        <p:spPr>
          <a:xfrm>
            <a:off x="8890000" y="29464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FFFFFF"/>
                </a:solidFill>
                <a:latin typeface="맑은 고딕" panose="020B0503020000020004" pitchFamily="50" charset="-127"/>
              </a:rPr>
              <a:t>0.132</a:t>
            </a:r>
            <a:r>
              <a:rPr lang="ko-KR" altLang="en-US" sz="3000" b="1">
                <a:solidFill>
                  <a:srgbClr val="FFFFFF"/>
                </a:solidFill>
                <a:latin typeface="맑은 고딕" panose="020B0503020000020004" pitchFamily="50" charset="-127"/>
              </a:rPr>
              <a:t>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4BD98E-12D2-04AA-86D5-F23AF4511196}"/>
              </a:ext>
            </a:extLst>
          </p:cNvPr>
          <p:cNvSpPr txBox="1"/>
          <p:nvPr/>
        </p:nvSpPr>
        <p:spPr>
          <a:xfrm>
            <a:off x="8890000" y="35052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300">
                <a:solidFill>
                  <a:srgbClr val="CAE2DD"/>
                </a:solidFill>
                <a:latin typeface="맑은 고딕" panose="020B0503020000020004" pitchFamily="50" charset="-127"/>
              </a:rPr>
              <a:t>중첩 교차검증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277679-EE52-B7A0-D0F9-801F49DFD9FE}"/>
              </a:ext>
            </a:extLst>
          </p:cNvPr>
          <p:cNvSpPr txBox="1"/>
          <p:nvPr/>
        </p:nvSpPr>
        <p:spPr>
          <a:xfrm>
            <a:off x="8890000" y="3733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700">
                <a:solidFill>
                  <a:srgbClr val="CAE2DD"/>
                </a:solidFill>
                <a:latin typeface="맑은 고딕" panose="020B0503020000020004" pitchFamily="50" charset="-127"/>
              </a:rPr>
              <a:t>OOF R2 0.471</a:t>
            </a:r>
            <a:endParaRPr lang="ko-KR" altLang="en-US" sz="1700">
              <a:solidFill>
                <a:srgbClr val="CAE2DD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8C20EFE-409E-119F-AFA7-6EEE124D8356}"/>
              </a:ext>
            </a:extLst>
          </p:cNvPr>
          <p:cNvSpPr/>
          <p:nvPr/>
        </p:nvSpPr>
        <p:spPr>
          <a:xfrm>
            <a:off x="609600" y="4927600"/>
            <a:ext cx="10972800" cy="787400"/>
          </a:xfrm>
          <a:prstGeom prst="rect">
            <a:avLst/>
          </a:prstGeom>
          <a:solidFill>
            <a:srgbClr val="0F4C4B"/>
          </a:solidFill>
          <a:ln w="10160">
            <a:solidFill>
              <a:srgbClr val="396C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062872-862F-267C-B43D-2BA226899DE1}"/>
              </a:ext>
            </a:extLst>
          </p:cNvPr>
          <p:cNvSpPr txBox="1"/>
          <p:nvPr/>
        </p:nvSpPr>
        <p:spPr>
          <a:xfrm>
            <a:off x="914400" y="5207000"/>
            <a:ext cx="10350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1600" b="1">
                <a:solidFill>
                  <a:srgbClr val="FFFFFF"/>
                </a:solidFill>
                <a:latin typeface="맑은 고딕" panose="020B0503020000020004" pitchFamily="50" charset="-127"/>
              </a:rPr>
              <a:t>독립 테스트와 중첩 교차검증이 큰 차이를 보이지 않아 강한 과적합 신호는 크지 않습니다</a:t>
            </a:r>
            <a:r>
              <a:rPr lang="en-US" altLang="ko-KR" sz="1600" b="1">
                <a:solidFill>
                  <a:srgbClr val="FFFFFF"/>
                </a:solidFill>
                <a:latin typeface="맑은 고딕" panose="020B0503020000020004" pitchFamily="50" charset="-127"/>
              </a:rPr>
              <a:t>.</a:t>
            </a:r>
            <a:endParaRPr lang="ko-KR" altLang="en-US" sz="16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414A01-7193-68A7-C153-2CFF6FBADE56}"/>
              </a:ext>
            </a:extLst>
          </p:cNvPr>
          <p:cNvSpPr txBox="1"/>
          <p:nvPr/>
        </p:nvSpPr>
        <p:spPr>
          <a:xfrm>
            <a:off x="914400" y="5816600"/>
            <a:ext cx="10350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1300">
                <a:solidFill>
                  <a:srgbClr val="B5D7D0"/>
                </a:solidFill>
                <a:latin typeface="맑은 고딕" panose="020B0503020000020004" pitchFamily="50" charset="-127"/>
              </a:rPr>
              <a:t>단</a:t>
            </a:r>
            <a:r>
              <a:rPr lang="en-US" altLang="ko-KR" sz="1300">
                <a:solidFill>
                  <a:srgbClr val="B5D7D0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300">
                <a:solidFill>
                  <a:srgbClr val="B5D7D0"/>
                </a:solidFill>
                <a:latin typeface="맑은 고딕" panose="020B0503020000020004" pitchFamily="50" charset="-127"/>
              </a:rPr>
              <a:t>외부 코호트 검증 전에는 임상 일반화 성능을 확정할 수 없습니다</a:t>
            </a:r>
            <a:r>
              <a:rPr lang="en-US" altLang="ko-KR" sz="1300">
                <a:solidFill>
                  <a:srgbClr val="B5D7D0"/>
                </a:solidFill>
                <a:latin typeface="맑은 고딕" panose="020B0503020000020004" pitchFamily="50" charset="-127"/>
              </a:rPr>
              <a:t>.</a:t>
            </a:r>
            <a:endParaRPr lang="ko-KR" altLang="en-US" sz="1300">
              <a:solidFill>
                <a:srgbClr val="B5D7D0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3076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ED3041D2-E906-0076-5404-9AB996F05667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468021-CFFB-4BF8-A3B3-DD520C5D7963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집단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807B4C-7E14-7AB0-E675-2DD7E42C5EAD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CN → MCI → AD: BAG 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부담은 단계적으로 커졌습니다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9AF2A76-3CEB-6339-2BAC-089E805CE4A1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9F4EB51-8EA0-4BA0-7FA0-437B38E99897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A66FD04-FBDE-6CD0-A387-4370C99F521E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B1C674-53B5-1270-72FE-97EAF8820CC1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7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C379FE5-C98F-445D-7655-8A1F4E12C9A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81200"/>
            <a:ext cx="5715000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6042242-F11A-6B14-467A-2BD4CEF789FF}"/>
              </a:ext>
            </a:extLst>
          </p:cNvPr>
          <p:cNvSpPr txBox="1"/>
          <p:nvPr/>
        </p:nvSpPr>
        <p:spPr>
          <a:xfrm>
            <a:off x="7175500" y="22860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087069"/>
                </a:solidFill>
                <a:latin typeface="맑은 고딕" panose="020B0503020000020004" pitchFamily="50" charset="-127"/>
              </a:rPr>
              <a:t>CN</a:t>
            </a:r>
            <a:endParaRPr lang="ko-KR" altLang="en-US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E3B6AB-9321-992D-27F3-E7BB055EE530}"/>
              </a:ext>
            </a:extLst>
          </p:cNvPr>
          <p:cNvSpPr txBox="1"/>
          <p:nvPr/>
        </p:nvSpPr>
        <p:spPr>
          <a:xfrm>
            <a:off x="7175500" y="26670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600">
                <a:solidFill>
                  <a:srgbClr val="52706C"/>
                </a:solidFill>
                <a:latin typeface="맑은 고딕" panose="020B0503020000020004" pitchFamily="50" charset="-127"/>
              </a:rPr>
              <a:t>기준 집단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FCCDB8C-4295-6ABD-FF14-91330E7CD1F5}"/>
              </a:ext>
            </a:extLst>
          </p:cNvPr>
          <p:cNvCxnSpPr/>
          <p:nvPr/>
        </p:nvCxnSpPr>
        <p:spPr>
          <a:xfrm>
            <a:off x="7175500" y="3276600"/>
            <a:ext cx="3924300" cy="0"/>
          </a:xfrm>
          <a:prstGeom prst="line">
            <a:avLst/>
          </a:prstGeom>
          <a:ln w="1270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74F7964-36CE-8A09-54C7-DA750353B5F8}"/>
              </a:ext>
            </a:extLst>
          </p:cNvPr>
          <p:cNvSpPr txBox="1"/>
          <p:nvPr/>
        </p:nvSpPr>
        <p:spPr>
          <a:xfrm>
            <a:off x="7175500" y="36576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1AA79A"/>
                </a:solidFill>
                <a:latin typeface="맑은 고딕" panose="020B0503020000020004" pitchFamily="50" charset="-127"/>
              </a:rPr>
              <a:t>MCI</a:t>
            </a:r>
            <a:endParaRPr lang="ko-KR" altLang="en-US" b="1">
              <a:solidFill>
                <a:srgbClr val="1AA79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13DFFA-C769-A1F3-7725-41B0A775A5AD}"/>
              </a:ext>
            </a:extLst>
          </p:cNvPr>
          <p:cNvSpPr txBox="1"/>
          <p:nvPr/>
        </p:nvSpPr>
        <p:spPr>
          <a:xfrm>
            <a:off x="8699500" y="3530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+6.368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2C9E19-7CFD-10F9-6AEA-22264657B24D}"/>
              </a:ext>
            </a:extLst>
          </p:cNvPr>
          <p:cNvSpPr txBox="1"/>
          <p:nvPr/>
        </p:nvSpPr>
        <p:spPr>
          <a:xfrm>
            <a:off x="8699500" y="4038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400">
                <a:solidFill>
                  <a:srgbClr val="52706C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1400">
                <a:solidFill>
                  <a:srgbClr val="52706C"/>
                </a:solidFill>
                <a:latin typeface="맑은 고딕" panose="020B0503020000020004" pitchFamily="50" charset="-127"/>
              </a:rPr>
              <a:t>대비 보정 </a:t>
            </a:r>
            <a:r>
              <a:rPr lang="en-US" altLang="ko-KR" sz="1400">
                <a:solidFill>
                  <a:srgbClr val="52706C"/>
                </a:solidFill>
                <a:latin typeface="맑은 고딕" panose="020B0503020000020004" pitchFamily="50" charset="-127"/>
              </a:rPr>
              <a:t>BAG</a:t>
            </a:r>
            <a:endParaRPr lang="ko-KR" altLang="en-US" sz="14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29694C5-42E5-987A-9B0B-7F11A32A6310}"/>
              </a:ext>
            </a:extLst>
          </p:cNvPr>
          <p:cNvCxnSpPr/>
          <p:nvPr/>
        </p:nvCxnSpPr>
        <p:spPr>
          <a:xfrm>
            <a:off x="7175500" y="4546600"/>
            <a:ext cx="3924300" cy="0"/>
          </a:xfrm>
          <a:prstGeom prst="line">
            <a:avLst/>
          </a:prstGeom>
          <a:ln w="1270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29DFFA1-E484-6CFC-A435-2820F8BF336D}"/>
              </a:ext>
            </a:extLst>
          </p:cNvPr>
          <p:cNvSpPr txBox="1"/>
          <p:nvPr/>
        </p:nvSpPr>
        <p:spPr>
          <a:xfrm>
            <a:off x="7175500" y="49276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b="1">
                <a:solidFill>
                  <a:srgbClr val="075F5A"/>
                </a:solidFill>
                <a:latin typeface="맑은 고딕" panose="020B0503020000020004" pitchFamily="50" charset="-127"/>
              </a:rPr>
              <a:t>AD</a:t>
            </a:r>
            <a:endParaRPr lang="ko-KR" altLang="en-US" b="1">
              <a:solidFill>
                <a:srgbClr val="075F5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E2E86E-E6F2-3D99-844A-9864C3569225}"/>
              </a:ext>
            </a:extLst>
          </p:cNvPr>
          <p:cNvSpPr txBox="1"/>
          <p:nvPr/>
        </p:nvSpPr>
        <p:spPr>
          <a:xfrm>
            <a:off x="8280400" y="4800600"/>
            <a:ext cx="2832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+16.721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8FC59C-1E6B-D484-58CA-41CF87F28007}"/>
              </a:ext>
            </a:extLst>
          </p:cNvPr>
          <p:cNvSpPr txBox="1"/>
          <p:nvPr/>
        </p:nvSpPr>
        <p:spPr>
          <a:xfrm>
            <a:off x="8699500" y="5308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400">
                <a:solidFill>
                  <a:srgbClr val="52706C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1400">
                <a:solidFill>
                  <a:srgbClr val="52706C"/>
                </a:solidFill>
                <a:latin typeface="맑은 고딕" panose="020B0503020000020004" pitchFamily="50" charset="-127"/>
              </a:rPr>
              <a:t>대비 보정 </a:t>
            </a:r>
            <a:r>
              <a:rPr lang="en-US" altLang="ko-KR" sz="1400">
                <a:solidFill>
                  <a:srgbClr val="52706C"/>
                </a:solidFill>
                <a:latin typeface="맑은 고딕" panose="020B0503020000020004" pitchFamily="50" charset="-127"/>
              </a:rPr>
              <a:t>BAG</a:t>
            </a:r>
            <a:endParaRPr lang="ko-KR" altLang="en-US" sz="14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CE7CF9-9853-8F90-051F-A70A46B6E1CE}"/>
              </a:ext>
            </a:extLst>
          </p:cNvPr>
          <p:cNvSpPr txBox="1"/>
          <p:nvPr/>
        </p:nvSpPr>
        <p:spPr>
          <a:xfrm>
            <a:off x="609600" y="57785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altLang="ko-KR" sz="1300">
                <a:solidFill>
                  <a:srgbClr val="52706C"/>
                </a:solidFill>
                <a:latin typeface="맑은 고딕" panose="020B0503020000020004" pitchFamily="50" charset="-127"/>
              </a:rPr>
              <a:t>MCI-CN: Holm p = 5.289e-47 | AD-CN: Holm p = 2.817e-128</a:t>
            </a:r>
            <a:endParaRPr lang="ko-KR" altLang="en-US" sz="13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7250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C7A840-4DEF-E49E-53A2-58A404EB0545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7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BE4183-E867-5291-7E63-1FCA254CBBCD}"/>
              </a:ext>
            </a:extLst>
          </p:cNvPr>
          <p:cNvSpPr txBox="1"/>
          <p:nvPr/>
        </p:nvSpPr>
        <p:spPr>
          <a:xfrm>
            <a:off x="786384" y="1024127"/>
            <a:ext cx="7406640" cy="38404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400">
                <a:solidFill>
                  <a:srgbClr val="BAE9E0"/>
                </a:solidFill>
                <a:latin typeface="Malgun Gothic" panose="020B0503020000020004" pitchFamily="50" charset="-127"/>
              </a:rPr>
              <a:t>숫자가 커졌다는 것은 알았습니다</a:t>
            </a:r>
            <a:r>
              <a:rPr lang="en-US" altLang="ko-KR" sz="2400">
                <a:solidFill>
                  <a:srgbClr val="BAE9E0"/>
                </a:solidFill>
                <a:latin typeface="Malgun Gothic" panose="020B0503020000020004" pitchFamily="50" charset="-127"/>
              </a:rPr>
              <a:t>.</a:t>
            </a:r>
            <a:endParaRPr lang="ko-KR" altLang="en-US" sz="2400">
              <a:solidFill>
                <a:srgbClr val="BAE9E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4E1B7-1C88-3D82-BC5A-C304DC01E41C}"/>
              </a:ext>
            </a:extLst>
          </p:cNvPr>
          <p:cNvSpPr txBox="1"/>
          <p:nvPr/>
        </p:nvSpPr>
        <p:spPr>
          <a:xfrm>
            <a:off x="786384" y="1737359"/>
            <a:ext cx="7543800" cy="64008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그렇다면</a:t>
            </a:r>
            <a:r>
              <a:rPr lang="en-US" altLang="ko-KR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어느 부위일까요</a:t>
            </a:r>
            <a:r>
              <a:rPr lang="en-US" altLang="ko-KR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?</a:t>
            </a:r>
            <a:endParaRPr lang="ko-KR" altLang="en-US" sz="4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AFC8F70-24B3-AB5F-814F-C8D86F09B208}"/>
              </a:ext>
            </a:extLst>
          </p:cNvPr>
          <p:cNvCxnSpPr/>
          <p:nvPr/>
        </p:nvCxnSpPr>
        <p:spPr>
          <a:xfrm>
            <a:off x="787400" y="3073400"/>
            <a:ext cx="1816100" cy="0"/>
          </a:xfrm>
          <a:prstGeom prst="line">
            <a:avLst/>
          </a:prstGeom>
          <a:ln w="31750">
            <a:solidFill>
              <a:srgbClr val="5BCF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FCE133D-7714-BC98-F46B-98129A6B9430}"/>
              </a:ext>
            </a:extLst>
          </p:cNvPr>
          <p:cNvSpPr txBox="1"/>
          <p:nvPr/>
        </p:nvSpPr>
        <p:spPr>
          <a:xfrm>
            <a:off x="787400" y="3810000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100" b="1">
                <a:solidFill>
                  <a:srgbClr val="5BCFBE"/>
                </a:solidFill>
                <a:latin typeface="맑은 고딕" panose="020B0503020000020004" pitchFamily="50" charset="-127"/>
              </a:rPr>
              <a:t>BAG</a:t>
            </a:r>
            <a:endParaRPr lang="ko-KR" altLang="en-US" sz="3100" b="1">
              <a:solidFill>
                <a:srgbClr val="5BCFBE"/>
              </a:solidFill>
              <a:latin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6D6A69-40A8-A30F-2260-652C25BE3D11}"/>
              </a:ext>
            </a:extLst>
          </p:cNvPr>
          <p:cNvSpPr txBox="1"/>
          <p:nvPr/>
        </p:nvSpPr>
        <p:spPr>
          <a:xfrm>
            <a:off x="2438400" y="3810000"/>
            <a:ext cx="698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2800" b="1">
                <a:solidFill>
                  <a:srgbClr val="BAE9E0"/>
                </a:solidFill>
                <a:latin typeface="맑은 고딕" panose="020B0503020000020004" pitchFamily="50" charset="-127"/>
              </a:rPr>
              <a:t>→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DF5B10-B13E-A08F-E903-DA37D27A452D}"/>
              </a:ext>
            </a:extLst>
          </p:cNvPr>
          <p:cNvSpPr txBox="1"/>
          <p:nvPr/>
        </p:nvSpPr>
        <p:spPr>
          <a:xfrm>
            <a:off x="3302000" y="3810000"/>
            <a:ext cx="1841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100" b="1">
                <a:solidFill>
                  <a:srgbClr val="7CDED1"/>
                </a:solidFill>
                <a:latin typeface="맑은 고딕" panose="020B0503020000020004" pitchFamily="50" charset="-127"/>
              </a:rPr>
              <a:t>ROI </a:t>
            </a:r>
            <a:r>
              <a:rPr lang="ko-KR" altLang="en-US" sz="3100" b="1">
                <a:solidFill>
                  <a:srgbClr val="7CDED1"/>
                </a:solidFill>
                <a:latin typeface="맑은 고딕" panose="020B0503020000020004" pitchFamily="50" charset="-127"/>
              </a:rPr>
              <a:t>근거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3DF0A9-F28E-A541-8108-B072912EBE2F}"/>
              </a:ext>
            </a:extLst>
          </p:cNvPr>
          <p:cNvSpPr txBox="1"/>
          <p:nvPr/>
        </p:nvSpPr>
        <p:spPr>
          <a:xfrm>
            <a:off x="5397500" y="3810000"/>
            <a:ext cx="698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2800" b="1">
                <a:solidFill>
                  <a:srgbClr val="BAE9E0"/>
                </a:solidFill>
                <a:latin typeface="맑은 고딕" panose="020B0503020000020004" pitchFamily="50" charset="-127"/>
              </a:rPr>
              <a:t>→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650196-B293-5711-6507-A423D21BEA66}"/>
              </a:ext>
            </a:extLst>
          </p:cNvPr>
          <p:cNvSpPr txBox="1"/>
          <p:nvPr/>
        </p:nvSpPr>
        <p:spPr>
          <a:xfrm>
            <a:off x="6261100" y="3810000"/>
            <a:ext cx="1841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100" b="1">
                <a:solidFill>
                  <a:srgbClr val="5BCFBE"/>
                </a:solidFill>
                <a:latin typeface="맑은 고딕" panose="020B0503020000020004" pitchFamily="50" charset="-127"/>
              </a:rPr>
              <a:t>3D </a:t>
            </a:r>
            <a:r>
              <a:rPr lang="ko-KR" altLang="en-US" sz="3100" b="1">
                <a:solidFill>
                  <a:srgbClr val="5BCFBE"/>
                </a:solidFill>
                <a:latin typeface="맑은 고딕" panose="020B0503020000020004" pitchFamily="50" charset="-127"/>
              </a:rPr>
              <a:t>위치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81B706-67ED-1B57-3367-6D3C02E3B77A}"/>
              </a:ext>
            </a:extLst>
          </p:cNvPr>
          <p:cNvSpPr txBox="1"/>
          <p:nvPr/>
        </p:nvSpPr>
        <p:spPr>
          <a:xfrm>
            <a:off x="787400" y="49530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>
                <a:solidFill>
                  <a:srgbClr val="CAE2DD"/>
                </a:solidFill>
                <a:latin typeface="맑은 고딕" panose="020B0503020000020004" pitchFamily="50" charset="-127"/>
              </a:rPr>
              <a:t>숫자의 차이를 위치 정보로 해석합니다</a:t>
            </a:r>
            <a:r>
              <a:rPr lang="en-US" altLang="ko-KR">
                <a:solidFill>
                  <a:srgbClr val="CAE2DD"/>
                </a:solidFill>
                <a:latin typeface="맑은 고딕" panose="020B0503020000020004" pitchFamily="50" charset="-127"/>
              </a:rPr>
              <a:t>.</a:t>
            </a:r>
            <a:endParaRPr lang="ko-KR" altLang="en-US">
              <a:solidFill>
                <a:srgbClr val="CAE2DD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290E2AF-6BFA-76A4-434D-1507AD2B9FF2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3B54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754746B-217D-93AE-B182-B01C17C263F9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DA361-6E86-F43E-0D06-70DF7925DF9B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8 / 13</a:t>
            </a:r>
            <a:endParaRPr lang="ko-KR" altLang="en-US" sz="950">
              <a:solidFill>
                <a:srgbClr val="B5D7D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4CCA19-0FE3-DA49-4821-3204F8B47B16}"/>
              </a:ext>
            </a:extLst>
          </p:cNvPr>
          <p:cNvSpPr txBox="1"/>
          <p:nvPr/>
        </p:nvSpPr>
        <p:spPr>
          <a:xfrm>
            <a:off x="8430768" y="1828800"/>
            <a:ext cx="233172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 b="1">
                <a:solidFill>
                  <a:srgbClr val="5BCFBE"/>
                </a:solidFill>
                <a:latin typeface="Malgun Gothic" panose="020B0503020000020004" pitchFamily="50" charset="-127"/>
              </a:rPr>
              <a:t>핵심 전환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39078-9B1D-7F40-E4FA-8A242D1E0856}"/>
              </a:ext>
            </a:extLst>
          </p:cNvPr>
          <p:cNvSpPr txBox="1"/>
          <p:nvPr/>
        </p:nvSpPr>
        <p:spPr>
          <a:xfrm>
            <a:off x="8430768" y="2240280"/>
            <a:ext cx="260604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000" b="1">
                <a:solidFill>
                  <a:srgbClr val="FFFFFF"/>
                </a:solidFill>
                <a:latin typeface="Malgun Gothic" panose="020B0503020000020004" pitchFamily="50" charset="-127"/>
              </a:rPr>
              <a:t>수치에서
위치로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4007F0-72B9-3D13-BD69-8BA026EC0E68}"/>
              </a:ext>
            </a:extLst>
          </p:cNvPr>
          <p:cNvSpPr txBox="1"/>
          <p:nvPr/>
        </p:nvSpPr>
        <p:spPr>
          <a:xfrm>
            <a:off x="8430768" y="3474720"/>
            <a:ext cx="274320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600">
                <a:solidFill>
                  <a:srgbClr val="BAE9E0"/>
                </a:solidFill>
                <a:latin typeface="Malgun Gothic" panose="020B0503020000020004" pitchFamily="50" charset="-127"/>
              </a:rPr>
              <a:t>높은 </a:t>
            </a:r>
            <a:r>
              <a:rPr lang="en-US" altLang="ko-KR" sz="1600">
                <a:solidFill>
                  <a:srgbClr val="BAE9E0"/>
                </a:solidFill>
                <a:latin typeface="Malgun Gothic" panose="020B0503020000020004" pitchFamily="50" charset="-127"/>
              </a:rPr>
              <a:t>BAG</a:t>
            </a:r>
            <a:r>
              <a:rPr lang="ko-KR" altLang="en-US" sz="1600">
                <a:solidFill>
                  <a:srgbClr val="BAE9E0"/>
                </a:solidFill>
                <a:latin typeface="Malgun Gothic" panose="020B0503020000020004" pitchFamily="50" charset="-127"/>
              </a:rPr>
              <a:t>가 어떤 </a:t>
            </a:r>
            <a:r>
              <a:rPr lang="en-US" altLang="ko-KR" sz="1600">
                <a:solidFill>
                  <a:srgbClr val="BAE9E0"/>
                </a:solidFill>
                <a:latin typeface="Malgun Gothic" panose="020B0503020000020004" pitchFamily="50" charset="-127"/>
              </a:rPr>
              <a:t>ROI</a:t>
            </a:r>
            <a:r>
              <a:rPr lang="ko-KR" altLang="en-US" sz="1600">
                <a:solidFill>
                  <a:srgbClr val="BAE9E0"/>
                </a:solidFill>
                <a:latin typeface="Malgun Gothic" panose="020B0503020000020004" pitchFamily="50" charset="-127"/>
              </a:rPr>
              <a:t>의
위축과 연결되는지
</a:t>
            </a:r>
            <a:r>
              <a:rPr lang="en-US" altLang="ko-KR" sz="1600">
                <a:solidFill>
                  <a:srgbClr val="BAE9E0"/>
                </a:solidFill>
                <a:latin typeface="Malgun Gothic" panose="020B0503020000020004" pitchFamily="50" charset="-127"/>
              </a:rPr>
              <a:t>3D </a:t>
            </a:r>
            <a:r>
              <a:rPr lang="ko-KR" altLang="en-US" sz="1600">
                <a:solidFill>
                  <a:srgbClr val="BAE9E0"/>
                </a:solidFill>
                <a:latin typeface="Malgun Gothic" panose="020B0503020000020004" pitchFamily="50" charset="-127"/>
              </a:rPr>
              <a:t>지도로 확인합니다</a:t>
            </a:r>
            <a:r>
              <a:rPr lang="en-US" altLang="ko-KR" sz="1600">
                <a:solidFill>
                  <a:srgbClr val="BAE9E0"/>
                </a:solidFill>
                <a:latin typeface="Malgun Gothic" panose="020B0503020000020004" pitchFamily="50" charset="-127"/>
              </a:rPr>
              <a:t>.</a:t>
            </a:r>
            <a:endParaRPr lang="ko-KR" altLang="en-US" sz="1600">
              <a:solidFill>
                <a:srgbClr val="BAE9E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B6438B1F-BD5A-C934-3B58-247977498788}"/>
              </a:ext>
            </a:extLst>
          </p:cNvPr>
          <p:cNvCxnSpPr/>
          <p:nvPr/>
        </p:nvCxnSpPr>
        <p:spPr>
          <a:xfrm>
            <a:off x="8065008" y="1828800"/>
            <a:ext cx="0" cy="2788920"/>
          </a:xfrm>
          <a:prstGeom prst="line">
            <a:avLst/>
          </a:prstGeom>
          <a:ln w="15240" cap="flat" cmpd="sng" algn="ctr">
            <a:solidFill>
              <a:srgbClr val="08706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842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F89C12E8-849F-B544-D417-DD9C36E66AD7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558181-411E-B711-A1ED-21C7FBAD168D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ROI </a:t>
            </a:r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수준 증거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08E02-855D-3182-9F9D-AB3FF1CB8E7E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부위별 분석은 </a:t>
            </a:r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3D 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지도의 해석 근거를 제공합니다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0B6DFE1-AE11-380B-6B85-EE06E6B7D382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6306092-98B0-69D8-F1C7-570728173B22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CE3FA05-3733-7831-5960-AE2CAE790537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0BE5B1-6A29-8DCB-76E6-077DE90665F2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9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87C27B0-0572-8316-C2D4-122EEF98D3B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05000"/>
            <a:ext cx="6286500" cy="345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663D550-CCAA-2E7B-E478-5F5B7EAB9B7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2159000"/>
            <a:ext cx="4089400" cy="2794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757A20-B50D-3472-A23F-A0716330BF1B}"/>
              </a:ext>
            </a:extLst>
          </p:cNvPr>
          <p:cNvSpPr txBox="1"/>
          <p:nvPr/>
        </p:nvSpPr>
        <p:spPr>
          <a:xfrm>
            <a:off x="609600" y="5511800"/>
            <a:ext cx="254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600" b="1">
                <a:solidFill>
                  <a:srgbClr val="087069"/>
                </a:solidFill>
                <a:latin typeface="맑은 고딕" panose="020B0503020000020004" pitchFamily="50" charset="-127"/>
              </a:rPr>
              <a:t>ROI </a:t>
            </a:r>
            <a:r>
              <a:rPr lang="ko-KR" altLang="en-US" sz="1600" b="1">
                <a:solidFill>
                  <a:srgbClr val="087069"/>
                </a:solidFill>
                <a:latin typeface="맑은 고딕" panose="020B0503020000020004" pitchFamily="50" charset="-127"/>
              </a:rPr>
              <a:t>상관관계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925B4-7B74-9A91-F185-335942A7E818}"/>
              </a:ext>
            </a:extLst>
          </p:cNvPr>
          <p:cNvSpPr txBox="1"/>
          <p:nvPr/>
        </p:nvSpPr>
        <p:spPr>
          <a:xfrm>
            <a:off x="609600" y="5791200"/>
            <a:ext cx="584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50">
                <a:solidFill>
                  <a:srgbClr val="52706C"/>
                </a:solidFill>
                <a:latin typeface="맑은 고딕" panose="020B0503020000020004" pitchFamily="50" charset="-127"/>
              </a:rPr>
              <a:t>나이와 상관이 큰 상위 </a:t>
            </a:r>
            <a:r>
              <a:rPr lang="en-US" altLang="ko-KR" sz="1250">
                <a:solidFill>
                  <a:srgbClr val="52706C"/>
                </a:solidFill>
                <a:latin typeface="맑은 고딕" panose="020B0503020000020004" pitchFamily="50" charset="-127"/>
              </a:rPr>
              <a:t>15</a:t>
            </a:r>
            <a:r>
              <a:rPr lang="ko-KR" altLang="en-US" sz="1250">
                <a:solidFill>
                  <a:srgbClr val="52706C"/>
                </a:solidFill>
                <a:latin typeface="맑은 고딕" panose="020B0503020000020004" pitchFamily="50" charset="-127"/>
              </a:rPr>
              <a:t>개 </a:t>
            </a:r>
            <a:r>
              <a:rPr lang="en-US" altLang="ko-KR" sz="1250">
                <a:solidFill>
                  <a:srgbClr val="52706C"/>
                </a:solidFill>
                <a:latin typeface="맑은 고딕" panose="020B0503020000020004" pitchFamily="50" charset="-127"/>
              </a:rPr>
              <a:t>ROI</a:t>
            </a:r>
            <a:r>
              <a:rPr lang="ko-KR" altLang="en-US" sz="1250">
                <a:solidFill>
                  <a:srgbClr val="52706C"/>
                </a:solidFill>
                <a:latin typeface="맑은 고딕" panose="020B0503020000020004" pitchFamily="50" charset="-127"/>
              </a:rPr>
              <a:t>의 탐색적 관계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C1F013-70D5-06E6-3937-F71C374DF2CB}"/>
              </a:ext>
            </a:extLst>
          </p:cNvPr>
          <p:cNvSpPr txBox="1"/>
          <p:nvPr/>
        </p:nvSpPr>
        <p:spPr>
          <a:xfrm>
            <a:off x="7493000" y="51308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600" b="1">
                <a:solidFill>
                  <a:srgbClr val="075F5A"/>
                </a:solidFill>
                <a:latin typeface="맑은 고딕" panose="020B0503020000020004" pitchFamily="50" charset="-127"/>
              </a:rPr>
              <a:t>상위 피질 취약 부위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4F6154-9927-FE79-AD64-70BD284EB078}"/>
              </a:ext>
            </a:extLst>
          </p:cNvPr>
          <p:cNvSpPr txBox="1"/>
          <p:nvPr/>
        </p:nvSpPr>
        <p:spPr>
          <a:xfrm>
            <a:off x="7493000" y="5422900"/>
            <a:ext cx="408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300">
                <a:solidFill>
                  <a:srgbClr val="52706C"/>
                </a:solidFill>
                <a:latin typeface="맑은 고딕" panose="020B0503020000020004" pitchFamily="50" charset="-127"/>
              </a:rPr>
              <a:t>내은피질</a:t>
            </a:r>
            <a:r>
              <a:rPr lang="en-US" altLang="ko-KR" sz="1300">
                <a:solidFill>
                  <a:srgbClr val="52706C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300">
                <a:solidFill>
                  <a:srgbClr val="52706C"/>
                </a:solidFill>
                <a:latin typeface="맑은 고딕" panose="020B0503020000020004" pitchFamily="50" charset="-127"/>
              </a:rPr>
              <a:t>중간 측두엽 등에서 </a:t>
            </a:r>
            <a:r>
              <a:rPr lang="en-US" altLang="ko-KR" sz="1300">
                <a:solidFill>
                  <a:srgbClr val="52706C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1300">
                <a:solidFill>
                  <a:srgbClr val="52706C"/>
                </a:solidFill>
                <a:latin typeface="맑은 고딕" panose="020B0503020000020004" pitchFamily="50" charset="-127"/>
              </a:rPr>
              <a:t>기준 기대 두께보다 얇은 방향이 관찰됨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C70DC6-2B29-EF60-3184-0B0DFF9F3F83}"/>
              </a:ext>
            </a:extLst>
          </p:cNvPr>
          <p:cNvSpPr txBox="1"/>
          <p:nvPr/>
        </p:nvSpPr>
        <p:spPr>
          <a:xfrm>
            <a:off x="609600" y="6108700"/>
            <a:ext cx="10972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ko-KR" altLang="en-US" sz="1150" b="1">
                <a:solidFill>
                  <a:srgbClr val="163F3C"/>
                </a:solidFill>
                <a:latin typeface="맑은 고딕" panose="020B0503020000020004" pitchFamily="50" charset="-127"/>
              </a:rPr>
              <a:t>상관관계 히트맵은 </a:t>
            </a:r>
            <a:r>
              <a:rPr lang="en-US" altLang="ko-KR" sz="1150" b="1">
                <a:solidFill>
                  <a:srgbClr val="163F3C"/>
                </a:solidFill>
                <a:latin typeface="맑은 고딕" panose="020B0503020000020004" pitchFamily="50" charset="-127"/>
              </a:rPr>
              <a:t>Ridge</a:t>
            </a:r>
            <a:r>
              <a:rPr lang="ko-KR" altLang="en-US" sz="1150" b="1">
                <a:solidFill>
                  <a:srgbClr val="163F3C"/>
                </a:solidFill>
                <a:latin typeface="맑은 고딕" panose="020B0503020000020004" pitchFamily="50" charset="-127"/>
              </a:rPr>
              <a:t>의 변수 가중치나 인과관계를 뜻하지 않습니다</a:t>
            </a:r>
            <a:r>
              <a:rPr lang="en-US" altLang="ko-KR" sz="1150" b="1">
                <a:solidFill>
                  <a:srgbClr val="163F3C"/>
                </a:solidFill>
                <a:latin typeface="맑은 고딕" panose="020B0503020000020004" pitchFamily="50" charset="-127"/>
              </a:rPr>
              <a:t>.</a:t>
            </a:r>
            <a:endParaRPr lang="ko-KR" altLang="en-US" sz="1150" b="1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209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2FE7211-3674-12BB-9AA1-6C0BFDDA12FF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10E586-7CBB-1E08-1BB3-70FADA049044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RID</a:t>
            </a:r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별 개인 분석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5CFFC4-9D67-A648-114E-13BB37DE117B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RID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별 </a:t>
            </a:r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BAG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와 </a:t>
            </a:r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3D 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지도를 함께 해석합니다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2EC391F-14F3-EAFD-5FA7-C7B311751816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AC14ACA-3C55-6053-DC58-0793911A6374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ACFF09A-0539-2AB9-8EB8-C4F9DC4A5D2C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5F9120-2E10-3571-F309-D7116FCE5986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10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6743A5-AC56-60E2-B142-4A21507DFCB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79600"/>
            <a:ext cx="5461000" cy="3632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C75F080-2B21-B6BD-7A41-DD55191E52A2}"/>
              </a:ext>
            </a:extLst>
          </p:cNvPr>
          <p:cNvSpPr txBox="1"/>
          <p:nvPr/>
        </p:nvSpPr>
        <p:spPr>
          <a:xfrm>
            <a:off x="6858000" y="20574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700" b="1">
                <a:solidFill>
                  <a:srgbClr val="087069"/>
                </a:solidFill>
                <a:latin typeface="맑은 고딕" panose="020B0503020000020004" pitchFamily="50" charset="-127"/>
              </a:rPr>
              <a:t>RID 10 </a:t>
            </a:r>
            <a:r>
              <a:rPr lang="ko-KR" altLang="en-US" sz="1700" b="1">
                <a:solidFill>
                  <a:srgbClr val="087069"/>
                </a:solidFill>
                <a:latin typeface="맑은 고딕" panose="020B0503020000020004" pitchFamily="50" charset="-127"/>
              </a:rPr>
              <a:t>예시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7311C0-0686-B619-1979-DAC0408F58BF}"/>
              </a:ext>
            </a:extLst>
          </p:cNvPr>
          <p:cNvSpPr txBox="1"/>
          <p:nvPr/>
        </p:nvSpPr>
        <p:spPr>
          <a:xfrm>
            <a:off x="6858000" y="25146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AD | </a:t>
            </a:r>
            <a:r>
              <a:rPr lang="ko-KR" altLang="en-US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여성 </a:t>
            </a:r>
            <a:r>
              <a:rPr lang="en-US" altLang="ko-KR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| 74.0</a:t>
            </a:r>
            <a:r>
              <a:rPr lang="ko-KR" altLang="en-US" sz="2100" b="1">
                <a:solidFill>
                  <a:srgbClr val="163F3C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13F67B-DA8F-F39F-B6EB-50B845213599}"/>
              </a:ext>
            </a:extLst>
          </p:cNvPr>
          <p:cNvSpPr txBox="1"/>
          <p:nvPr/>
        </p:nvSpPr>
        <p:spPr>
          <a:xfrm>
            <a:off x="6858000" y="3035300"/>
            <a:ext cx="355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800" b="1">
                <a:solidFill>
                  <a:srgbClr val="075F5A"/>
                </a:solidFill>
                <a:latin typeface="맑은 고딕" panose="020B0503020000020004" pitchFamily="50" charset="-127"/>
              </a:rPr>
              <a:t>보정 </a:t>
            </a:r>
            <a:r>
              <a:rPr lang="en-US" altLang="ko-KR" sz="2800" b="1">
                <a:solidFill>
                  <a:srgbClr val="075F5A"/>
                </a:solidFill>
                <a:latin typeface="맑은 고딕" panose="020B0503020000020004" pitchFamily="50" charset="-127"/>
              </a:rPr>
              <a:t>BAG  +2.85</a:t>
            </a:r>
            <a:r>
              <a:rPr lang="ko-KR" altLang="en-US" sz="2800" b="1">
                <a:solidFill>
                  <a:srgbClr val="075F5A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76EFA7C-6DE6-0980-5068-295FA212D673}"/>
              </a:ext>
            </a:extLst>
          </p:cNvPr>
          <p:cNvCxnSpPr/>
          <p:nvPr/>
        </p:nvCxnSpPr>
        <p:spPr>
          <a:xfrm>
            <a:off x="6858000" y="3746500"/>
            <a:ext cx="4241800" cy="0"/>
          </a:xfrm>
          <a:prstGeom prst="line">
            <a:avLst/>
          </a:prstGeom>
          <a:ln w="1270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75DCCB9-8A47-B3A2-FDA9-55855A8F5544}"/>
              </a:ext>
            </a:extLst>
          </p:cNvPr>
          <p:cNvSpPr txBox="1"/>
          <p:nvPr/>
        </p:nvSpPr>
        <p:spPr>
          <a:xfrm>
            <a:off x="6858000" y="40894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700" b="1">
                <a:solidFill>
                  <a:srgbClr val="52706C"/>
                </a:solidFill>
                <a:latin typeface="맑은 고딕" panose="020B0503020000020004" pitchFamily="50" charset="-127"/>
              </a:rPr>
              <a:t>함께 확인하는 정보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81C501-910D-114B-65F1-F325B061FB2D}"/>
              </a:ext>
            </a:extLst>
          </p:cNvPr>
          <p:cNvSpPr txBox="1"/>
          <p:nvPr/>
        </p:nvSpPr>
        <p:spPr>
          <a:xfrm>
            <a:off x="6858000" y="4495800"/>
            <a:ext cx="387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600">
                <a:solidFill>
                  <a:srgbClr val="163F3C"/>
                </a:solidFill>
                <a:latin typeface="맑은 고딕" panose="020B0503020000020004" pitchFamily="50" charset="-127"/>
              </a:rPr>
              <a:t>PHC_Diagnosis · CDR · </a:t>
            </a:r>
            <a:r>
              <a:rPr lang="ko-KR" altLang="en-US" sz="1600">
                <a:solidFill>
                  <a:srgbClr val="163F3C"/>
                </a:solidFill>
                <a:latin typeface="맑은 고딕" panose="020B0503020000020004" pitchFamily="50" charset="-127"/>
              </a:rPr>
              <a:t>진단 이력
상위 취약 부위 </a:t>
            </a:r>
            <a:r>
              <a:rPr lang="en-US" altLang="ko-KR" sz="1600">
                <a:solidFill>
                  <a:srgbClr val="163F3C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600">
                <a:solidFill>
                  <a:srgbClr val="163F3C"/>
                </a:solidFill>
                <a:latin typeface="맑은 고딕" panose="020B0503020000020004" pitchFamily="50" charset="-127"/>
              </a:rPr>
              <a:t>다중 </a:t>
            </a:r>
            <a:r>
              <a:rPr lang="en-US" altLang="ko-KR" sz="1600">
                <a:solidFill>
                  <a:srgbClr val="163F3C"/>
                </a:solidFill>
                <a:latin typeface="맑은 고딕" panose="020B0503020000020004" pitchFamily="50" charset="-127"/>
              </a:rPr>
              <a:t>RID BAG </a:t>
            </a:r>
            <a:r>
              <a:rPr lang="ko-KR" altLang="en-US" sz="1600">
                <a:solidFill>
                  <a:srgbClr val="163F3C"/>
                </a:solidFill>
                <a:latin typeface="맑은 고딕" panose="020B0503020000020004" pitchFamily="50" charset="-127"/>
              </a:rPr>
              <a:t>비교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737CFE-1EA1-50CF-80FE-A51A8D95C7C0}"/>
              </a:ext>
            </a:extLst>
          </p:cNvPr>
          <p:cNvSpPr txBox="1"/>
          <p:nvPr/>
        </p:nvSpPr>
        <p:spPr>
          <a:xfrm>
            <a:off x="609600" y="57785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개인 지도는 해당 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RID</a:t>
            </a:r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의 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ROI </a:t>
            </a:r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수치가 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1500">
                <a:solidFill>
                  <a:srgbClr val="52706C"/>
                </a:solidFill>
                <a:latin typeface="맑은 고딕" panose="020B0503020000020004" pitchFamily="50" charset="-127"/>
              </a:rPr>
              <a:t>기준 기대치에서 벗어난 정도를 표준 표면에 표시합니다</a:t>
            </a:r>
            <a:r>
              <a:rPr lang="en-US" altLang="ko-KR" sz="1500">
                <a:solidFill>
                  <a:srgbClr val="52706C"/>
                </a:solidFill>
                <a:latin typeface="맑은 고딕" panose="020B0503020000020004" pitchFamily="50" charset="-127"/>
              </a:rPr>
              <a:t>.</a:t>
            </a:r>
            <a:endParaRPr lang="ko-KR" altLang="en-US" sz="15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442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26BBA696-8711-8E40-2318-103AE3086262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D0FF65-2338-9FFE-CE48-268A1A9A9F49}"/>
              </a:ext>
            </a:extLst>
          </p:cNvPr>
          <p:cNvSpPr txBox="1"/>
          <p:nvPr/>
        </p:nvSpPr>
        <p:spPr>
          <a:xfrm>
            <a:off x="609600" y="5334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선정된 개인 사례 </a:t>
            </a:r>
            <a:r>
              <a:rPr lang="en-US" altLang="ko-KR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연령 </a:t>
            </a:r>
            <a:r>
              <a:rPr lang="en-US" altLang="ko-KR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72.5–75.1</a:t>
            </a:r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F1A0B-D74C-DE85-8956-4839D239BB2B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비슷한 연령대에서도 개인별 </a:t>
            </a:r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BAG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는 다릅니다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BA41B271-9EF9-5C39-2338-70E46E2AD9EF}"/>
              </a:ext>
            </a:extLst>
          </p:cNvPr>
          <p:cNvCxnSpPr/>
          <p:nvPr/>
        </p:nvCxnSpPr>
        <p:spPr>
          <a:xfrm>
            <a:off x="609600" y="1536700"/>
            <a:ext cx="1676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BEB8534-B159-9555-8C70-D6E90C16D51E}"/>
              </a:ext>
            </a:extLst>
          </p:cNvPr>
          <p:cNvSpPr txBox="1"/>
          <p:nvPr/>
        </p:nvSpPr>
        <p:spPr>
          <a:xfrm>
            <a:off x="609600" y="2159000"/>
            <a:ext cx="165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400" b="1">
                <a:solidFill>
                  <a:srgbClr val="52706C"/>
                </a:solidFill>
                <a:latin typeface="맑은 고딕" panose="020B0503020000020004" pitchFamily="50" charset="-127"/>
              </a:rPr>
              <a:t>보정 </a:t>
            </a:r>
            <a:r>
              <a:rPr lang="en-US" altLang="ko-KR" sz="1400" b="1">
                <a:solidFill>
                  <a:srgbClr val="52706C"/>
                </a:solidFill>
                <a:latin typeface="맑은 고딕" panose="020B0503020000020004" pitchFamily="50" charset="-127"/>
              </a:rPr>
              <a:t>BAG(</a:t>
            </a:r>
            <a:r>
              <a:rPr lang="ko-KR" altLang="en-US" sz="1400" b="1">
                <a:solidFill>
                  <a:srgbClr val="52706C"/>
                </a:solidFill>
                <a:latin typeface="맑은 고딕" panose="020B0503020000020004" pitchFamily="50" charset="-127"/>
              </a:rPr>
              <a:t>세</a:t>
            </a:r>
            <a:r>
              <a:rPr lang="en-US" altLang="ko-KR" sz="1400" b="1">
                <a:solidFill>
                  <a:srgbClr val="52706C"/>
                </a:solidFill>
                <a:latin typeface="맑은 고딕" panose="020B0503020000020004" pitchFamily="50" charset="-127"/>
              </a:rPr>
              <a:t>)</a:t>
            </a:r>
            <a:endParaRPr lang="ko-KR" altLang="en-US" sz="1400" b="1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A554856-613F-A888-1194-949AE8C54FD9}"/>
              </a:ext>
            </a:extLst>
          </p:cNvPr>
          <p:cNvCxnSpPr/>
          <p:nvPr/>
        </p:nvCxnSpPr>
        <p:spPr>
          <a:xfrm>
            <a:off x="1041400" y="5295900"/>
            <a:ext cx="7594600" cy="0"/>
          </a:xfrm>
          <a:prstGeom prst="line">
            <a:avLst/>
          </a:prstGeom>
          <a:ln w="16510">
            <a:solidFill>
              <a:srgbClr val="5270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F8D83A-59DB-F0FC-49CA-A8E2E565F3C2}"/>
              </a:ext>
            </a:extLst>
          </p:cNvPr>
          <p:cNvSpPr txBox="1"/>
          <p:nvPr/>
        </p:nvSpPr>
        <p:spPr>
          <a:xfrm>
            <a:off x="571500" y="51943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0</a:t>
            </a:r>
            <a:endParaRPr lang="ko-KR" altLang="en-US" sz="11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E63F46C-6D21-4011-BA9B-D0263382B02F}"/>
              </a:ext>
            </a:extLst>
          </p:cNvPr>
          <p:cNvCxnSpPr/>
          <p:nvPr/>
        </p:nvCxnSpPr>
        <p:spPr>
          <a:xfrm>
            <a:off x="1041400" y="4914900"/>
            <a:ext cx="7594600" cy="0"/>
          </a:xfrm>
          <a:prstGeom prst="line">
            <a:avLst/>
          </a:prstGeom>
          <a:ln w="889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1AE947-08E9-CA52-378B-01D50AA81900}"/>
              </a:ext>
            </a:extLst>
          </p:cNvPr>
          <p:cNvSpPr txBox="1"/>
          <p:nvPr/>
        </p:nvSpPr>
        <p:spPr>
          <a:xfrm>
            <a:off x="571500" y="48133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5</a:t>
            </a:r>
            <a:endParaRPr lang="ko-KR" altLang="en-US" sz="11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52CBC25D-8733-9E8F-9983-65015F1F23E5}"/>
              </a:ext>
            </a:extLst>
          </p:cNvPr>
          <p:cNvCxnSpPr/>
          <p:nvPr/>
        </p:nvCxnSpPr>
        <p:spPr>
          <a:xfrm>
            <a:off x="1041400" y="4533900"/>
            <a:ext cx="7594600" cy="0"/>
          </a:xfrm>
          <a:prstGeom prst="line">
            <a:avLst/>
          </a:prstGeom>
          <a:ln w="889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BC686F2-5A40-1875-6925-7230E494DF2E}"/>
              </a:ext>
            </a:extLst>
          </p:cNvPr>
          <p:cNvSpPr txBox="1"/>
          <p:nvPr/>
        </p:nvSpPr>
        <p:spPr>
          <a:xfrm>
            <a:off x="571500" y="44323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10</a:t>
            </a:r>
            <a:endParaRPr lang="ko-KR" altLang="en-US" sz="11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5D1EA6A-7F03-58E7-8670-B05F5ED1FC14}"/>
              </a:ext>
            </a:extLst>
          </p:cNvPr>
          <p:cNvCxnSpPr/>
          <p:nvPr/>
        </p:nvCxnSpPr>
        <p:spPr>
          <a:xfrm>
            <a:off x="1041400" y="4152900"/>
            <a:ext cx="7594600" cy="0"/>
          </a:xfrm>
          <a:prstGeom prst="line">
            <a:avLst/>
          </a:prstGeom>
          <a:ln w="889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F057800-9190-05A5-536D-72417061FF77}"/>
              </a:ext>
            </a:extLst>
          </p:cNvPr>
          <p:cNvSpPr txBox="1"/>
          <p:nvPr/>
        </p:nvSpPr>
        <p:spPr>
          <a:xfrm>
            <a:off x="571500" y="40513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15</a:t>
            </a:r>
            <a:endParaRPr lang="ko-KR" altLang="en-US" sz="11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E9BFAC64-EDA8-463B-8B80-97E9822FBCD9}"/>
              </a:ext>
            </a:extLst>
          </p:cNvPr>
          <p:cNvCxnSpPr/>
          <p:nvPr/>
        </p:nvCxnSpPr>
        <p:spPr>
          <a:xfrm>
            <a:off x="1041400" y="3771900"/>
            <a:ext cx="7594600" cy="0"/>
          </a:xfrm>
          <a:prstGeom prst="line">
            <a:avLst/>
          </a:prstGeom>
          <a:ln w="889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E248132-E95D-16D3-765F-17800EA4EE88}"/>
              </a:ext>
            </a:extLst>
          </p:cNvPr>
          <p:cNvSpPr txBox="1"/>
          <p:nvPr/>
        </p:nvSpPr>
        <p:spPr>
          <a:xfrm>
            <a:off x="571500" y="36703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20</a:t>
            </a:r>
            <a:endParaRPr lang="ko-KR" altLang="en-US" sz="11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10130F8-C206-877A-1D4A-65CD235105D9}"/>
              </a:ext>
            </a:extLst>
          </p:cNvPr>
          <p:cNvCxnSpPr/>
          <p:nvPr/>
        </p:nvCxnSpPr>
        <p:spPr>
          <a:xfrm>
            <a:off x="1041400" y="3390900"/>
            <a:ext cx="7594600" cy="0"/>
          </a:xfrm>
          <a:prstGeom prst="line">
            <a:avLst/>
          </a:prstGeom>
          <a:ln w="889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5B90F13-4E51-6B30-6722-EC0226C7A4A6}"/>
              </a:ext>
            </a:extLst>
          </p:cNvPr>
          <p:cNvSpPr txBox="1"/>
          <p:nvPr/>
        </p:nvSpPr>
        <p:spPr>
          <a:xfrm>
            <a:off x="571500" y="32893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25</a:t>
            </a:r>
            <a:endParaRPr lang="ko-KR" altLang="en-US" sz="11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ECF3B7-BCB0-1EF5-EE20-2CB684223A21}"/>
              </a:ext>
            </a:extLst>
          </p:cNvPr>
          <p:cNvSpPr/>
          <p:nvPr/>
        </p:nvSpPr>
        <p:spPr>
          <a:xfrm>
            <a:off x="1282700" y="5257800"/>
            <a:ext cx="863600" cy="38100"/>
          </a:xfrm>
          <a:prstGeom prst="rect">
            <a:avLst/>
          </a:prstGeom>
          <a:solidFill>
            <a:srgbClr val="087069"/>
          </a:solidFill>
          <a:ln w="0">
            <a:solidFill>
              <a:srgbClr val="0870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61F940-0E0C-0074-9828-83999578012A}"/>
              </a:ext>
            </a:extLst>
          </p:cNvPr>
          <p:cNvSpPr txBox="1"/>
          <p:nvPr/>
        </p:nvSpPr>
        <p:spPr>
          <a:xfrm>
            <a:off x="1130300" y="49657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300" b="1">
                <a:solidFill>
                  <a:srgbClr val="087069"/>
                </a:solidFill>
                <a:latin typeface="맑은 고딕" panose="020B0503020000020004" pitchFamily="50" charset="-127"/>
              </a:rPr>
              <a:t>+0.45</a:t>
            </a:r>
            <a:endParaRPr lang="ko-KR" altLang="en-US" sz="1300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839270-1E90-5D4C-DA0E-8569FB65CC43}"/>
              </a:ext>
            </a:extLst>
          </p:cNvPr>
          <p:cNvSpPr txBox="1"/>
          <p:nvPr/>
        </p:nvSpPr>
        <p:spPr>
          <a:xfrm>
            <a:off x="1143000" y="54864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500" b="1">
                <a:solidFill>
                  <a:srgbClr val="087069"/>
                </a:solidFill>
                <a:latin typeface="맑은 고딕" panose="020B0503020000020004" pitchFamily="50" charset="-127"/>
              </a:rPr>
              <a:t>CN</a:t>
            </a:r>
            <a:endParaRPr lang="ko-KR" altLang="en-US" sz="1500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D2DFB1-E574-C772-4766-66373EF9C7DC}"/>
              </a:ext>
            </a:extLst>
          </p:cNvPr>
          <p:cNvSpPr txBox="1"/>
          <p:nvPr/>
        </p:nvSpPr>
        <p:spPr>
          <a:xfrm>
            <a:off x="1143000" y="57277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200">
                <a:solidFill>
                  <a:srgbClr val="163F3C"/>
                </a:solidFill>
                <a:latin typeface="맑은 고딕" panose="020B0503020000020004" pitchFamily="50" charset="-127"/>
              </a:rPr>
              <a:t>RID 360</a:t>
            </a:r>
            <a:endParaRPr lang="ko-KR" altLang="en-US" sz="1200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451222-0179-4888-0017-D0FA05E59202}"/>
              </a:ext>
            </a:extLst>
          </p:cNvPr>
          <p:cNvSpPr txBox="1"/>
          <p:nvPr/>
        </p:nvSpPr>
        <p:spPr>
          <a:xfrm>
            <a:off x="1143000" y="5943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73.2</a:t>
            </a:r>
            <a:r>
              <a:rPr lang="ko-KR" altLang="en-US" sz="1100">
                <a:solidFill>
                  <a:srgbClr val="52706C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B9AAAE5-36B9-7D83-BE26-A790D5611A74}"/>
              </a:ext>
            </a:extLst>
          </p:cNvPr>
          <p:cNvSpPr/>
          <p:nvPr/>
        </p:nvSpPr>
        <p:spPr>
          <a:xfrm>
            <a:off x="2743200" y="4787900"/>
            <a:ext cx="863600" cy="508000"/>
          </a:xfrm>
          <a:prstGeom prst="rect">
            <a:avLst/>
          </a:prstGeom>
          <a:solidFill>
            <a:srgbClr val="1AA79A"/>
          </a:solidFill>
          <a:ln w="0">
            <a:solidFill>
              <a:srgbClr val="1AA7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64939-8126-B081-50DE-D3535B7F09FE}"/>
              </a:ext>
            </a:extLst>
          </p:cNvPr>
          <p:cNvSpPr txBox="1"/>
          <p:nvPr/>
        </p:nvSpPr>
        <p:spPr>
          <a:xfrm>
            <a:off x="2590800" y="44958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300" b="1">
                <a:solidFill>
                  <a:srgbClr val="1AA79A"/>
                </a:solidFill>
                <a:latin typeface="맑은 고딕" panose="020B0503020000020004" pitchFamily="50" charset="-127"/>
              </a:rPr>
              <a:t>+6.63</a:t>
            </a:r>
            <a:endParaRPr lang="ko-KR" altLang="en-US" sz="1300" b="1">
              <a:solidFill>
                <a:srgbClr val="1AA79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0E96D6-69E4-25E6-604F-5F9C69A5B33C}"/>
              </a:ext>
            </a:extLst>
          </p:cNvPr>
          <p:cNvSpPr txBox="1"/>
          <p:nvPr/>
        </p:nvSpPr>
        <p:spPr>
          <a:xfrm>
            <a:off x="2603500" y="54864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500" b="1">
                <a:solidFill>
                  <a:srgbClr val="1AA79A"/>
                </a:solidFill>
                <a:latin typeface="맑은 고딕" panose="020B0503020000020004" pitchFamily="50" charset="-127"/>
              </a:rPr>
              <a:t>MCI</a:t>
            </a:r>
            <a:endParaRPr lang="ko-KR" altLang="en-US" sz="1500" b="1">
              <a:solidFill>
                <a:srgbClr val="1AA79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B1DCB5-9B80-BCF2-AF69-0D782CF49E9C}"/>
              </a:ext>
            </a:extLst>
          </p:cNvPr>
          <p:cNvSpPr txBox="1"/>
          <p:nvPr/>
        </p:nvSpPr>
        <p:spPr>
          <a:xfrm>
            <a:off x="2603500" y="57277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200">
                <a:solidFill>
                  <a:srgbClr val="163F3C"/>
                </a:solidFill>
                <a:latin typeface="맑은 고딕" panose="020B0503020000020004" pitchFamily="50" charset="-127"/>
              </a:rPr>
              <a:t>RID 4251</a:t>
            </a:r>
            <a:endParaRPr lang="ko-KR" altLang="en-US" sz="1200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EE5A4F-9D97-F8EE-2DBF-0CF9E875408C}"/>
              </a:ext>
            </a:extLst>
          </p:cNvPr>
          <p:cNvSpPr txBox="1"/>
          <p:nvPr/>
        </p:nvSpPr>
        <p:spPr>
          <a:xfrm>
            <a:off x="2603500" y="5943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72.5</a:t>
            </a:r>
            <a:r>
              <a:rPr lang="ko-KR" altLang="en-US" sz="1100">
                <a:solidFill>
                  <a:srgbClr val="52706C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55519E-639C-CEF2-AF2F-DC1EAEC4423E}"/>
              </a:ext>
            </a:extLst>
          </p:cNvPr>
          <p:cNvSpPr/>
          <p:nvPr/>
        </p:nvSpPr>
        <p:spPr>
          <a:xfrm>
            <a:off x="4203700" y="4508500"/>
            <a:ext cx="863600" cy="787400"/>
          </a:xfrm>
          <a:prstGeom prst="rect">
            <a:avLst/>
          </a:prstGeom>
          <a:solidFill>
            <a:srgbClr val="0F9084"/>
          </a:solidFill>
          <a:ln w="0">
            <a:solidFill>
              <a:srgbClr val="0F908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AAEA1-EFCA-EF30-7748-58690488F525}"/>
              </a:ext>
            </a:extLst>
          </p:cNvPr>
          <p:cNvSpPr txBox="1"/>
          <p:nvPr/>
        </p:nvSpPr>
        <p:spPr>
          <a:xfrm>
            <a:off x="4051300" y="42164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300" b="1">
                <a:solidFill>
                  <a:srgbClr val="0F9084"/>
                </a:solidFill>
                <a:latin typeface="맑은 고딕" panose="020B0503020000020004" pitchFamily="50" charset="-127"/>
              </a:rPr>
              <a:t>+10.34</a:t>
            </a:r>
            <a:endParaRPr lang="ko-KR" altLang="en-US" sz="1300" b="1">
              <a:solidFill>
                <a:srgbClr val="0F9084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6C14-7E52-FE1B-4FFF-2528C48F4867}"/>
              </a:ext>
            </a:extLst>
          </p:cNvPr>
          <p:cNvSpPr txBox="1"/>
          <p:nvPr/>
        </p:nvSpPr>
        <p:spPr>
          <a:xfrm>
            <a:off x="4064000" y="54864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500" b="1">
                <a:solidFill>
                  <a:srgbClr val="0F9084"/>
                </a:solidFill>
                <a:latin typeface="맑은 고딕" panose="020B0503020000020004" pitchFamily="50" charset="-127"/>
              </a:rPr>
              <a:t>AD</a:t>
            </a:r>
            <a:endParaRPr lang="ko-KR" altLang="en-US" sz="1500" b="1">
              <a:solidFill>
                <a:srgbClr val="0F9084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B5B3B1-885B-8A37-5A77-35CA9BC16718}"/>
              </a:ext>
            </a:extLst>
          </p:cNvPr>
          <p:cNvSpPr txBox="1"/>
          <p:nvPr/>
        </p:nvSpPr>
        <p:spPr>
          <a:xfrm>
            <a:off x="4064000" y="57277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200">
                <a:solidFill>
                  <a:srgbClr val="163F3C"/>
                </a:solidFill>
                <a:latin typeface="맑은 고딕" panose="020B0503020000020004" pitchFamily="50" charset="-127"/>
              </a:rPr>
              <a:t>RID 696</a:t>
            </a:r>
            <a:endParaRPr lang="ko-KR" altLang="en-US" sz="1200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A4F76C-1DD9-C333-A6E4-8C752ED0B557}"/>
              </a:ext>
            </a:extLst>
          </p:cNvPr>
          <p:cNvSpPr txBox="1"/>
          <p:nvPr/>
        </p:nvSpPr>
        <p:spPr>
          <a:xfrm>
            <a:off x="4064000" y="5943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74.2</a:t>
            </a:r>
            <a:r>
              <a:rPr lang="ko-KR" altLang="en-US" sz="1100">
                <a:solidFill>
                  <a:srgbClr val="52706C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3A31A1-F237-19FF-F307-D1077F7C0F97}"/>
              </a:ext>
            </a:extLst>
          </p:cNvPr>
          <p:cNvSpPr/>
          <p:nvPr/>
        </p:nvSpPr>
        <p:spPr>
          <a:xfrm>
            <a:off x="5664200" y="4178300"/>
            <a:ext cx="863600" cy="1117600"/>
          </a:xfrm>
          <a:prstGeom prst="rect">
            <a:avLst/>
          </a:prstGeom>
          <a:solidFill>
            <a:srgbClr val="0C8076"/>
          </a:solidFill>
          <a:ln w="0">
            <a:solidFill>
              <a:srgbClr val="0C807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A27318-7C5C-0884-0981-FCFB89428DD9}"/>
              </a:ext>
            </a:extLst>
          </p:cNvPr>
          <p:cNvSpPr txBox="1"/>
          <p:nvPr/>
        </p:nvSpPr>
        <p:spPr>
          <a:xfrm>
            <a:off x="5511800" y="38862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300" b="1">
                <a:solidFill>
                  <a:srgbClr val="0C8076"/>
                </a:solidFill>
                <a:latin typeface="맑은 고딕" panose="020B0503020000020004" pitchFamily="50" charset="-127"/>
              </a:rPr>
              <a:t>+14.67</a:t>
            </a:r>
            <a:endParaRPr lang="ko-KR" altLang="en-US" sz="1300" b="1">
              <a:solidFill>
                <a:srgbClr val="0C8076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4D1BF0-4842-C7D6-8B72-2EDC6A3DDDF3}"/>
              </a:ext>
            </a:extLst>
          </p:cNvPr>
          <p:cNvSpPr txBox="1"/>
          <p:nvPr/>
        </p:nvSpPr>
        <p:spPr>
          <a:xfrm>
            <a:off x="5524500" y="54864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500" b="1">
                <a:solidFill>
                  <a:srgbClr val="0C8076"/>
                </a:solidFill>
                <a:latin typeface="맑은 고딕" panose="020B0503020000020004" pitchFamily="50" charset="-127"/>
              </a:rPr>
              <a:t>AD</a:t>
            </a:r>
            <a:endParaRPr lang="ko-KR" altLang="en-US" sz="1500" b="1">
              <a:solidFill>
                <a:srgbClr val="0C8076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401FE0-7549-E749-7721-D9F7BB6FC5B0}"/>
              </a:ext>
            </a:extLst>
          </p:cNvPr>
          <p:cNvSpPr txBox="1"/>
          <p:nvPr/>
        </p:nvSpPr>
        <p:spPr>
          <a:xfrm>
            <a:off x="5524500" y="57277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200">
                <a:solidFill>
                  <a:srgbClr val="163F3C"/>
                </a:solidFill>
                <a:latin typeface="맑은 고딕" panose="020B0503020000020004" pitchFamily="50" charset="-127"/>
              </a:rPr>
              <a:t>RID 6689</a:t>
            </a:r>
            <a:endParaRPr lang="ko-KR" altLang="en-US" sz="1200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5F11DB-92EC-3FE9-71AD-55AD0EF5487A}"/>
              </a:ext>
            </a:extLst>
          </p:cNvPr>
          <p:cNvSpPr txBox="1"/>
          <p:nvPr/>
        </p:nvSpPr>
        <p:spPr>
          <a:xfrm>
            <a:off x="5524500" y="5943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75.1</a:t>
            </a:r>
            <a:r>
              <a:rPr lang="ko-KR" altLang="en-US" sz="1100">
                <a:solidFill>
                  <a:srgbClr val="52706C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4DEA86B-568C-6900-AD84-A6B2303D98D7}"/>
              </a:ext>
            </a:extLst>
          </p:cNvPr>
          <p:cNvSpPr/>
          <p:nvPr/>
        </p:nvSpPr>
        <p:spPr>
          <a:xfrm>
            <a:off x="7124700" y="3225800"/>
            <a:ext cx="863600" cy="2070100"/>
          </a:xfrm>
          <a:prstGeom prst="rect">
            <a:avLst/>
          </a:prstGeom>
          <a:solidFill>
            <a:srgbClr val="075F5A"/>
          </a:solidFill>
          <a:ln w="0">
            <a:solidFill>
              <a:srgbClr val="075F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752823-1575-6E25-C80E-134BAE78782F}"/>
              </a:ext>
            </a:extLst>
          </p:cNvPr>
          <p:cNvSpPr txBox="1"/>
          <p:nvPr/>
        </p:nvSpPr>
        <p:spPr>
          <a:xfrm>
            <a:off x="6972300" y="29337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300" b="1">
                <a:solidFill>
                  <a:srgbClr val="075F5A"/>
                </a:solidFill>
                <a:latin typeface="맑은 고딕" panose="020B0503020000020004" pitchFamily="50" charset="-127"/>
              </a:rPr>
              <a:t>+27.23</a:t>
            </a:r>
            <a:endParaRPr lang="ko-KR" altLang="en-US" sz="1300" b="1">
              <a:solidFill>
                <a:srgbClr val="075F5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D87738-0A6C-D6C4-8B33-6D98DF6F11BB}"/>
              </a:ext>
            </a:extLst>
          </p:cNvPr>
          <p:cNvSpPr txBox="1"/>
          <p:nvPr/>
        </p:nvSpPr>
        <p:spPr>
          <a:xfrm>
            <a:off x="6985000" y="54864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500" b="1">
                <a:solidFill>
                  <a:srgbClr val="075F5A"/>
                </a:solidFill>
                <a:latin typeface="맑은 고딕" panose="020B0503020000020004" pitchFamily="50" charset="-127"/>
              </a:rPr>
              <a:t>AD</a:t>
            </a:r>
            <a:endParaRPr lang="ko-KR" altLang="en-US" sz="1500" b="1">
              <a:solidFill>
                <a:srgbClr val="075F5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9DC0B2-A8A8-1D97-F8FB-C64E21C1D3FE}"/>
              </a:ext>
            </a:extLst>
          </p:cNvPr>
          <p:cNvSpPr txBox="1"/>
          <p:nvPr/>
        </p:nvSpPr>
        <p:spPr>
          <a:xfrm>
            <a:off x="6985000" y="57277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200">
                <a:solidFill>
                  <a:srgbClr val="163F3C"/>
                </a:solidFill>
                <a:latin typeface="맑은 고딕" panose="020B0503020000020004" pitchFamily="50" charset="-127"/>
              </a:rPr>
              <a:t>RID 183</a:t>
            </a:r>
            <a:endParaRPr lang="ko-KR" altLang="en-US" sz="1200">
              <a:solidFill>
                <a:srgbClr val="163F3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3539D-0D51-5235-A6FB-6E55EBCBEF6B}"/>
              </a:ext>
            </a:extLst>
          </p:cNvPr>
          <p:cNvSpPr txBox="1"/>
          <p:nvPr/>
        </p:nvSpPr>
        <p:spPr>
          <a:xfrm>
            <a:off x="6985000" y="5943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ko-KR" sz="1100">
                <a:solidFill>
                  <a:srgbClr val="52706C"/>
                </a:solidFill>
                <a:latin typeface="맑은 고딕" panose="020B0503020000020004" pitchFamily="50" charset="-127"/>
              </a:rPr>
              <a:t>73.1</a:t>
            </a:r>
            <a:r>
              <a:rPr lang="ko-KR" altLang="en-US" sz="1100">
                <a:solidFill>
                  <a:srgbClr val="52706C"/>
                </a:solidFill>
                <a:latin typeface="맑은 고딕" panose="020B0503020000020004" pitchFamily="50" charset="-127"/>
              </a:rPr>
              <a:t>세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CCDDC0FC-2101-5524-1F83-4C731B5EDFD0}"/>
              </a:ext>
            </a:extLst>
          </p:cNvPr>
          <p:cNvSpPr/>
          <p:nvPr/>
        </p:nvSpPr>
        <p:spPr>
          <a:xfrm>
            <a:off x="9017000" y="2235200"/>
            <a:ext cx="2565400" cy="2667000"/>
          </a:xfrm>
          <a:prstGeom prst="rect">
            <a:avLst/>
          </a:prstGeom>
          <a:solidFill>
            <a:srgbClr val="F8FCFB"/>
          </a:solidFill>
          <a:ln w="10160">
            <a:solidFill>
              <a:srgbClr val="DBF0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0E8283-8B03-2DF1-E316-2E0AA8C7AA75}"/>
              </a:ext>
            </a:extLst>
          </p:cNvPr>
          <p:cNvSpPr txBox="1"/>
          <p:nvPr/>
        </p:nvSpPr>
        <p:spPr>
          <a:xfrm>
            <a:off x="9296400" y="2565400"/>
            <a:ext cx="200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450" b="1">
                <a:solidFill>
                  <a:srgbClr val="087069"/>
                </a:solidFill>
                <a:latin typeface="맑은 고딕" panose="020B0503020000020004" pitchFamily="50" charset="-127"/>
              </a:rPr>
              <a:t>왜 </a:t>
            </a:r>
            <a:r>
              <a:rPr lang="en-US" altLang="ko-KR" sz="1450" b="1">
                <a:solidFill>
                  <a:srgbClr val="087069"/>
                </a:solidFill>
                <a:latin typeface="맑은 고딕" panose="020B0503020000020004" pitchFamily="50" charset="-127"/>
              </a:rPr>
              <a:t>AD </a:t>
            </a:r>
            <a:r>
              <a:rPr lang="ko-KR" altLang="en-US" sz="1450" b="1">
                <a:solidFill>
                  <a:srgbClr val="087069"/>
                </a:solidFill>
                <a:latin typeface="맑은 고딕" panose="020B0503020000020004" pitchFamily="50" charset="-127"/>
              </a:rPr>
              <a:t>내 </a:t>
            </a:r>
            <a:r>
              <a:rPr lang="en-US" altLang="ko-KR" sz="1450" b="1">
                <a:solidFill>
                  <a:srgbClr val="087069"/>
                </a:solidFill>
                <a:latin typeface="맑은 고딕" panose="020B0503020000020004" pitchFamily="50" charset="-127"/>
              </a:rPr>
              <a:t>BAG</a:t>
            </a:r>
            <a:r>
              <a:rPr lang="ko-KR" altLang="en-US" sz="1450" b="1">
                <a:solidFill>
                  <a:srgbClr val="087069"/>
                </a:solidFill>
                <a:latin typeface="맑은 고딕" panose="020B0503020000020004" pitchFamily="50" charset="-127"/>
              </a:rPr>
              <a:t>가 다를까</a:t>
            </a:r>
            <a:r>
              <a:rPr lang="en-US" altLang="ko-KR" sz="1450" b="1">
                <a:solidFill>
                  <a:srgbClr val="087069"/>
                </a:solidFill>
                <a:latin typeface="맑은 고딕" panose="020B0503020000020004" pitchFamily="50" charset="-127"/>
              </a:rPr>
              <a:t>?</a:t>
            </a:r>
            <a:endParaRPr lang="ko-KR" altLang="en-US" sz="1450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318A78-14C7-A282-DB0A-B3E70AC0466A}"/>
              </a:ext>
            </a:extLst>
          </p:cNvPr>
          <p:cNvSpPr txBox="1"/>
          <p:nvPr/>
        </p:nvSpPr>
        <p:spPr>
          <a:xfrm>
            <a:off x="9296400" y="3035300"/>
            <a:ext cx="200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250">
                <a:solidFill>
                  <a:srgbClr val="163F3C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 sz="1250">
                <a:solidFill>
                  <a:srgbClr val="163F3C"/>
                </a:solidFill>
                <a:latin typeface="맑은 고딕" panose="020B0503020000020004" pitchFamily="50" charset="-127"/>
              </a:rPr>
              <a:t>진단</a:t>
            </a:r>
            <a:r>
              <a:rPr lang="en-US" altLang="ko-KR" sz="1250">
                <a:solidFill>
                  <a:srgbClr val="163F3C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250">
                <a:solidFill>
                  <a:srgbClr val="163F3C"/>
                </a:solidFill>
                <a:latin typeface="맑은 고딕" panose="020B0503020000020004" pitchFamily="50" charset="-127"/>
              </a:rPr>
              <a:t>촬영 시점의 차이
</a:t>
            </a:r>
            <a:r>
              <a:rPr lang="en-US" altLang="ko-KR" sz="1250">
                <a:solidFill>
                  <a:srgbClr val="163F3C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 sz="1250">
                <a:solidFill>
                  <a:srgbClr val="163F3C"/>
                </a:solidFill>
                <a:latin typeface="맑은 고딕" panose="020B0503020000020004" pitchFamily="50" charset="-127"/>
              </a:rPr>
              <a:t>위축 부위와 강도의 차이
</a:t>
            </a:r>
            <a:r>
              <a:rPr lang="en-US" altLang="ko-KR" sz="1250">
                <a:solidFill>
                  <a:srgbClr val="163F3C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 sz="1250">
                <a:solidFill>
                  <a:srgbClr val="163F3C"/>
                </a:solidFill>
                <a:latin typeface="맑은 고딕" panose="020B0503020000020004" pitchFamily="50" charset="-127"/>
              </a:rPr>
              <a:t>모델이 남긴 개인차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28E244-4344-6B8D-893D-009B746201E6}"/>
              </a:ext>
            </a:extLst>
          </p:cNvPr>
          <p:cNvSpPr txBox="1"/>
          <p:nvPr/>
        </p:nvSpPr>
        <p:spPr>
          <a:xfrm>
            <a:off x="9296400" y="4013200"/>
            <a:ext cx="200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50" b="1">
                <a:solidFill>
                  <a:srgbClr val="0C8076"/>
                </a:solidFill>
                <a:latin typeface="맑은 고딕" panose="020B0503020000020004" pitchFamily="50" charset="-127"/>
              </a:rPr>
              <a:t>진단은 범주형</a:t>
            </a:r>
            <a:r>
              <a:rPr lang="en-US" altLang="ko-KR" sz="1250" b="1">
                <a:solidFill>
                  <a:srgbClr val="0C8076"/>
                </a:solidFill>
                <a:latin typeface="맑은 고딕" panose="020B0503020000020004" pitchFamily="50" charset="-127"/>
              </a:rPr>
              <a:t>,
BAG</a:t>
            </a:r>
            <a:r>
              <a:rPr lang="ko-KR" altLang="en-US" sz="1250" b="1">
                <a:solidFill>
                  <a:srgbClr val="0C8076"/>
                </a:solidFill>
                <a:latin typeface="맑은 고딕" panose="020B0503020000020004" pitchFamily="50" charset="-127"/>
              </a:rPr>
              <a:t>는 연속적 </a:t>
            </a:r>
            <a:r>
              <a:rPr lang="en-US" altLang="ko-KR" sz="1250" b="1">
                <a:solidFill>
                  <a:srgbClr val="0C8076"/>
                </a:solidFill>
                <a:latin typeface="맑은 고딕" panose="020B0503020000020004" pitchFamily="50" charset="-127"/>
              </a:rPr>
              <a:t>MRI </a:t>
            </a:r>
            <a:r>
              <a:rPr lang="ko-KR" altLang="en-US" sz="1250" b="1">
                <a:solidFill>
                  <a:srgbClr val="0C8076"/>
                </a:solidFill>
                <a:latin typeface="맑은 고딕" panose="020B0503020000020004" pitchFamily="50" charset="-127"/>
              </a:rPr>
              <a:t>지표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3C33DF-E57B-2187-3203-381B87533730}"/>
              </a:ext>
            </a:extLst>
          </p:cNvPr>
          <p:cNvSpPr txBox="1"/>
          <p:nvPr/>
        </p:nvSpPr>
        <p:spPr>
          <a:xfrm>
            <a:off x="609600" y="6248400"/>
            <a:ext cx="10972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0">
                <a:solidFill>
                  <a:srgbClr val="52706C"/>
                </a:solidFill>
                <a:latin typeface="맑은 고딕" panose="020B0503020000020004" pitchFamily="50" charset="-127"/>
              </a:rPr>
              <a:t>선정 원칙</a:t>
            </a:r>
            <a:r>
              <a:rPr lang="en-US" altLang="ko-KR" sz="1050">
                <a:solidFill>
                  <a:srgbClr val="52706C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50">
                <a:solidFill>
                  <a:srgbClr val="52706C"/>
                </a:solidFill>
                <a:latin typeface="맑은 고딕" panose="020B0503020000020004" pitchFamily="50" charset="-127"/>
              </a:rPr>
              <a:t>비슷한 연령대의 예시 사례</a:t>
            </a:r>
            <a:r>
              <a:rPr lang="en-US" altLang="ko-KR" sz="1050">
                <a:solidFill>
                  <a:srgbClr val="52706C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52706C"/>
                </a:solidFill>
                <a:latin typeface="맑은 고딕" panose="020B0503020000020004" pitchFamily="50" charset="-127"/>
              </a:rPr>
              <a:t>집단 효과를 추정하기 위한 표본이 아닙니다</a:t>
            </a:r>
            <a:r>
              <a:rPr lang="en-US" altLang="ko-KR" sz="1050">
                <a:solidFill>
                  <a:srgbClr val="52706C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5B218B9-BC62-CE60-C3B9-3EA04369EAD1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CEF799-483C-D1B8-B20D-DCC9CA27E793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51FFABC-6E81-7E01-1AEB-70ADE39C27B1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11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7301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DF6FCD-5618-21B1-2E27-9218F7F67758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E5AE55-F319-AE6D-1EFE-C2E763A9F33D}"/>
              </a:ext>
            </a:extLst>
          </p:cNvPr>
          <p:cNvSpPr txBox="1"/>
          <p:nvPr/>
        </p:nvSpPr>
        <p:spPr>
          <a:xfrm>
            <a:off x="609600" y="53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087069"/>
                </a:solidFill>
                <a:latin typeface="맑은 고딕" panose="020B0503020000020004" pitchFamily="50" charset="-127"/>
              </a:rPr>
              <a:t>해석의 범위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00FD70-6D4E-2CD8-02D8-AFD9718C2A82}"/>
              </a:ext>
            </a:extLst>
          </p:cNvPr>
          <p:cNvSpPr txBox="1"/>
          <p:nvPr/>
        </p:nvSpPr>
        <p:spPr>
          <a:xfrm>
            <a:off x="609600" y="8382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3D </a:t>
            </a:r>
            <a:r>
              <a:rPr lang="ko-KR" altLang="en-US" sz="3000" b="1">
                <a:solidFill>
                  <a:srgbClr val="163F3C"/>
                </a:solidFill>
                <a:latin typeface="맑은 고딕" panose="020B0503020000020004" pitchFamily="50" charset="-127"/>
              </a:rPr>
              <a:t>지도는 취약 위치를 보여 줍니다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EBCDD7E-598F-D5CA-63DB-4A18E7B4308F}"/>
              </a:ext>
            </a:extLst>
          </p:cNvPr>
          <p:cNvCxnSpPr/>
          <p:nvPr/>
        </p:nvCxnSpPr>
        <p:spPr>
          <a:xfrm>
            <a:off x="609600" y="1536700"/>
            <a:ext cx="12954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ED977B8-C51A-755D-AEBF-29F6AF64C161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CA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BB4F378-8BFE-4F0D-D05D-6BDB8B9363EE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52706C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EB031-48FF-257F-4313-BFD0ACE395E9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52706C"/>
                </a:solidFill>
                <a:latin typeface="맑은 고딕" panose="020B0503020000020004" pitchFamily="50" charset="-127"/>
              </a:rPr>
              <a:t>12 / 13</a:t>
            </a:r>
            <a:endParaRPr lang="ko-KR" altLang="en-US" sz="95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03A7A2-565B-A1FC-BD78-AA0775A26003}"/>
              </a:ext>
            </a:extLst>
          </p:cNvPr>
          <p:cNvSpPr txBox="1"/>
          <p:nvPr/>
        </p:nvSpPr>
        <p:spPr>
          <a:xfrm>
            <a:off x="609600" y="17526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600">
                <a:solidFill>
                  <a:srgbClr val="52706C"/>
                </a:solidFill>
                <a:latin typeface="맑은 고딕" panose="020B0503020000020004" pitchFamily="50" charset="-127"/>
              </a:rPr>
              <a:t>진단을 확정하기 위한 영상은 아닙니다</a:t>
            </a:r>
            <a:r>
              <a:rPr lang="en-US" altLang="ko-KR" sz="1600">
                <a:solidFill>
                  <a:srgbClr val="52706C"/>
                </a:solidFill>
                <a:latin typeface="맑은 고딕" panose="020B0503020000020004" pitchFamily="50" charset="-127"/>
              </a:rPr>
              <a:t>.</a:t>
            </a:r>
            <a:endParaRPr lang="ko-KR" altLang="en-US" sz="1600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AB43BB-B957-3B73-AF6D-BDEB580937A2}"/>
              </a:ext>
            </a:extLst>
          </p:cNvPr>
          <p:cNvSpPr txBox="1"/>
          <p:nvPr/>
        </p:nvSpPr>
        <p:spPr>
          <a:xfrm>
            <a:off x="889000" y="21463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200" b="1">
                <a:solidFill>
                  <a:srgbClr val="087069"/>
                </a:solidFill>
                <a:latin typeface="맑은 고딕" panose="020B0503020000020004" pitchFamily="50" charset="-127"/>
              </a:rPr>
              <a:t>보여 주는 것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4F88E36-EC9F-4A83-CFEC-A25CF8AE083F}"/>
              </a:ext>
            </a:extLst>
          </p:cNvPr>
          <p:cNvCxnSpPr/>
          <p:nvPr/>
        </p:nvCxnSpPr>
        <p:spPr>
          <a:xfrm>
            <a:off x="889000" y="2654300"/>
            <a:ext cx="4445000" cy="0"/>
          </a:xfrm>
          <a:prstGeom prst="line">
            <a:avLst/>
          </a:prstGeom>
          <a:ln w="25400">
            <a:solidFill>
              <a:srgbClr val="0870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6C9C10-96CE-98F4-3896-EE50CB5AFA48}"/>
              </a:ext>
            </a:extLst>
          </p:cNvPr>
          <p:cNvSpPr txBox="1"/>
          <p:nvPr/>
        </p:nvSpPr>
        <p:spPr>
          <a:xfrm>
            <a:off x="889000" y="3073400"/>
            <a:ext cx="4381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• CN 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기준 기대치와의 부위별 정량 차이
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집단 수준 피질 두께 감소 효과크기
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• BAG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와 부위별 노화 부담의 연결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013B8F-1B5F-1199-30A8-F5DE825F5B5C}"/>
              </a:ext>
            </a:extLst>
          </p:cNvPr>
          <p:cNvSpPr txBox="1"/>
          <p:nvPr/>
        </p:nvSpPr>
        <p:spPr>
          <a:xfrm>
            <a:off x="6858000" y="2146300"/>
            <a:ext cx="368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200" b="1">
                <a:solidFill>
                  <a:srgbClr val="075F5A"/>
                </a:solidFill>
                <a:latin typeface="맑은 고딕" panose="020B0503020000020004" pitchFamily="50" charset="-127"/>
              </a:rPr>
              <a:t>보여 주지 않는 것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ABFFA9B-543B-0048-8069-AE32C091E3DD}"/>
              </a:ext>
            </a:extLst>
          </p:cNvPr>
          <p:cNvCxnSpPr/>
          <p:nvPr/>
        </p:nvCxnSpPr>
        <p:spPr>
          <a:xfrm>
            <a:off x="6858000" y="2654300"/>
            <a:ext cx="4445000" cy="0"/>
          </a:xfrm>
          <a:prstGeom prst="line">
            <a:avLst/>
          </a:prstGeom>
          <a:ln w="25400">
            <a:solidFill>
              <a:srgbClr val="075F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3E99450-18FD-874B-8A8A-4F24D3C3BBB4}"/>
              </a:ext>
            </a:extLst>
          </p:cNvPr>
          <p:cNvSpPr txBox="1"/>
          <p:nvPr/>
        </p:nvSpPr>
        <p:spPr>
          <a:xfrm>
            <a:off x="6858000" y="3073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개인 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MRI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의 실제 해부학적 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3D 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표면
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단독 진단 또는 치료 결정
</a:t>
            </a:r>
            <a:r>
              <a:rPr lang="en-US" altLang="ko-KR">
                <a:solidFill>
                  <a:srgbClr val="163F3C"/>
                </a:solidFill>
                <a:latin typeface="맑은 고딕" panose="020B0503020000020004" pitchFamily="50" charset="-127"/>
              </a:rPr>
              <a:t>• </a:t>
            </a:r>
            <a:r>
              <a:rPr lang="ko-KR" altLang="en-US">
                <a:solidFill>
                  <a:srgbClr val="163F3C"/>
                </a:solidFill>
                <a:latin typeface="맑은 고딕" panose="020B0503020000020004" pitchFamily="50" charset="-127"/>
              </a:rPr>
              <a:t>외부 코호트에서의 확정 성능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2192327-2312-0B3B-A4CD-4EF09709568F}"/>
              </a:ext>
            </a:extLst>
          </p:cNvPr>
          <p:cNvSpPr/>
          <p:nvPr/>
        </p:nvSpPr>
        <p:spPr>
          <a:xfrm>
            <a:off x="889000" y="5105400"/>
            <a:ext cx="10414000" cy="584200"/>
          </a:xfrm>
          <a:prstGeom prst="rect">
            <a:avLst/>
          </a:prstGeom>
          <a:solidFill>
            <a:srgbClr val="F8FCFB"/>
          </a:solidFill>
          <a:ln w="8890">
            <a:solidFill>
              <a:srgbClr val="DBF0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183691-1C35-313F-63A7-44BA3E0771EF}"/>
              </a:ext>
            </a:extLst>
          </p:cNvPr>
          <p:cNvSpPr txBox="1"/>
          <p:nvPr/>
        </p:nvSpPr>
        <p:spPr>
          <a:xfrm>
            <a:off x="1143000" y="5283200"/>
            <a:ext cx="990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ko-KR" altLang="en-US" sz="1500" b="1">
                <a:solidFill>
                  <a:srgbClr val="52706C"/>
                </a:solidFill>
                <a:latin typeface="맑은 고딕" panose="020B0503020000020004" pitchFamily="50" charset="-127"/>
              </a:rPr>
              <a:t>표준 </a:t>
            </a:r>
            <a:r>
              <a:rPr lang="en-US" altLang="ko-KR" sz="1500" b="1">
                <a:solidFill>
                  <a:srgbClr val="52706C"/>
                </a:solidFill>
                <a:latin typeface="맑은 고딕" panose="020B0503020000020004" pitchFamily="50" charset="-127"/>
              </a:rPr>
              <a:t>fsaverage5 </a:t>
            </a:r>
            <a:r>
              <a:rPr lang="ko-KR" altLang="en-US" sz="1500" b="1">
                <a:solidFill>
                  <a:srgbClr val="52706C"/>
                </a:solidFill>
                <a:latin typeface="맑은 고딕" panose="020B0503020000020004" pitchFamily="50" charset="-127"/>
              </a:rPr>
              <a:t>표면에 </a:t>
            </a:r>
            <a:r>
              <a:rPr lang="en-US" altLang="ko-KR" sz="1500" b="1">
                <a:solidFill>
                  <a:srgbClr val="52706C"/>
                </a:solidFill>
                <a:latin typeface="맑은 고딕" panose="020B0503020000020004" pitchFamily="50" charset="-127"/>
              </a:rPr>
              <a:t>FreeSurfer ROI </a:t>
            </a:r>
            <a:r>
              <a:rPr lang="ko-KR" altLang="en-US" sz="1500" b="1">
                <a:solidFill>
                  <a:srgbClr val="52706C"/>
                </a:solidFill>
                <a:latin typeface="맑은 고딕" panose="020B0503020000020004" pitchFamily="50" charset="-127"/>
              </a:rPr>
              <a:t>정량값을 투영한 연구용 지도입니다</a:t>
            </a:r>
            <a:r>
              <a:rPr lang="en-US" altLang="ko-KR" sz="1500" b="1">
                <a:solidFill>
                  <a:srgbClr val="52706C"/>
                </a:solidFill>
                <a:latin typeface="맑은 고딕" panose="020B0503020000020004" pitchFamily="50" charset="-127"/>
              </a:rPr>
              <a:t>.</a:t>
            </a:r>
            <a:endParaRPr lang="ko-KR" altLang="en-US" sz="1500" b="1">
              <a:solidFill>
                <a:srgbClr val="52706C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8226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11E59E53-0189-6733-86F1-DC1A8880D06E}"/>
              </a:ext>
            </a:extLst>
          </p:cNvPr>
          <p:cNvSpPr/>
          <p:nvPr/>
        </p:nvSpPr>
        <p:spPr>
          <a:xfrm>
            <a:off x="3886200" y="1143000"/>
            <a:ext cx="4434840" cy="4434840"/>
          </a:xfrm>
          <a:prstGeom prst="rect">
            <a:avLst/>
          </a:prstGeom>
          <a:blipFill dpi="0" rotWithShape="1">
            <a:blip r:embed="rId2">
              <a:alphaModFix amt="7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1C2FAE-1E57-87B5-A5F0-DFA09691AFEE}"/>
              </a:ext>
            </a:extLst>
          </p:cNvPr>
          <p:cNvSpPr txBox="1"/>
          <p:nvPr/>
        </p:nvSpPr>
        <p:spPr>
          <a:xfrm>
            <a:off x="698500" y="6985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500" b="1">
                <a:solidFill>
                  <a:srgbClr val="5BCFBE"/>
                </a:solidFill>
                <a:latin typeface="맑은 고딕" panose="020B0503020000020004" pitchFamily="50" charset="-127"/>
              </a:rPr>
              <a:t>결론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7FFE90-F85C-B817-8188-9212A924605D}"/>
              </a:ext>
            </a:extLst>
          </p:cNvPr>
          <p:cNvSpPr txBox="1"/>
          <p:nvPr/>
        </p:nvSpPr>
        <p:spPr>
          <a:xfrm>
            <a:off x="698500" y="12192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3600" b="1">
                <a:solidFill>
                  <a:srgbClr val="FFFFFF"/>
                </a:solidFill>
                <a:latin typeface="맑은 고딕" panose="020B0503020000020004" pitchFamily="50" charset="-127"/>
              </a:rPr>
              <a:t>숫자로 노화 부담을 찾고</a:t>
            </a:r>
            <a:r>
              <a:rPr lang="en-US" altLang="ko-KR" sz="3600" b="1">
                <a:solidFill>
                  <a:srgbClr val="FFFFFF"/>
                </a:solidFill>
                <a:latin typeface="맑은 고딕" panose="020B0503020000020004" pitchFamily="50" charset="-127"/>
              </a:rPr>
              <a:t>,
3D</a:t>
            </a:r>
            <a:r>
              <a:rPr lang="ko-KR" altLang="en-US" sz="3600" b="1">
                <a:solidFill>
                  <a:srgbClr val="FFFFFF"/>
                </a:solidFill>
                <a:latin typeface="맑은 고딕" panose="020B0503020000020004" pitchFamily="50" charset="-127"/>
              </a:rPr>
              <a:t>로 그 위치를 해석합니다</a:t>
            </a:r>
            <a:r>
              <a:rPr lang="en-US" altLang="ko-KR" sz="3600" b="1">
                <a:solidFill>
                  <a:srgbClr val="FFFFFF"/>
                </a:solidFill>
                <a:latin typeface="맑은 고딕" panose="020B0503020000020004" pitchFamily="50" charset="-127"/>
              </a:rPr>
              <a:t>.</a:t>
            </a:r>
            <a:endParaRPr lang="ko-KR" altLang="en-US" sz="36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86EF8-10F7-6ED3-123F-D6E37552297C}"/>
              </a:ext>
            </a:extLst>
          </p:cNvPr>
          <p:cNvSpPr txBox="1"/>
          <p:nvPr/>
        </p:nvSpPr>
        <p:spPr>
          <a:xfrm>
            <a:off x="825500" y="31750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300" b="1">
                <a:solidFill>
                  <a:srgbClr val="087069"/>
                </a:solidFill>
                <a:latin typeface="맑은 고딕" panose="020B0503020000020004" pitchFamily="50" charset="-127"/>
              </a:rPr>
              <a:t>01</a:t>
            </a:r>
            <a:endParaRPr lang="ko-KR" altLang="en-US" sz="2300" b="1">
              <a:solidFill>
                <a:srgbClr val="0870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ABB208-F5F4-633C-A7BE-5CAA763A96C0}"/>
              </a:ext>
            </a:extLst>
          </p:cNvPr>
          <p:cNvSpPr txBox="1"/>
          <p:nvPr/>
        </p:nvSpPr>
        <p:spPr>
          <a:xfrm>
            <a:off x="1625600" y="320040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독립 </a:t>
            </a:r>
            <a:r>
              <a:rPr lang="en-US" altLang="ko-KR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CN </a:t>
            </a:r>
            <a:r>
              <a:rPr lang="ko-KR" altLang="en-US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테스트</a:t>
            </a:r>
            <a:r>
              <a:rPr lang="en-US" altLang="ko-KR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: R2 0.542, MAE 3.680</a:t>
            </a:r>
            <a:r>
              <a:rPr lang="ko-KR" altLang="en-US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4D02-64CF-8C87-B37D-4CD34BB9500B}"/>
              </a:ext>
            </a:extLst>
          </p:cNvPr>
          <p:cNvSpPr txBox="1"/>
          <p:nvPr/>
        </p:nvSpPr>
        <p:spPr>
          <a:xfrm>
            <a:off x="825500" y="38735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300" b="1" dirty="0">
                <a:solidFill>
                  <a:srgbClr val="1AA79A"/>
                </a:solidFill>
                <a:latin typeface="맑은 고딕" panose="020B0503020000020004" pitchFamily="50" charset="-127"/>
              </a:rPr>
              <a:t>02</a:t>
            </a:r>
            <a:endParaRPr lang="ko-KR" altLang="en-US" sz="2300" b="1" dirty="0">
              <a:solidFill>
                <a:srgbClr val="1AA79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12093E-B0B7-3736-2E25-36EF2606CA1E}"/>
              </a:ext>
            </a:extLst>
          </p:cNvPr>
          <p:cNvSpPr txBox="1"/>
          <p:nvPr/>
        </p:nvSpPr>
        <p:spPr>
          <a:xfrm>
            <a:off x="1625600" y="389890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MCI</a:t>
            </a:r>
            <a:r>
              <a:rPr lang="ko-KR" altLang="en-US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와 </a:t>
            </a:r>
            <a:r>
              <a:rPr lang="en-US" altLang="ko-KR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AD</a:t>
            </a:r>
            <a:r>
              <a:rPr lang="ko-KR" altLang="en-US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에서 </a:t>
            </a:r>
            <a:r>
              <a:rPr lang="en-US" altLang="ko-KR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CN</a:t>
            </a:r>
            <a:r>
              <a:rPr lang="ko-KR" altLang="en-US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보다 높은 보정 </a:t>
            </a:r>
            <a:r>
              <a:rPr lang="en-US" altLang="ko-KR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1900" b="1" dirty="0">
                <a:solidFill>
                  <a:srgbClr val="FFFFFF"/>
                </a:solidFill>
                <a:latin typeface="맑은 고딕" panose="020B0503020000020004" pitchFamily="50" charset="-127"/>
              </a:rPr>
              <a:t>관찰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247CC-26E6-8E5E-1764-2605E865BC97}"/>
              </a:ext>
            </a:extLst>
          </p:cNvPr>
          <p:cNvSpPr txBox="1"/>
          <p:nvPr/>
        </p:nvSpPr>
        <p:spPr>
          <a:xfrm>
            <a:off x="825500" y="45720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300" b="1">
                <a:solidFill>
                  <a:srgbClr val="075F5A"/>
                </a:solidFill>
                <a:latin typeface="맑은 고딕" panose="020B0503020000020004" pitchFamily="50" charset="-127"/>
              </a:rPr>
              <a:t>03</a:t>
            </a:r>
            <a:endParaRPr lang="ko-KR" altLang="en-US" sz="2300" b="1">
              <a:solidFill>
                <a:srgbClr val="075F5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E779AF-E97F-A934-C480-850B9FBDB84D}"/>
              </a:ext>
            </a:extLst>
          </p:cNvPr>
          <p:cNvSpPr txBox="1"/>
          <p:nvPr/>
        </p:nvSpPr>
        <p:spPr>
          <a:xfrm>
            <a:off x="1625600" y="4597400"/>
            <a:ext cx="749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ROI </a:t>
            </a:r>
            <a:r>
              <a:rPr lang="ko-KR" altLang="en-US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근거와 개인별 부위 취약성 </a:t>
            </a:r>
            <a:r>
              <a:rPr lang="en-US" altLang="ko-KR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3D </a:t>
            </a:r>
            <a:r>
              <a:rPr lang="ko-KR" altLang="en-US" sz="1900" b="1">
                <a:solidFill>
                  <a:srgbClr val="FFFFFF"/>
                </a:solidFill>
                <a:latin typeface="맑은 고딕" panose="020B0503020000020004" pitchFamily="50" charset="-127"/>
              </a:rPr>
              <a:t>정량 지도 제공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4570DD-DDF1-D7AA-B490-094200D73819}"/>
              </a:ext>
            </a:extLst>
          </p:cNvPr>
          <p:cNvSpPr txBox="1"/>
          <p:nvPr/>
        </p:nvSpPr>
        <p:spPr>
          <a:xfrm>
            <a:off x="698500" y="5676900"/>
            <a:ext cx="990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400">
                <a:solidFill>
                  <a:srgbClr val="CAE2DD"/>
                </a:solidFill>
                <a:latin typeface="맑은 고딕" panose="020B0503020000020004" pitchFamily="50" charset="-127"/>
              </a:rPr>
              <a:t>연구용 연속 지표 </a:t>
            </a:r>
            <a:r>
              <a:rPr lang="en-US" altLang="ko-KR" sz="1400">
                <a:solidFill>
                  <a:srgbClr val="CAE2DD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1400">
                <a:solidFill>
                  <a:srgbClr val="CAE2DD"/>
                </a:solidFill>
                <a:latin typeface="맑은 고딕" panose="020B0503020000020004" pitchFamily="50" charset="-127"/>
              </a:rPr>
              <a:t>외부 검증 필요 </a:t>
            </a:r>
            <a:r>
              <a:rPr lang="en-US" altLang="ko-KR" sz="1400">
                <a:solidFill>
                  <a:srgbClr val="CAE2DD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1400">
                <a:solidFill>
                  <a:srgbClr val="CAE2DD"/>
                </a:solidFill>
                <a:latin typeface="맑은 고딕" panose="020B0503020000020004" pitchFamily="50" charset="-127"/>
              </a:rPr>
              <a:t>단독 진단에 사용하지 않음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4C80220E-5EFB-CBC4-B18B-E707F09C68A0}"/>
              </a:ext>
            </a:extLst>
          </p:cNvPr>
          <p:cNvCxnSpPr/>
          <p:nvPr/>
        </p:nvCxnSpPr>
        <p:spPr>
          <a:xfrm>
            <a:off x="609600" y="6388100"/>
            <a:ext cx="10972800" cy="0"/>
          </a:xfrm>
          <a:prstGeom prst="line">
            <a:avLst/>
          </a:prstGeom>
          <a:ln w="10160">
            <a:solidFill>
              <a:srgbClr val="3B54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0E8EA82-A25B-5CBA-E5D7-58C8C4761A8C}"/>
              </a:ext>
            </a:extLst>
          </p:cNvPr>
          <p:cNvSpPr txBox="1"/>
          <p:nvPr/>
        </p:nvSpPr>
        <p:spPr>
          <a:xfrm>
            <a:off x="609600" y="6527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ADNI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기반 뇌 연령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BAG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분석 </a:t>
            </a:r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| </a:t>
            </a:r>
            <a:r>
              <a:rPr lang="ko-KR" altLang="en-US" sz="950">
                <a:solidFill>
                  <a:srgbClr val="B5D7D0"/>
                </a:solidFill>
                <a:latin typeface="맑은 고딕" panose="020B0503020000020004" pitchFamily="50" charset="-127"/>
              </a:rPr>
              <a:t>연구용 결과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B60C6-EF42-FF82-7B9F-570CF578E1BB}"/>
              </a:ext>
            </a:extLst>
          </p:cNvPr>
          <p:cNvSpPr txBox="1"/>
          <p:nvPr/>
        </p:nvSpPr>
        <p:spPr>
          <a:xfrm>
            <a:off x="10604500" y="6527800"/>
            <a:ext cx="977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altLang="ko-KR" sz="950">
                <a:solidFill>
                  <a:srgbClr val="B5D7D0"/>
                </a:solidFill>
                <a:latin typeface="맑은 고딕" panose="020B0503020000020004" pitchFamily="50" charset="-127"/>
              </a:rPr>
              <a:t>13 / 13</a:t>
            </a:r>
            <a:endParaRPr lang="ko-KR" altLang="en-US" sz="950">
              <a:solidFill>
                <a:srgbClr val="B5D7D0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4945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997</Words>
  <Application>Microsoft Office PowerPoint</Application>
  <PresentationFormat>와이드스크린</PresentationFormat>
  <Paragraphs>183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인영 황</dc:creator>
  <cp:lastModifiedBy>인영 황</cp:lastModifiedBy>
  <cp:revision>9</cp:revision>
  <dcterms:created xsi:type="dcterms:W3CDTF">2026-08-24T10:32:47Z</dcterms:created>
  <dcterms:modified xsi:type="dcterms:W3CDTF">2026-08-24T12:49:17Z</dcterms:modified>
</cp:coreProperties>
</file>